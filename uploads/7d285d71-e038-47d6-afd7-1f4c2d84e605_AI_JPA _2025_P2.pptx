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5"/>
  </p:notesMasterIdLst>
  <p:sldIdLst>
    <p:sldId id="423" r:id="rId2"/>
    <p:sldId id="257" r:id="rId3"/>
    <p:sldId id="303" r:id="rId4"/>
    <p:sldId id="304" r:id="rId5"/>
    <p:sldId id="305" r:id="rId6"/>
    <p:sldId id="306" r:id="rId7"/>
    <p:sldId id="307" r:id="rId8"/>
    <p:sldId id="308" r:id="rId9"/>
    <p:sldId id="309" r:id="rId10"/>
    <p:sldId id="310" r:id="rId11"/>
    <p:sldId id="311" r:id="rId12"/>
    <p:sldId id="312" r:id="rId13"/>
    <p:sldId id="313" r:id="rId14"/>
    <p:sldId id="314" r:id="rId15"/>
    <p:sldId id="315" r:id="rId16"/>
    <p:sldId id="316" r:id="rId17"/>
    <p:sldId id="317" r:id="rId18"/>
    <p:sldId id="318" r:id="rId19"/>
    <p:sldId id="319" r:id="rId20"/>
    <p:sldId id="320" r:id="rId21"/>
    <p:sldId id="321" r:id="rId22"/>
    <p:sldId id="322" r:id="rId23"/>
    <p:sldId id="323" r:id="rId24"/>
    <p:sldId id="324" r:id="rId25"/>
    <p:sldId id="325" r:id="rId26"/>
    <p:sldId id="326" r:id="rId27"/>
    <p:sldId id="327" r:id="rId28"/>
    <p:sldId id="328" r:id="rId29"/>
    <p:sldId id="329" r:id="rId30"/>
    <p:sldId id="330" r:id="rId31"/>
    <p:sldId id="331" r:id="rId32"/>
    <p:sldId id="332" r:id="rId33"/>
    <p:sldId id="333" r:id="rId34"/>
    <p:sldId id="334" r:id="rId35"/>
    <p:sldId id="335" r:id="rId36"/>
    <p:sldId id="336" r:id="rId37"/>
    <p:sldId id="337" r:id="rId38"/>
    <p:sldId id="338" r:id="rId39"/>
    <p:sldId id="339" r:id="rId40"/>
    <p:sldId id="340" r:id="rId41"/>
    <p:sldId id="341" r:id="rId42"/>
    <p:sldId id="342" r:id="rId43"/>
    <p:sldId id="343" r:id="rId44"/>
    <p:sldId id="344" r:id="rId45"/>
    <p:sldId id="345" r:id="rId46"/>
    <p:sldId id="346" r:id="rId47"/>
    <p:sldId id="347" r:id="rId48"/>
    <p:sldId id="348" r:id="rId49"/>
    <p:sldId id="349" r:id="rId50"/>
    <p:sldId id="350" r:id="rId51"/>
    <p:sldId id="351" r:id="rId52"/>
    <p:sldId id="352" r:id="rId53"/>
    <p:sldId id="353" r:id="rId54"/>
    <p:sldId id="354" r:id="rId55"/>
    <p:sldId id="355" r:id="rId56"/>
    <p:sldId id="356" r:id="rId57"/>
    <p:sldId id="357" r:id="rId58"/>
    <p:sldId id="358" r:id="rId59"/>
    <p:sldId id="359" r:id="rId60"/>
    <p:sldId id="360" r:id="rId61"/>
    <p:sldId id="361" r:id="rId62"/>
    <p:sldId id="424" r:id="rId63"/>
    <p:sldId id="425" r:id="rId64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1452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44D4D3-4EB6-4C09-A619-27C4F01DCD80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2C2F09-3021-4D90-AB3F-C72C736F68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3176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01" name="Google Shape;10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763300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FF0000"/>
                </a:solidFill>
                <a:latin typeface="Book Antiqua"/>
                <a:cs typeface="Book Antiqu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3D3C2C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55"/>
              </a:lnSpc>
            </a:pPr>
            <a:r>
              <a:rPr dirty="0"/>
              <a:t>ACE</a:t>
            </a:r>
            <a:r>
              <a:rPr spc="-45" dirty="0"/>
              <a:t> </a:t>
            </a:r>
            <a:r>
              <a:rPr dirty="0"/>
              <a:t>Professionals</a:t>
            </a:r>
            <a:r>
              <a:rPr spc="-75" dirty="0"/>
              <a:t> </a:t>
            </a:r>
            <a:r>
              <a:rPr dirty="0"/>
              <a:t>Development</a:t>
            </a:r>
            <a:r>
              <a:rPr spc="-60" dirty="0"/>
              <a:t> </a:t>
            </a:r>
            <a:r>
              <a:rPr spc="-10" dirty="0"/>
              <a:t>Center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3D3C2C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65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FF0000"/>
                </a:solidFill>
                <a:latin typeface="Book Antiqua"/>
                <a:cs typeface="Book Antiqu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3D3C2C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55"/>
              </a:lnSpc>
            </a:pPr>
            <a:r>
              <a:rPr dirty="0"/>
              <a:t>ACE</a:t>
            </a:r>
            <a:r>
              <a:rPr spc="-45" dirty="0"/>
              <a:t> </a:t>
            </a:r>
            <a:r>
              <a:rPr dirty="0"/>
              <a:t>Professionals</a:t>
            </a:r>
            <a:r>
              <a:rPr spc="-75" dirty="0"/>
              <a:t> </a:t>
            </a:r>
            <a:r>
              <a:rPr dirty="0"/>
              <a:t>Development</a:t>
            </a:r>
            <a:r>
              <a:rPr spc="-60" dirty="0"/>
              <a:t> </a:t>
            </a:r>
            <a:r>
              <a:rPr spc="-10" dirty="0"/>
              <a:t>Center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3D3C2C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65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FF0000"/>
                </a:solidFill>
                <a:latin typeface="Book Antiqua"/>
                <a:cs typeface="Book Antiqu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3D3C2C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55"/>
              </a:lnSpc>
            </a:pPr>
            <a:r>
              <a:rPr dirty="0"/>
              <a:t>ACE</a:t>
            </a:r>
            <a:r>
              <a:rPr spc="-45" dirty="0"/>
              <a:t> </a:t>
            </a:r>
            <a:r>
              <a:rPr dirty="0"/>
              <a:t>Professionals</a:t>
            </a:r>
            <a:r>
              <a:rPr spc="-75" dirty="0"/>
              <a:t> </a:t>
            </a:r>
            <a:r>
              <a:rPr dirty="0"/>
              <a:t>Development</a:t>
            </a:r>
            <a:r>
              <a:rPr spc="-60" dirty="0"/>
              <a:t> </a:t>
            </a:r>
            <a:r>
              <a:rPr spc="-10" dirty="0"/>
              <a:t>Center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8/25/2025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3D3C2C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65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FF0000"/>
                </a:solidFill>
                <a:latin typeface="Book Antiqua"/>
                <a:cs typeface="Book Antiqu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3D3C2C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55"/>
              </a:lnSpc>
            </a:pPr>
            <a:r>
              <a:rPr dirty="0"/>
              <a:t>ACE</a:t>
            </a:r>
            <a:r>
              <a:rPr spc="-45" dirty="0"/>
              <a:t> </a:t>
            </a:r>
            <a:r>
              <a:rPr dirty="0"/>
              <a:t>Professionals</a:t>
            </a:r>
            <a:r>
              <a:rPr spc="-75" dirty="0"/>
              <a:t> </a:t>
            </a:r>
            <a:r>
              <a:rPr dirty="0"/>
              <a:t>Development</a:t>
            </a:r>
            <a:r>
              <a:rPr spc="-60" dirty="0"/>
              <a:t> </a:t>
            </a:r>
            <a:r>
              <a:rPr spc="-10" dirty="0"/>
              <a:t>Center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8/25/2025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3D3C2C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65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05255" y="3648455"/>
            <a:ext cx="7315200" cy="1280160"/>
          </a:xfrm>
          <a:custGeom>
            <a:avLst/>
            <a:gdLst/>
            <a:ahLst/>
            <a:cxnLst/>
            <a:rect l="l" t="t" r="r" b="b"/>
            <a:pathLst>
              <a:path w="7315200" h="1280160">
                <a:moveTo>
                  <a:pt x="0" y="1280159"/>
                </a:moveTo>
                <a:lnTo>
                  <a:pt x="7315200" y="1280159"/>
                </a:lnTo>
                <a:lnTo>
                  <a:pt x="7315200" y="0"/>
                </a:lnTo>
                <a:lnTo>
                  <a:pt x="0" y="0"/>
                </a:lnTo>
                <a:lnTo>
                  <a:pt x="0" y="1280159"/>
                </a:lnTo>
                <a:close/>
              </a:path>
            </a:pathLst>
          </a:custGeom>
          <a:ln w="6096">
            <a:solidFill>
              <a:srgbClr val="93C5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914400" y="5049011"/>
            <a:ext cx="7315200" cy="685800"/>
          </a:xfrm>
          <a:custGeom>
            <a:avLst/>
            <a:gdLst/>
            <a:ahLst/>
            <a:cxnLst/>
            <a:rect l="l" t="t" r="r" b="b"/>
            <a:pathLst>
              <a:path w="7315200" h="685800">
                <a:moveTo>
                  <a:pt x="0" y="685800"/>
                </a:moveTo>
                <a:lnTo>
                  <a:pt x="7315200" y="685800"/>
                </a:lnTo>
                <a:lnTo>
                  <a:pt x="7315200" y="0"/>
                </a:lnTo>
                <a:lnTo>
                  <a:pt x="0" y="0"/>
                </a:lnTo>
                <a:lnTo>
                  <a:pt x="0" y="685800"/>
                </a:lnTo>
                <a:close/>
              </a:path>
            </a:pathLst>
          </a:custGeom>
          <a:ln w="6096">
            <a:solidFill>
              <a:srgbClr val="70685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905255" y="3648455"/>
            <a:ext cx="228600" cy="1280160"/>
          </a:xfrm>
          <a:custGeom>
            <a:avLst/>
            <a:gdLst/>
            <a:ahLst/>
            <a:cxnLst/>
            <a:rect l="l" t="t" r="r" b="b"/>
            <a:pathLst>
              <a:path w="228600" h="1280160">
                <a:moveTo>
                  <a:pt x="228600" y="0"/>
                </a:moveTo>
                <a:lnTo>
                  <a:pt x="0" y="0"/>
                </a:lnTo>
                <a:lnTo>
                  <a:pt x="0" y="1280159"/>
                </a:lnTo>
                <a:lnTo>
                  <a:pt x="228600" y="1280159"/>
                </a:lnTo>
                <a:lnTo>
                  <a:pt x="228600" y="0"/>
                </a:lnTo>
                <a:close/>
              </a:path>
            </a:pathLst>
          </a:custGeom>
          <a:solidFill>
            <a:srgbClr val="93C5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914400" y="5049011"/>
            <a:ext cx="228600" cy="685800"/>
          </a:xfrm>
          <a:custGeom>
            <a:avLst/>
            <a:gdLst/>
            <a:ahLst/>
            <a:cxnLst/>
            <a:rect l="l" t="t" r="r" b="b"/>
            <a:pathLst>
              <a:path w="228600" h="685800">
                <a:moveTo>
                  <a:pt x="228600" y="0"/>
                </a:moveTo>
                <a:lnTo>
                  <a:pt x="0" y="0"/>
                </a:lnTo>
                <a:lnTo>
                  <a:pt x="0" y="685800"/>
                </a:lnTo>
                <a:lnTo>
                  <a:pt x="228600" y="685800"/>
                </a:lnTo>
                <a:lnTo>
                  <a:pt x="228600" y="0"/>
                </a:lnTo>
                <a:close/>
              </a:path>
            </a:pathLst>
          </a:custGeom>
          <a:solidFill>
            <a:srgbClr val="70685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13276" y="5900928"/>
            <a:ext cx="896112" cy="896112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16879" y="5861302"/>
            <a:ext cx="777239" cy="975360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49879" y="5900928"/>
            <a:ext cx="874775" cy="874776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04850" y="1981200"/>
            <a:ext cx="7820025" cy="122872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3D3C2C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55"/>
              </a:lnSpc>
            </a:pPr>
            <a:r>
              <a:rPr dirty="0"/>
              <a:t>ACE</a:t>
            </a:r>
            <a:r>
              <a:rPr spc="-45" dirty="0"/>
              <a:t> </a:t>
            </a:r>
            <a:r>
              <a:rPr dirty="0"/>
              <a:t>Professionals</a:t>
            </a:r>
            <a:r>
              <a:rPr spc="-75" dirty="0"/>
              <a:t> </a:t>
            </a:r>
            <a:r>
              <a:rPr dirty="0"/>
              <a:t>Development</a:t>
            </a:r>
            <a:r>
              <a:rPr spc="-60" dirty="0"/>
              <a:t> </a:t>
            </a:r>
            <a:r>
              <a:rPr spc="-10" dirty="0"/>
              <a:t>Center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8/25/2025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3D3C2C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65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>
  <p:cSld name="1_Custom Layout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21" descr="https://scontent-sin1-1.xx.fbcdn.net/v/t1.0-9/11222295_1029792927051503_6409135175813876143_n.png?oh=1ce4d8eab46a2ab96cc8bca812b9a49f&amp;oe=580C06B5"/>
          <p:cNvPicPr preferRelativeResize="0"/>
          <p:nvPr/>
        </p:nvPicPr>
        <p:blipFill rotWithShape="1">
          <a:blip r:embed="rId2">
            <a:alphaModFix/>
          </a:blip>
          <a:srcRect t="28500" b="30396"/>
          <a:stretch/>
        </p:blipFill>
        <p:spPr>
          <a:xfrm>
            <a:off x="1485900" y="1515592"/>
            <a:ext cx="6172200" cy="1409352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1"/>
          <p:cNvSpPr/>
          <p:nvPr/>
        </p:nvSpPr>
        <p:spPr>
          <a:xfrm rot="-5400000">
            <a:off x="3059832" y="1160748"/>
            <a:ext cx="3024336" cy="9289032"/>
          </a:xfrm>
          <a:custGeom>
            <a:avLst/>
            <a:gdLst/>
            <a:ahLst/>
            <a:cxnLst/>
            <a:rect l="l" t="t" r="r" b="b"/>
            <a:pathLst>
              <a:path w="10000" h="10000" extrusionOk="0">
                <a:moveTo>
                  <a:pt x="1667" y="0"/>
                </a:moveTo>
                <a:lnTo>
                  <a:pt x="10000" y="0"/>
                </a:lnTo>
                <a:cubicBezTo>
                  <a:pt x="9079" y="0"/>
                  <a:pt x="5596" y="2321"/>
                  <a:pt x="5596" y="5082"/>
                </a:cubicBezTo>
                <a:cubicBezTo>
                  <a:pt x="5596" y="7843"/>
                  <a:pt x="9079" y="10000"/>
                  <a:pt x="10000" y="10000"/>
                </a:cubicBezTo>
                <a:lnTo>
                  <a:pt x="1667" y="10000"/>
                </a:lnTo>
                <a:cubicBezTo>
                  <a:pt x="746" y="10000"/>
                  <a:pt x="0" y="7761"/>
                  <a:pt x="0" y="5000"/>
                </a:cubicBezTo>
                <a:cubicBezTo>
                  <a:pt x="0" y="2239"/>
                  <a:pt x="746" y="0"/>
                  <a:pt x="1667" y="0"/>
                </a:cubicBezTo>
                <a:close/>
              </a:path>
            </a:pathLst>
          </a:custGeom>
          <a:solidFill>
            <a:srgbClr val="2D489D"/>
          </a:solidFill>
          <a:ln>
            <a:noFill/>
          </a:ln>
        </p:spPr>
        <p:txBody>
          <a:bodyPr spcFirstLastPara="1" wrap="square" lIns="68550" tIns="68550" rIns="68550" bIns="685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tabLst/>
              <a:defRPr/>
            </a:pPr>
            <a:endParaRPr kumimoji="0" sz="105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21"/>
          <p:cNvSpPr txBox="1"/>
          <p:nvPr/>
        </p:nvSpPr>
        <p:spPr>
          <a:xfrm>
            <a:off x="-72521" y="4293120"/>
            <a:ext cx="9289032" cy="3024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  <a:tabLst/>
              <a:defRPr/>
            </a:pPr>
            <a:endParaRPr kumimoji="0" sz="13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  <a:tabLst/>
              <a:defRPr/>
            </a:pPr>
            <a:endParaRPr kumimoji="0" sz="13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  <a:tabLst/>
              <a:defRPr/>
            </a:pPr>
            <a:endParaRPr kumimoji="0" sz="13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S u b s i d i a r y   C o m p a n y   o f   A C E   D a t a   S y s t e m s</a:t>
            </a:r>
            <a:endParaRPr kumimoji="0" sz="105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21"/>
          <p:cNvSpPr txBox="1">
            <a:spLocks noGrp="1"/>
          </p:cNvSpPr>
          <p:nvPr>
            <p:ph type="title"/>
          </p:nvPr>
        </p:nvSpPr>
        <p:spPr>
          <a:xfrm>
            <a:off x="0" y="2920281"/>
            <a:ext cx="9144000" cy="507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489D"/>
              </a:buClr>
              <a:buSzPts val="3600"/>
              <a:buFont typeface="Times New Roman"/>
              <a:buNone/>
              <a:defRPr sz="2700" b="1" i="0" u="none" strike="noStrike" cap="none">
                <a:solidFill>
                  <a:srgbClr val="2D489D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Google Shape;15;p21"/>
          <p:cNvSpPr txBox="1">
            <a:spLocks noGrp="1"/>
          </p:cNvSpPr>
          <p:nvPr>
            <p:ph type="body" idx="1"/>
          </p:nvPr>
        </p:nvSpPr>
        <p:spPr>
          <a:xfrm>
            <a:off x="1" y="3672583"/>
            <a:ext cx="9143999" cy="525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383032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accent1"/>
              </a:buClr>
              <a:buSzPts val="2432"/>
              <a:buFont typeface="Noto Sans Symbols"/>
              <a:buChar char="🞂"/>
              <a:defRPr sz="2400" b="1" i="0" u="none" strike="noStrike" cap="none">
                <a:solidFill>
                  <a:srgbClr val="2D489D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39597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accent2"/>
              </a:buClr>
              <a:buSzPts val="1748"/>
              <a:buFont typeface="Noto Sans Symbols"/>
              <a:buChar char="🞂"/>
              <a:defRPr sz="1725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5119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BABABA"/>
              </a:buClr>
              <a:buSzPts val="1520"/>
              <a:buFont typeface="Noto Sans Symbols"/>
              <a:buChar char="🞂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861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635B4E"/>
              </a:buClr>
              <a:buSzPts val="1260"/>
              <a:buFont typeface="Noto Sans Symbols"/>
              <a:buChar char="◻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9720" algn="l" rtl="0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Clr>
                <a:schemeClr val="accent2"/>
              </a:buClr>
              <a:buSzPts val="1120"/>
              <a:buFont typeface="Noto Sans Symbols"/>
              <a:buChar char="◻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Clr>
                <a:srgbClr val="8BA1B3"/>
              </a:buClr>
              <a:buSzPts val="1200"/>
              <a:buFont typeface="Noto Sans Symbols"/>
              <a:buChar char="🞂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5275" algn="l" rtl="0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Clr>
                <a:srgbClr val="646C8F"/>
              </a:buClr>
              <a:buSzPts val="1050"/>
              <a:buFont typeface="Noto Sans Symbols"/>
              <a:buChar char="🞂"/>
              <a:defRPr sz="10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5275" algn="l" rtl="0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Clr>
                <a:srgbClr val="BABABA"/>
              </a:buClr>
              <a:buSzPts val="1050"/>
              <a:buFont typeface="Noto Sans Symbols"/>
              <a:buChar char="🞂"/>
              <a:defRPr sz="10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85750" algn="l" rtl="0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Clr>
                <a:srgbClr val="9FB8CD"/>
              </a:buClr>
              <a:buSzPts val="900"/>
              <a:buFont typeface="Noto Sans Symbols"/>
              <a:buChar char="🞂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7536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57200" y="6353555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600" y="0"/>
                </a:lnTo>
              </a:path>
            </a:pathLst>
          </a:custGeom>
          <a:ln w="9144">
            <a:solidFill>
              <a:srgbClr val="70685A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457200" y="1143000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600" y="0"/>
                </a:lnTo>
              </a:path>
            </a:pathLst>
          </a:custGeom>
          <a:ln w="9144">
            <a:solidFill>
              <a:srgbClr val="70685A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454151" y="6432803"/>
            <a:ext cx="120650" cy="190500"/>
          </a:xfrm>
          <a:custGeom>
            <a:avLst/>
            <a:gdLst/>
            <a:ahLst/>
            <a:cxnLst/>
            <a:rect l="l" t="t" r="r" b="b"/>
            <a:pathLst>
              <a:path w="120650" h="190500">
                <a:moveTo>
                  <a:pt x="0" y="0"/>
                </a:moveTo>
                <a:lnTo>
                  <a:pt x="0" y="190500"/>
                </a:lnTo>
                <a:lnTo>
                  <a:pt x="120396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70685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979932" y="86888"/>
            <a:ext cx="1705307" cy="101648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5940" y="566674"/>
            <a:ext cx="6104890" cy="5137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FF0000"/>
                </a:solidFill>
                <a:latin typeface="Book Antiqua"/>
                <a:cs typeface="Book Antiqu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43864" y="1277772"/>
            <a:ext cx="6894195" cy="47815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422772" y="6401666"/>
            <a:ext cx="3185159" cy="2254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3D3C2C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55"/>
              </a:lnSpc>
            </a:pPr>
            <a:r>
              <a:rPr dirty="0"/>
              <a:t>ACE</a:t>
            </a:r>
            <a:r>
              <a:rPr spc="-45" dirty="0"/>
              <a:t> </a:t>
            </a:r>
            <a:r>
              <a:rPr dirty="0"/>
              <a:t>Professionals</a:t>
            </a:r>
            <a:r>
              <a:rPr spc="-75" dirty="0"/>
              <a:t> </a:t>
            </a:r>
            <a:r>
              <a:rPr dirty="0"/>
              <a:t>Development</a:t>
            </a:r>
            <a:r>
              <a:rPr spc="-60" dirty="0"/>
              <a:t> </a:t>
            </a:r>
            <a:r>
              <a:rPr spc="-10" dirty="0"/>
              <a:t>Center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65987" y="6401056"/>
            <a:ext cx="347980" cy="2254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3D3C2C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65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"/>
          <p:cNvSpPr txBox="1">
            <a:spLocks noGrp="1"/>
          </p:cNvSpPr>
          <p:nvPr>
            <p:ph type="title"/>
          </p:nvPr>
        </p:nvSpPr>
        <p:spPr>
          <a:xfrm>
            <a:off x="1" y="3124200"/>
            <a:ext cx="9144000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 dirty="0"/>
              <a:t>On Job Training Course</a:t>
            </a:r>
            <a:endParaRPr dirty="0"/>
          </a:p>
        </p:txBody>
      </p:sp>
      <p:sp>
        <p:nvSpPr>
          <p:cNvPr id="104" name="Google Shape;104;p1"/>
          <p:cNvSpPr txBox="1">
            <a:spLocks noGrp="1"/>
          </p:cNvSpPr>
          <p:nvPr>
            <p:ph type="body" idx="1"/>
          </p:nvPr>
        </p:nvSpPr>
        <p:spPr>
          <a:xfrm>
            <a:off x="1" y="3886200"/>
            <a:ext cx="9143999" cy="681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noAutofit/>
          </a:bodyPr>
          <a:lstStyle/>
          <a:p>
            <a:pPr marL="0" lvl="0" indent="0" algn="ctr">
              <a:spcBef>
                <a:spcPts val="0"/>
              </a:spcBef>
              <a:buSzPts val="1368"/>
              <a:buNone/>
            </a:pPr>
            <a:r>
              <a:rPr lang="en-US" sz="2800" dirty="0">
                <a:solidFill>
                  <a:schemeClr val="dk1"/>
                </a:solidFill>
              </a:rPr>
              <a:t>Java Persistence API (JPA)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0683618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Content</a:t>
            </a:r>
            <a:r>
              <a:rPr lang="en-US" spc="-10" dirty="0"/>
              <a:t>s</a:t>
            </a:r>
            <a:endParaRPr spc="-10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5"/>
              </a:lnSpc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5"/>
              </a:lnSpc>
            </a:pPr>
            <a:r>
              <a:rPr dirty="0"/>
              <a:t>ACE</a:t>
            </a:r>
            <a:r>
              <a:rPr spc="-45" dirty="0"/>
              <a:t> </a:t>
            </a:r>
            <a:r>
              <a:rPr dirty="0"/>
              <a:t>Professionals</a:t>
            </a:r>
            <a:r>
              <a:rPr spc="-75" dirty="0"/>
              <a:t> </a:t>
            </a:r>
            <a:r>
              <a:rPr dirty="0"/>
              <a:t>Development</a:t>
            </a:r>
            <a:r>
              <a:rPr spc="-60" dirty="0"/>
              <a:t> </a:t>
            </a:r>
            <a:r>
              <a:rPr spc="-10" dirty="0"/>
              <a:t>Center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39" y="1170787"/>
            <a:ext cx="7942073" cy="1756891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86385" indent="-273685">
              <a:lnSpc>
                <a:spcPct val="100000"/>
              </a:lnSpc>
              <a:spcBef>
                <a:spcPts val="700"/>
              </a:spcBef>
              <a:buClr>
                <a:srgbClr val="006FC0"/>
              </a:buClr>
              <a:buSzPct val="76470"/>
              <a:buFont typeface="Wingdings 3"/>
              <a:buChar char=""/>
              <a:tabLst>
                <a:tab pos="286385" algn="l"/>
              </a:tabLst>
            </a:pPr>
            <a:r>
              <a:rPr lang="en-US" sz="1700" spc="-50" dirty="0">
                <a:latin typeface="Arial"/>
                <a:cs typeface="Arial"/>
              </a:rPr>
              <a:t>Types of Mapping</a:t>
            </a:r>
          </a:p>
          <a:p>
            <a:pPr marL="286385" indent="-273685">
              <a:lnSpc>
                <a:spcPct val="100000"/>
              </a:lnSpc>
              <a:spcBef>
                <a:spcPts val="700"/>
              </a:spcBef>
              <a:buClr>
                <a:srgbClr val="006FC0"/>
              </a:buClr>
              <a:buSzPct val="76470"/>
              <a:buFont typeface="Wingdings 3"/>
              <a:buChar char=""/>
              <a:tabLst>
                <a:tab pos="286385" algn="l"/>
              </a:tabLst>
            </a:pPr>
            <a:r>
              <a:rPr lang="en-US" sz="1700" dirty="0">
                <a:latin typeface="Arial"/>
                <a:cs typeface="Arial"/>
              </a:rPr>
              <a:t>JPA – Cascading</a:t>
            </a:r>
          </a:p>
          <a:p>
            <a:pPr marL="286385" indent="-273685">
              <a:lnSpc>
                <a:spcPct val="100000"/>
              </a:lnSpc>
              <a:spcBef>
                <a:spcPts val="700"/>
              </a:spcBef>
              <a:buClr>
                <a:srgbClr val="006FC0"/>
              </a:buClr>
              <a:buSzPct val="76470"/>
              <a:buFont typeface="Wingdings 3"/>
              <a:buChar char=""/>
              <a:tabLst>
                <a:tab pos="286385" algn="l"/>
              </a:tabLst>
            </a:pPr>
            <a:r>
              <a:rPr lang="en-US" sz="1700" dirty="0">
                <a:latin typeface="Arial"/>
                <a:cs typeface="Arial"/>
              </a:rPr>
              <a:t>JPA – JPQL</a:t>
            </a:r>
          </a:p>
          <a:p>
            <a:pPr marL="286385" indent="-273685">
              <a:lnSpc>
                <a:spcPct val="100000"/>
              </a:lnSpc>
              <a:spcBef>
                <a:spcPts val="700"/>
              </a:spcBef>
              <a:buClr>
                <a:srgbClr val="006FC0"/>
              </a:buClr>
              <a:buSzPct val="76470"/>
              <a:buFont typeface="Wingdings 3"/>
              <a:buChar char=""/>
              <a:tabLst>
                <a:tab pos="286385" algn="l"/>
              </a:tabLst>
            </a:pPr>
            <a:r>
              <a:rPr lang="en-US" sz="1700" dirty="0">
                <a:latin typeface="Arial"/>
                <a:cs typeface="Arial"/>
              </a:rPr>
              <a:t>JPQL Basic Operations</a:t>
            </a:r>
          </a:p>
          <a:p>
            <a:pPr marL="286385" indent="-273685">
              <a:lnSpc>
                <a:spcPct val="100000"/>
              </a:lnSpc>
              <a:spcBef>
                <a:spcPts val="700"/>
              </a:spcBef>
              <a:buClr>
                <a:srgbClr val="006FC0"/>
              </a:buClr>
              <a:buSzPct val="76470"/>
              <a:buFont typeface="Wingdings 3"/>
              <a:buChar char=""/>
              <a:tabLst>
                <a:tab pos="286385" algn="l"/>
              </a:tabLst>
            </a:pPr>
            <a:r>
              <a:rPr lang="en-US" sz="1700" dirty="0">
                <a:latin typeface="Arial"/>
                <a:cs typeface="Arial"/>
              </a:rPr>
              <a:t>Sample Project</a:t>
            </a:r>
            <a:endParaRPr sz="17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JPA</a:t>
            </a:r>
            <a:r>
              <a:rPr spc="-10" dirty="0"/>
              <a:t> </a:t>
            </a:r>
            <a:r>
              <a:rPr dirty="0"/>
              <a:t>-</a:t>
            </a:r>
            <a:r>
              <a:rPr spc="-10" dirty="0"/>
              <a:t> </a:t>
            </a:r>
            <a:r>
              <a:rPr dirty="0"/>
              <a:t>Type of </a:t>
            </a:r>
            <a:r>
              <a:rPr spc="-10" dirty="0"/>
              <a:t>Mapping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5"/>
              </a:lnSpc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5"/>
              </a:lnSpc>
            </a:pPr>
            <a:r>
              <a:rPr dirty="0"/>
              <a:t>ACE</a:t>
            </a:r>
            <a:r>
              <a:rPr spc="-45" dirty="0"/>
              <a:t> </a:t>
            </a:r>
            <a:r>
              <a:rPr dirty="0"/>
              <a:t>Professionals</a:t>
            </a:r>
            <a:r>
              <a:rPr spc="-75" dirty="0"/>
              <a:t> </a:t>
            </a:r>
            <a:r>
              <a:rPr dirty="0"/>
              <a:t>Development</a:t>
            </a:r>
            <a:r>
              <a:rPr spc="-60" dirty="0"/>
              <a:t> </a:t>
            </a:r>
            <a:r>
              <a:rPr spc="-10" dirty="0"/>
              <a:t>Center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5187" y="1655191"/>
            <a:ext cx="3603625" cy="2219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Arial"/>
                <a:cs typeface="Arial"/>
              </a:rPr>
              <a:t>There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are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four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types</a:t>
            </a:r>
            <a:r>
              <a:rPr sz="1600" spc="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of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mapping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in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spc="-20" dirty="0">
                <a:latin typeface="Arial"/>
                <a:cs typeface="Arial"/>
              </a:rPr>
              <a:t>JPA:</a:t>
            </a:r>
            <a:endParaRPr sz="1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600" dirty="0">
              <a:latin typeface="Arial"/>
              <a:cs typeface="Arial"/>
            </a:endParaRPr>
          </a:p>
          <a:p>
            <a:pPr marL="412115" indent="-287020">
              <a:lnSpc>
                <a:spcPct val="100000"/>
              </a:lnSpc>
              <a:buChar char="•"/>
              <a:tabLst>
                <a:tab pos="412115" algn="l"/>
              </a:tabLst>
            </a:pPr>
            <a:r>
              <a:rPr sz="1600" spc="-20" dirty="0">
                <a:latin typeface="Arial"/>
                <a:cs typeface="Arial"/>
              </a:rPr>
              <a:t>One-</a:t>
            </a:r>
            <a:r>
              <a:rPr sz="1600" spc="-75" dirty="0">
                <a:latin typeface="Arial"/>
                <a:cs typeface="Arial"/>
              </a:rPr>
              <a:t>To-</a:t>
            </a:r>
            <a:r>
              <a:rPr sz="1600" dirty="0">
                <a:latin typeface="Arial"/>
                <a:cs typeface="Arial"/>
              </a:rPr>
              <a:t>One</a:t>
            </a:r>
            <a:r>
              <a:rPr sz="1600" spc="8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Mapping</a:t>
            </a:r>
            <a:endParaRPr sz="1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0"/>
              </a:spcBef>
              <a:buFont typeface="Arial"/>
              <a:buChar char="•"/>
            </a:pPr>
            <a:endParaRPr sz="1600" dirty="0">
              <a:latin typeface="Arial"/>
              <a:cs typeface="Arial"/>
            </a:endParaRPr>
          </a:p>
          <a:p>
            <a:pPr marL="412115" indent="-287020">
              <a:lnSpc>
                <a:spcPct val="100000"/>
              </a:lnSpc>
              <a:buChar char="•"/>
              <a:tabLst>
                <a:tab pos="412115" algn="l"/>
              </a:tabLst>
            </a:pPr>
            <a:r>
              <a:rPr sz="1600" spc="-20" dirty="0">
                <a:latin typeface="Arial"/>
                <a:cs typeface="Arial"/>
              </a:rPr>
              <a:t>One-</a:t>
            </a:r>
            <a:r>
              <a:rPr sz="1600" spc="-75" dirty="0">
                <a:latin typeface="Arial"/>
                <a:cs typeface="Arial"/>
              </a:rPr>
              <a:t>To-</a:t>
            </a:r>
            <a:r>
              <a:rPr sz="1600" dirty="0">
                <a:latin typeface="Arial"/>
                <a:cs typeface="Arial"/>
              </a:rPr>
              <a:t>Many</a:t>
            </a:r>
            <a:r>
              <a:rPr sz="1600" spc="7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Mapping</a:t>
            </a:r>
            <a:endParaRPr sz="1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0"/>
              </a:spcBef>
              <a:buFont typeface="Arial"/>
              <a:buChar char="•"/>
            </a:pPr>
            <a:endParaRPr sz="1600" dirty="0">
              <a:latin typeface="Arial"/>
              <a:cs typeface="Arial"/>
            </a:endParaRPr>
          </a:p>
          <a:p>
            <a:pPr marL="412115" indent="-287020">
              <a:lnSpc>
                <a:spcPct val="100000"/>
              </a:lnSpc>
              <a:buChar char="•"/>
              <a:tabLst>
                <a:tab pos="412115" algn="l"/>
              </a:tabLst>
            </a:pPr>
            <a:r>
              <a:rPr sz="1600" spc="-15" dirty="0">
                <a:latin typeface="Arial"/>
                <a:cs typeface="Arial"/>
              </a:rPr>
              <a:t>Many-</a:t>
            </a:r>
            <a:r>
              <a:rPr sz="1600" spc="-75" dirty="0">
                <a:latin typeface="Arial"/>
                <a:cs typeface="Arial"/>
              </a:rPr>
              <a:t>To-</a:t>
            </a:r>
            <a:r>
              <a:rPr sz="1600" dirty="0">
                <a:latin typeface="Arial"/>
                <a:cs typeface="Arial"/>
              </a:rPr>
              <a:t>One</a:t>
            </a:r>
            <a:r>
              <a:rPr sz="1600" spc="6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Mapping</a:t>
            </a:r>
            <a:endParaRPr sz="1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0"/>
              </a:spcBef>
              <a:buFont typeface="Arial"/>
              <a:buChar char="•"/>
            </a:pPr>
            <a:endParaRPr sz="1600" dirty="0">
              <a:latin typeface="Arial"/>
              <a:cs typeface="Arial"/>
            </a:endParaRPr>
          </a:p>
          <a:p>
            <a:pPr marL="412115" indent="-287020">
              <a:lnSpc>
                <a:spcPct val="100000"/>
              </a:lnSpc>
              <a:buChar char="•"/>
              <a:tabLst>
                <a:tab pos="412115" algn="l"/>
              </a:tabLst>
            </a:pPr>
            <a:r>
              <a:rPr sz="1600" spc="-15" dirty="0">
                <a:latin typeface="Arial"/>
                <a:cs typeface="Arial"/>
              </a:rPr>
              <a:t>Many-</a:t>
            </a:r>
            <a:r>
              <a:rPr sz="1600" spc="-75" dirty="0">
                <a:latin typeface="Arial"/>
                <a:cs typeface="Arial"/>
              </a:rPr>
              <a:t>To-</a:t>
            </a:r>
            <a:r>
              <a:rPr sz="1600" dirty="0">
                <a:latin typeface="Arial"/>
                <a:cs typeface="Arial"/>
              </a:rPr>
              <a:t>Many</a:t>
            </a:r>
            <a:r>
              <a:rPr sz="1600" spc="3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Mapping</a:t>
            </a:r>
            <a:endParaRPr sz="16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One-</a:t>
            </a:r>
            <a:r>
              <a:rPr spc="-20" dirty="0"/>
              <a:t>To-</a:t>
            </a:r>
            <a:r>
              <a:rPr dirty="0"/>
              <a:t>One</a:t>
            </a:r>
            <a:r>
              <a:rPr spc="30" dirty="0"/>
              <a:t> </a:t>
            </a:r>
            <a:r>
              <a:rPr spc="-10" dirty="0"/>
              <a:t>Mapping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5"/>
              </a:lnSpc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5"/>
              </a:lnSpc>
            </a:pPr>
            <a:r>
              <a:rPr dirty="0"/>
              <a:t>ACE</a:t>
            </a:r>
            <a:r>
              <a:rPr spc="-45" dirty="0"/>
              <a:t> </a:t>
            </a:r>
            <a:r>
              <a:rPr dirty="0"/>
              <a:t>Professionals</a:t>
            </a:r>
            <a:r>
              <a:rPr spc="-75" dirty="0"/>
              <a:t> </a:t>
            </a:r>
            <a:r>
              <a:rPr dirty="0"/>
              <a:t>Development</a:t>
            </a:r>
            <a:r>
              <a:rPr spc="-60" dirty="0"/>
              <a:t> </a:t>
            </a:r>
            <a:r>
              <a:rPr spc="-10" dirty="0"/>
              <a:t>Center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5187" y="1655191"/>
            <a:ext cx="7600950" cy="31959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Arial"/>
                <a:cs typeface="Arial"/>
              </a:rPr>
              <a:t>The</a:t>
            </a:r>
            <a:r>
              <a:rPr sz="1600" spc="-20" dirty="0">
                <a:latin typeface="Arial"/>
                <a:cs typeface="Arial"/>
              </a:rPr>
              <a:t> One-</a:t>
            </a:r>
            <a:r>
              <a:rPr sz="1600" spc="-75" dirty="0">
                <a:latin typeface="Arial"/>
                <a:cs typeface="Arial"/>
              </a:rPr>
              <a:t>To-</a:t>
            </a:r>
            <a:r>
              <a:rPr sz="1600" dirty="0">
                <a:latin typeface="Arial"/>
                <a:cs typeface="Arial"/>
              </a:rPr>
              <a:t>One</a:t>
            </a:r>
            <a:r>
              <a:rPr sz="1600" spc="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mapping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represents a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single-</a:t>
            </a:r>
            <a:r>
              <a:rPr sz="1600" dirty="0">
                <a:latin typeface="Arial"/>
                <a:cs typeface="Arial"/>
              </a:rPr>
              <a:t>valued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association</a:t>
            </a:r>
            <a:r>
              <a:rPr sz="1600" spc="-5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where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an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instance</a:t>
            </a:r>
            <a:endParaRPr sz="1600">
              <a:latin typeface="Arial"/>
              <a:cs typeface="Arial"/>
            </a:endParaRPr>
          </a:p>
          <a:p>
            <a:pPr marL="12700" marR="360680">
              <a:lnSpc>
                <a:spcPts val="3840"/>
              </a:lnSpc>
              <a:spcBef>
                <a:spcPts val="445"/>
              </a:spcBef>
            </a:pPr>
            <a:r>
              <a:rPr sz="1600" dirty="0">
                <a:latin typeface="Arial"/>
                <a:cs typeface="Arial"/>
              </a:rPr>
              <a:t>of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one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entity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is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associated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with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an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instance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of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another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entity.</a:t>
            </a:r>
            <a:r>
              <a:rPr sz="1600" spc="-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In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this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type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of </a:t>
            </a:r>
            <a:r>
              <a:rPr sz="1600" dirty="0">
                <a:latin typeface="Arial"/>
                <a:cs typeface="Arial"/>
              </a:rPr>
              <a:t>association</a:t>
            </a:r>
            <a:r>
              <a:rPr sz="1600" spc="-5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one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instance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of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source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entity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can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be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mapped</a:t>
            </a:r>
            <a:r>
              <a:rPr sz="1600" spc="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atmost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one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instance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of </a:t>
            </a:r>
            <a:r>
              <a:rPr sz="1600" dirty="0">
                <a:latin typeface="Arial"/>
                <a:cs typeface="Arial"/>
              </a:rPr>
              <a:t>target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entity.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75"/>
              </a:spcBef>
            </a:pPr>
            <a:r>
              <a:rPr sz="1600" dirty="0">
                <a:latin typeface="Arial"/>
                <a:cs typeface="Arial"/>
              </a:rPr>
              <a:t>In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this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example,</a:t>
            </a:r>
            <a:endParaRPr sz="1600">
              <a:latin typeface="Arial"/>
              <a:cs typeface="Arial"/>
            </a:endParaRPr>
          </a:p>
          <a:p>
            <a:pPr marL="12700" marR="231140">
              <a:lnSpc>
                <a:spcPct val="200000"/>
              </a:lnSpc>
              <a:spcBef>
                <a:spcPts val="5"/>
              </a:spcBef>
            </a:pPr>
            <a:r>
              <a:rPr sz="1600" dirty="0">
                <a:latin typeface="Arial"/>
                <a:cs typeface="Arial"/>
              </a:rPr>
              <a:t>we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will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create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One-</a:t>
            </a:r>
            <a:r>
              <a:rPr sz="1600" spc="-75" dirty="0">
                <a:latin typeface="Arial"/>
                <a:cs typeface="Arial"/>
              </a:rPr>
              <a:t>To-</a:t>
            </a:r>
            <a:r>
              <a:rPr sz="1600" dirty="0">
                <a:latin typeface="Arial"/>
                <a:cs typeface="Arial"/>
              </a:rPr>
              <a:t>One</a:t>
            </a:r>
            <a:r>
              <a:rPr sz="1600" spc="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relationship</a:t>
            </a:r>
            <a:r>
              <a:rPr sz="1600" spc="-5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between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Student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and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Library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in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such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spc="-50" dirty="0">
                <a:latin typeface="Arial"/>
                <a:cs typeface="Arial"/>
              </a:rPr>
              <a:t>a </a:t>
            </a:r>
            <a:r>
              <a:rPr sz="1600" dirty="0">
                <a:latin typeface="Arial"/>
                <a:cs typeface="Arial"/>
              </a:rPr>
              <a:t>way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that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one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student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can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be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issued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only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one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type of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book.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One-</a:t>
            </a:r>
            <a:r>
              <a:rPr spc="-20" dirty="0"/>
              <a:t>To-</a:t>
            </a:r>
            <a:r>
              <a:rPr dirty="0"/>
              <a:t>One</a:t>
            </a:r>
            <a:r>
              <a:rPr spc="30" dirty="0"/>
              <a:t> </a:t>
            </a:r>
            <a:r>
              <a:rPr spc="-10" dirty="0"/>
              <a:t>Mapping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5"/>
              </a:lnSpc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5"/>
              </a:lnSpc>
            </a:pPr>
            <a:r>
              <a:rPr dirty="0"/>
              <a:t>ACE</a:t>
            </a:r>
            <a:r>
              <a:rPr spc="-45" dirty="0"/>
              <a:t> </a:t>
            </a:r>
            <a:r>
              <a:rPr dirty="0"/>
              <a:t>Professionals</a:t>
            </a:r>
            <a:r>
              <a:rPr spc="-75" dirty="0"/>
              <a:t> </a:t>
            </a:r>
            <a:r>
              <a:rPr dirty="0"/>
              <a:t>Development</a:t>
            </a:r>
            <a:r>
              <a:rPr spc="-60" dirty="0"/>
              <a:t> </a:t>
            </a:r>
            <a:r>
              <a:rPr spc="-10" dirty="0"/>
              <a:t>Center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5187" y="1563750"/>
            <a:ext cx="2409190" cy="42932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Arial"/>
                <a:cs typeface="Arial"/>
              </a:rPr>
              <a:t>Student.java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0"/>
              </a:spcBef>
            </a:pP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latin typeface="Arial"/>
                <a:cs typeface="Arial"/>
              </a:rPr>
              <a:t>import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javax.persistence.*;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600" spc="-10" dirty="0">
                <a:latin typeface="Arial"/>
                <a:cs typeface="Arial"/>
              </a:rPr>
              <a:t>@Entity</a:t>
            </a:r>
            <a:endParaRPr sz="1600">
              <a:latin typeface="Arial"/>
              <a:cs typeface="Arial"/>
            </a:endParaRPr>
          </a:p>
          <a:p>
            <a:pPr marL="12700" marR="12700">
              <a:lnSpc>
                <a:spcPct val="150000"/>
              </a:lnSpc>
            </a:pPr>
            <a:r>
              <a:rPr sz="1600" spc="-20" dirty="0">
                <a:latin typeface="Arial"/>
                <a:cs typeface="Arial"/>
              </a:rPr>
              <a:t>@Table(name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=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"student") </a:t>
            </a:r>
            <a:r>
              <a:rPr sz="1600" dirty="0">
                <a:latin typeface="Arial"/>
                <a:cs typeface="Arial"/>
              </a:rPr>
              <a:t>public</a:t>
            </a:r>
            <a:r>
              <a:rPr sz="1600" spc="-6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class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Student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spc="-50" dirty="0">
                <a:latin typeface="Arial"/>
                <a:cs typeface="Arial"/>
              </a:rPr>
              <a:t>{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600" spc="-25" dirty="0">
                <a:latin typeface="Arial"/>
                <a:cs typeface="Arial"/>
              </a:rPr>
              <a:t>@Id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65"/>
              </a:spcBef>
            </a:pPr>
            <a:r>
              <a:rPr sz="1600" dirty="0">
                <a:latin typeface="Arial"/>
                <a:cs typeface="Arial"/>
              </a:rPr>
              <a:t>private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int</a:t>
            </a:r>
            <a:r>
              <a:rPr sz="1600" spc="-20" dirty="0">
                <a:latin typeface="Arial"/>
                <a:cs typeface="Arial"/>
              </a:rPr>
              <a:t> sId;</a:t>
            </a:r>
            <a:endParaRPr sz="1600">
              <a:latin typeface="Arial"/>
              <a:cs typeface="Arial"/>
            </a:endParaRPr>
          </a:p>
          <a:p>
            <a:pPr marL="12700" marR="434340">
              <a:lnSpc>
                <a:spcPct val="150000"/>
              </a:lnSpc>
            </a:pPr>
            <a:r>
              <a:rPr sz="1600" dirty="0">
                <a:latin typeface="Arial"/>
                <a:cs typeface="Arial"/>
              </a:rPr>
              <a:t>private</a:t>
            </a:r>
            <a:r>
              <a:rPr sz="1600" spc="-6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String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sName; </a:t>
            </a:r>
            <a:r>
              <a:rPr sz="1600" dirty="0">
                <a:latin typeface="Arial"/>
                <a:cs typeface="Arial"/>
              </a:rPr>
              <a:t>private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int</a:t>
            </a:r>
            <a:r>
              <a:rPr sz="1600" spc="-20" dirty="0">
                <a:latin typeface="Arial"/>
                <a:cs typeface="Arial"/>
              </a:rPr>
              <a:t> sAge;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600" spc="-10" dirty="0">
                <a:latin typeface="Arial"/>
                <a:cs typeface="Arial"/>
              </a:rPr>
              <a:t>//getter,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setter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600" spc="-50" dirty="0">
                <a:latin typeface="Arial"/>
                <a:cs typeface="Arial"/>
              </a:rPr>
              <a:t>}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One-</a:t>
            </a:r>
            <a:r>
              <a:rPr spc="-20" dirty="0"/>
              <a:t>To-</a:t>
            </a:r>
            <a:r>
              <a:rPr dirty="0"/>
              <a:t>One</a:t>
            </a:r>
            <a:r>
              <a:rPr spc="30" dirty="0"/>
              <a:t> </a:t>
            </a:r>
            <a:r>
              <a:rPr spc="-10" dirty="0"/>
              <a:t>Mapping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5"/>
              </a:lnSpc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5"/>
              </a:lnSpc>
            </a:pPr>
            <a:r>
              <a:rPr dirty="0"/>
              <a:t>ACE</a:t>
            </a:r>
            <a:r>
              <a:rPr spc="-45" dirty="0"/>
              <a:t> </a:t>
            </a:r>
            <a:r>
              <a:rPr dirty="0"/>
              <a:t>Professionals</a:t>
            </a:r>
            <a:r>
              <a:rPr spc="-75" dirty="0"/>
              <a:t> </a:t>
            </a:r>
            <a:r>
              <a:rPr dirty="0"/>
              <a:t>Development</a:t>
            </a:r>
            <a:r>
              <a:rPr spc="-60" dirty="0"/>
              <a:t> </a:t>
            </a:r>
            <a:r>
              <a:rPr spc="-10" dirty="0"/>
              <a:t>Center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5187" y="1563750"/>
            <a:ext cx="4844415" cy="46589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Arial"/>
                <a:cs typeface="Arial"/>
              </a:rPr>
              <a:t>Library.java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0"/>
              </a:spcBef>
            </a:pP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latin typeface="Arial"/>
                <a:cs typeface="Arial"/>
              </a:rPr>
              <a:t>import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javax.persistence.*;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600" spc="-10" dirty="0">
                <a:latin typeface="Arial"/>
                <a:cs typeface="Arial"/>
              </a:rPr>
              <a:t>@Entity</a:t>
            </a:r>
            <a:endParaRPr sz="1600">
              <a:latin typeface="Arial"/>
              <a:cs typeface="Arial"/>
            </a:endParaRPr>
          </a:p>
          <a:p>
            <a:pPr marL="12700" marR="2974340">
              <a:lnSpc>
                <a:spcPct val="150000"/>
              </a:lnSpc>
            </a:pPr>
            <a:r>
              <a:rPr sz="1600" dirty="0">
                <a:latin typeface="Arial"/>
                <a:cs typeface="Arial"/>
              </a:rPr>
              <a:t>public</a:t>
            </a:r>
            <a:r>
              <a:rPr sz="1600" spc="-5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class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Library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spc="-50" dirty="0">
                <a:latin typeface="Arial"/>
                <a:cs typeface="Arial"/>
              </a:rPr>
              <a:t>{ </a:t>
            </a:r>
            <a:r>
              <a:rPr sz="1600" spc="-25" dirty="0">
                <a:latin typeface="Arial"/>
                <a:cs typeface="Arial"/>
              </a:rPr>
              <a:t>@Id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600" spc="-10" dirty="0">
                <a:latin typeface="Arial"/>
                <a:cs typeface="Arial"/>
              </a:rPr>
              <a:t>@GeneratedValue(strategy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=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GenerationType.AUTO)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65"/>
              </a:spcBef>
            </a:pPr>
            <a:r>
              <a:rPr sz="1600" dirty="0">
                <a:latin typeface="Arial"/>
                <a:cs typeface="Arial"/>
              </a:rPr>
              <a:t>private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int</a:t>
            </a:r>
            <a:r>
              <a:rPr sz="1600" spc="-20" dirty="0">
                <a:latin typeface="Arial"/>
                <a:cs typeface="Arial"/>
              </a:rPr>
              <a:t> bId;</a:t>
            </a:r>
            <a:endParaRPr sz="1600">
              <a:latin typeface="Arial"/>
              <a:cs typeface="Arial"/>
            </a:endParaRPr>
          </a:p>
          <a:p>
            <a:pPr marL="12700" marR="852169">
              <a:lnSpc>
                <a:spcPct val="150000"/>
              </a:lnSpc>
            </a:pPr>
            <a:r>
              <a:rPr sz="1600" dirty="0">
                <a:latin typeface="Arial"/>
                <a:cs typeface="Arial"/>
              </a:rPr>
              <a:t>private</a:t>
            </a:r>
            <a:r>
              <a:rPr sz="1600" spc="-6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String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bName; @OneToOne(cascade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=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CascadeType.ALL) </a:t>
            </a:r>
            <a:r>
              <a:rPr sz="1600" dirty="0">
                <a:latin typeface="Arial"/>
                <a:cs typeface="Arial"/>
              </a:rPr>
              <a:t>private</a:t>
            </a:r>
            <a:r>
              <a:rPr sz="1600" spc="-5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Student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student;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600" spc="-10" dirty="0">
                <a:latin typeface="Arial"/>
                <a:cs typeface="Arial"/>
              </a:rPr>
              <a:t>//getter,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setter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600" spc="-50" dirty="0">
                <a:latin typeface="Arial"/>
                <a:cs typeface="Arial"/>
              </a:rPr>
              <a:t>}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One-</a:t>
            </a:r>
            <a:r>
              <a:rPr spc="-20" dirty="0"/>
              <a:t>To-</a:t>
            </a:r>
            <a:r>
              <a:rPr dirty="0"/>
              <a:t>One</a:t>
            </a:r>
            <a:r>
              <a:rPr spc="30" dirty="0"/>
              <a:t> </a:t>
            </a:r>
            <a:r>
              <a:rPr spc="-10" dirty="0"/>
              <a:t>Mapping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5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5"/>
              </a:lnSpc>
            </a:pPr>
            <a:r>
              <a:rPr dirty="0"/>
              <a:t>ACE</a:t>
            </a:r>
            <a:r>
              <a:rPr spc="-45" dirty="0"/>
              <a:t> </a:t>
            </a:r>
            <a:r>
              <a:rPr dirty="0"/>
              <a:t>Professionals</a:t>
            </a:r>
            <a:r>
              <a:rPr spc="-75" dirty="0"/>
              <a:t> </a:t>
            </a:r>
            <a:r>
              <a:rPr dirty="0"/>
              <a:t>Development</a:t>
            </a:r>
            <a:r>
              <a:rPr spc="-60" dirty="0"/>
              <a:t> </a:t>
            </a:r>
            <a:r>
              <a:rPr spc="-10" dirty="0"/>
              <a:t>Center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5187" y="1173874"/>
            <a:ext cx="4995545" cy="4886960"/>
          </a:xfrm>
          <a:prstGeom prst="rect">
            <a:avLst/>
          </a:prstGeom>
        </p:spPr>
        <p:txBody>
          <a:bodyPr vert="horz" wrap="square" lIns="0" tIns="140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1600" b="1" spc="-10" dirty="0">
                <a:latin typeface="Arial"/>
                <a:cs typeface="Arial"/>
              </a:rPr>
              <a:t>StoreStudLibrary.java</a:t>
            </a:r>
            <a:endParaRPr sz="1600">
              <a:latin typeface="Arial"/>
              <a:cs typeface="Arial"/>
            </a:endParaRPr>
          </a:p>
          <a:p>
            <a:pPr marL="12700" marR="2056764">
              <a:lnSpc>
                <a:spcPct val="150100"/>
              </a:lnSpc>
              <a:spcBef>
                <a:spcPts val="55"/>
              </a:spcBef>
            </a:pPr>
            <a:r>
              <a:rPr sz="1400" dirty="0">
                <a:latin typeface="Arial"/>
                <a:cs typeface="Arial"/>
              </a:rPr>
              <a:t>public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class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StoreStudLibrary</a:t>
            </a:r>
            <a:r>
              <a:rPr sz="1400" spc="-50" dirty="0">
                <a:latin typeface="Arial"/>
                <a:cs typeface="Arial"/>
              </a:rPr>
              <a:t> {</a:t>
            </a:r>
            <a:r>
              <a:rPr sz="1400" spc="50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public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static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void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main(String[]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args)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spc="-50" dirty="0">
                <a:latin typeface="Arial"/>
                <a:cs typeface="Arial"/>
              </a:rPr>
              <a:t>{ </a:t>
            </a:r>
            <a:r>
              <a:rPr sz="1400" spc="-10" dirty="0">
                <a:latin typeface="Arial"/>
                <a:cs typeface="Arial"/>
              </a:rPr>
              <a:t>EntityManagerFactory</a:t>
            </a:r>
            <a:r>
              <a:rPr sz="1400" spc="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emf</a:t>
            </a:r>
            <a:r>
              <a:rPr sz="1400" spc="45" dirty="0">
                <a:latin typeface="Arial"/>
                <a:cs typeface="Arial"/>
              </a:rPr>
              <a:t> </a:t>
            </a:r>
            <a:r>
              <a:rPr sz="1400" spc="-50" dirty="0">
                <a:latin typeface="Arial"/>
                <a:cs typeface="Arial"/>
              </a:rPr>
              <a:t>=</a:t>
            </a:r>
            <a:endParaRPr sz="1400">
              <a:latin typeface="Arial"/>
              <a:cs typeface="Arial"/>
            </a:endParaRPr>
          </a:p>
          <a:p>
            <a:pPr marL="12700" marR="5080">
              <a:lnSpc>
                <a:spcPct val="150000"/>
              </a:lnSpc>
            </a:pPr>
            <a:r>
              <a:rPr sz="1400" spc="-10" dirty="0">
                <a:latin typeface="Arial"/>
                <a:cs typeface="Arial"/>
              </a:rPr>
              <a:t>Persistence.createEntityManagerFactory("JPASampleProject"); </a:t>
            </a:r>
            <a:r>
              <a:rPr sz="1400" dirty="0">
                <a:latin typeface="Arial"/>
                <a:cs typeface="Arial"/>
              </a:rPr>
              <a:t>EntityManager</a:t>
            </a:r>
            <a:r>
              <a:rPr sz="1400" spc="-6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em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=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emf.createEntityManager(); em.getTransaction().begin();</a:t>
            </a:r>
            <a:endParaRPr sz="1400">
              <a:latin typeface="Arial"/>
              <a:cs typeface="Arial"/>
            </a:endParaRPr>
          </a:p>
          <a:p>
            <a:pPr marL="12700" marR="2718435">
              <a:lnSpc>
                <a:spcPct val="150000"/>
              </a:lnSpc>
            </a:pPr>
            <a:r>
              <a:rPr sz="1400" dirty="0">
                <a:latin typeface="Arial"/>
                <a:cs typeface="Arial"/>
              </a:rPr>
              <a:t>Student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st1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=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new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Student(); st1.setsId(105); st1.setsAge(20); st1.setsName("Jon"); </a:t>
            </a:r>
            <a:r>
              <a:rPr sz="1400" dirty="0">
                <a:latin typeface="Arial"/>
                <a:cs typeface="Arial"/>
              </a:rPr>
              <a:t>Student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st2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=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new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Student(); st2.setsId(106); st2.setsAge(22); st2.setsName("Smith");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One-</a:t>
            </a:r>
            <a:r>
              <a:rPr spc="-20" dirty="0"/>
              <a:t>To-</a:t>
            </a:r>
            <a:r>
              <a:rPr dirty="0"/>
              <a:t>One</a:t>
            </a:r>
            <a:r>
              <a:rPr spc="30" dirty="0"/>
              <a:t> </a:t>
            </a:r>
            <a:r>
              <a:rPr spc="-10" dirty="0"/>
              <a:t>Mapping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5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5"/>
              </a:lnSpc>
            </a:pPr>
            <a:r>
              <a:rPr dirty="0"/>
              <a:t>ACE</a:t>
            </a:r>
            <a:r>
              <a:rPr spc="-45" dirty="0"/>
              <a:t> </a:t>
            </a:r>
            <a:r>
              <a:rPr dirty="0"/>
              <a:t>Professionals</a:t>
            </a:r>
            <a:r>
              <a:rPr spc="-75" dirty="0"/>
              <a:t> </a:t>
            </a:r>
            <a:r>
              <a:rPr dirty="0"/>
              <a:t>Development</a:t>
            </a:r>
            <a:r>
              <a:rPr spc="-60" dirty="0"/>
              <a:t> </a:t>
            </a:r>
            <a:r>
              <a:rPr spc="-10" dirty="0"/>
              <a:t>Center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5187" y="1180236"/>
            <a:ext cx="2964815" cy="51473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50100"/>
              </a:lnSpc>
              <a:spcBef>
                <a:spcPts val="95"/>
              </a:spcBef>
            </a:pPr>
            <a:r>
              <a:rPr sz="1600" dirty="0">
                <a:latin typeface="Arial"/>
                <a:cs typeface="Arial"/>
              </a:rPr>
              <a:t>Library</a:t>
            </a:r>
            <a:r>
              <a:rPr sz="1600" spc="-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lib1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=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new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Library(); lib1.setbId(1); lib1.setbName("Data</a:t>
            </a:r>
            <a:r>
              <a:rPr sz="160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Structure"); lib1.setStudent(st1);</a:t>
            </a:r>
            <a:endParaRPr sz="1600">
              <a:latin typeface="Arial"/>
              <a:cs typeface="Arial"/>
            </a:endParaRPr>
          </a:p>
          <a:p>
            <a:pPr marL="12700" marR="233045">
              <a:lnSpc>
                <a:spcPct val="150000"/>
              </a:lnSpc>
            </a:pPr>
            <a:r>
              <a:rPr sz="1600" dirty="0">
                <a:latin typeface="Arial"/>
                <a:cs typeface="Arial"/>
              </a:rPr>
              <a:t>Library</a:t>
            </a:r>
            <a:r>
              <a:rPr sz="1600" spc="-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lib2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=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new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Library(); lib2.setbId(2); lib2.setbName("DBMS"); lib2.setStudent(st2); em.persist(lib1); em.persist(lib2); em.getTransaction().commit(); em.close();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600" spc="-50" dirty="0">
                <a:latin typeface="Arial"/>
                <a:cs typeface="Arial"/>
              </a:rPr>
              <a:t>}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600" spc="-50" dirty="0">
                <a:latin typeface="Arial"/>
                <a:cs typeface="Arial"/>
              </a:rPr>
              <a:t>}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One-</a:t>
            </a:r>
            <a:r>
              <a:rPr spc="-20" dirty="0"/>
              <a:t>To-</a:t>
            </a:r>
            <a:r>
              <a:rPr dirty="0"/>
              <a:t>One</a:t>
            </a:r>
            <a:r>
              <a:rPr spc="30" dirty="0"/>
              <a:t> </a:t>
            </a:r>
            <a:r>
              <a:rPr spc="-10" dirty="0"/>
              <a:t>Mapping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5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5"/>
              </a:lnSpc>
            </a:pPr>
            <a:r>
              <a:rPr dirty="0"/>
              <a:t>ACE</a:t>
            </a:r>
            <a:r>
              <a:rPr spc="-45" dirty="0"/>
              <a:t> </a:t>
            </a:r>
            <a:r>
              <a:rPr dirty="0"/>
              <a:t>Professionals</a:t>
            </a:r>
            <a:r>
              <a:rPr spc="-75" dirty="0"/>
              <a:t> </a:t>
            </a:r>
            <a:r>
              <a:rPr dirty="0"/>
              <a:t>Development</a:t>
            </a:r>
            <a:r>
              <a:rPr spc="-60" dirty="0"/>
              <a:t> </a:t>
            </a:r>
            <a:r>
              <a:rPr spc="-10" dirty="0"/>
              <a:t>Center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5187" y="1302766"/>
            <a:ext cx="6245860" cy="50247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Arial"/>
                <a:cs typeface="Arial"/>
              </a:rPr>
              <a:t>FindStudLibrary.java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0"/>
              </a:spcBef>
            </a:pP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dirty="0">
                <a:latin typeface="Arial"/>
                <a:cs typeface="Arial"/>
              </a:rPr>
              <a:t>public</a:t>
            </a:r>
            <a:r>
              <a:rPr sz="1600" spc="-7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class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FindStudLibrary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spc="-50" dirty="0">
                <a:latin typeface="Arial"/>
                <a:cs typeface="Arial"/>
              </a:rPr>
              <a:t>{</a:t>
            </a:r>
            <a:endParaRPr sz="1600">
              <a:latin typeface="Arial"/>
              <a:cs typeface="Arial"/>
            </a:endParaRPr>
          </a:p>
          <a:p>
            <a:pPr marL="12700" marR="2879725">
              <a:lnSpc>
                <a:spcPct val="150000"/>
              </a:lnSpc>
            </a:pPr>
            <a:r>
              <a:rPr sz="1600" dirty="0">
                <a:latin typeface="Arial"/>
                <a:cs typeface="Arial"/>
              </a:rPr>
              <a:t>public</a:t>
            </a:r>
            <a:r>
              <a:rPr sz="1600" spc="-7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static</a:t>
            </a:r>
            <a:r>
              <a:rPr sz="1600" spc="-5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void</a:t>
            </a:r>
            <a:r>
              <a:rPr sz="1600" spc="-5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main(String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args[])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spc="-60" dirty="0">
                <a:latin typeface="Arial"/>
                <a:cs typeface="Arial"/>
              </a:rPr>
              <a:t>{ </a:t>
            </a:r>
            <a:r>
              <a:rPr sz="1600" spc="-10" dirty="0">
                <a:latin typeface="Arial"/>
                <a:cs typeface="Arial"/>
              </a:rPr>
              <a:t>EntityManagerFactory</a:t>
            </a:r>
            <a:r>
              <a:rPr sz="1600" spc="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emf</a:t>
            </a:r>
            <a:r>
              <a:rPr sz="1600" spc="5" dirty="0">
                <a:latin typeface="Arial"/>
                <a:cs typeface="Arial"/>
              </a:rPr>
              <a:t> </a:t>
            </a:r>
            <a:r>
              <a:rPr sz="1600" spc="-50" dirty="0">
                <a:latin typeface="Arial"/>
                <a:cs typeface="Arial"/>
              </a:rPr>
              <a:t>=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600" spc="-10" dirty="0">
                <a:latin typeface="Arial"/>
                <a:cs typeface="Arial"/>
              </a:rPr>
              <a:t>Persistence.createEntityManagerFactory("JPASampleProject");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600" dirty="0">
                <a:latin typeface="Arial"/>
                <a:cs typeface="Arial"/>
              </a:rPr>
              <a:t>EntityManager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em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=</a:t>
            </a:r>
            <a:r>
              <a:rPr sz="1600" spc="-5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emf.createEntityManager();</a:t>
            </a:r>
            <a:endParaRPr sz="1600">
              <a:latin typeface="Arial"/>
              <a:cs typeface="Arial"/>
            </a:endParaRPr>
          </a:p>
          <a:p>
            <a:pPr marL="12700" marR="760730">
              <a:lnSpc>
                <a:spcPct val="150000"/>
              </a:lnSpc>
            </a:pPr>
            <a:r>
              <a:rPr sz="1600" dirty="0">
                <a:latin typeface="Arial"/>
                <a:cs typeface="Arial"/>
              </a:rPr>
              <a:t>Library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lib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=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em.find(Library.class,</a:t>
            </a:r>
            <a:r>
              <a:rPr sz="1600" spc="10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1); </a:t>
            </a:r>
            <a:r>
              <a:rPr sz="1600" spc="-10" dirty="0">
                <a:latin typeface="Arial"/>
                <a:cs typeface="Arial"/>
              </a:rPr>
              <a:t>System.out.println("Book</a:t>
            </a:r>
            <a:r>
              <a:rPr sz="1600" spc="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Name</a:t>
            </a:r>
            <a:r>
              <a:rPr sz="1600" spc="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:</a:t>
            </a:r>
            <a:r>
              <a:rPr sz="1600" spc="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"</a:t>
            </a:r>
            <a:r>
              <a:rPr sz="1600" spc="-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+</a:t>
            </a:r>
            <a:r>
              <a:rPr sz="1600" spc="1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lib.getbName()); System.out.println("Student</a:t>
            </a:r>
            <a:r>
              <a:rPr sz="1600" spc="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id</a:t>
            </a:r>
            <a:r>
              <a:rPr sz="1600" spc="-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=</a:t>
            </a:r>
            <a:r>
              <a:rPr sz="1600" spc="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"</a:t>
            </a:r>
            <a:r>
              <a:rPr sz="1600" spc="-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+</a:t>
            </a:r>
            <a:r>
              <a:rPr sz="1600" spc="2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lib.getStudent().getsId());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600" spc="-10" dirty="0">
                <a:latin typeface="Arial"/>
                <a:cs typeface="Arial"/>
              </a:rPr>
              <a:t>System.out.println("Student</a:t>
            </a:r>
            <a:r>
              <a:rPr sz="1600" spc="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Name</a:t>
            </a:r>
            <a:r>
              <a:rPr sz="1600" spc="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=</a:t>
            </a:r>
            <a:r>
              <a:rPr sz="1600" spc="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" +</a:t>
            </a:r>
            <a:r>
              <a:rPr sz="1600" spc="2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lib.getStudent().getsName());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65"/>
              </a:spcBef>
            </a:pPr>
            <a:r>
              <a:rPr sz="1600" spc="-10" dirty="0">
                <a:latin typeface="Arial"/>
                <a:cs typeface="Arial"/>
              </a:rPr>
              <a:t>em.close();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55"/>
              </a:spcBef>
            </a:pPr>
            <a:r>
              <a:rPr sz="1600" spc="-50" dirty="0">
                <a:latin typeface="Arial"/>
                <a:cs typeface="Arial"/>
              </a:rPr>
              <a:t>}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600" spc="-50" dirty="0">
                <a:latin typeface="Arial"/>
                <a:cs typeface="Arial"/>
              </a:rPr>
              <a:t>}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One-</a:t>
            </a:r>
            <a:r>
              <a:rPr spc="-20" dirty="0"/>
              <a:t>To-</a:t>
            </a:r>
            <a:r>
              <a:rPr dirty="0"/>
              <a:t>Many </a:t>
            </a:r>
            <a:r>
              <a:rPr spc="-10" dirty="0"/>
              <a:t>Mapping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5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5"/>
              </a:lnSpc>
            </a:pPr>
            <a:r>
              <a:rPr dirty="0"/>
              <a:t>ACE</a:t>
            </a:r>
            <a:r>
              <a:rPr spc="-45" dirty="0"/>
              <a:t> </a:t>
            </a:r>
            <a:r>
              <a:rPr dirty="0"/>
              <a:t>Professionals</a:t>
            </a:r>
            <a:r>
              <a:rPr spc="-75" dirty="0"/>
              <a:t> </a:t>
            </a:r>
            <a:r>
              <a:rPr dirty="0"/>
              <a:t>Development</a:t>
            </a:r>
            <a:r>
              <a:rPr spc="-60" dirty="0"/>
              <a:t> </a:t>
            </a:r>
            <a:r>
              <a:rPr spc="-10" dirty="0"/>
              <a:t>Center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5187" y="1507642"/>
            <a:ext cx="7582534" cy="2952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600" dirty="0">
                <a:latin typeface="Arial"/>
                <a:cs typeface="Arial"/>
              </a:rPr>
              <a:t>The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spc="-20" dirty="0">
                <a:latin typeface="Arial"/>
                <a:cs typeface="Arial"/>
              </a:rPr>
              <a:t>One-</a:t>
            </a:r>
            <a:r>
              <a:rPr sz="1600" spc="-75" dirty="0">
                <a:latin typeface="Arial"/>
                <a:cs typeface="Arial"/>
              </a:rPr>
              <a:t>To-</a:t>
            </a:r>
            <a:r>
              <a:rPr sz="1600" dirty="0">
                <a:latin typeface="Arial"/>
                <a:cs typeface="Arial"/>
              </a:rPr>
              <a:t>Many</a:t>
            </a:r>
            <a:r>
              <a:rPr sz="1600" spc="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mapping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comes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into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category</a:t>
            </a:r>
            <a:r>
              <a:rPr sz="1600" spc="-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of</a:t>
            </a:r>
            <a:r>
              <a:rPr sz="1600" spc="-10" dirty="0">
                <a:latin typeface="Arial"/>
                <a:cs typeface="Arial"/>
              </a:rPr>
              <a:t> collection-</a:t>
            </a:r>
            <a:r>
              <a:rPr sz="1600" dirty="0">
                <a:latin typeface="Arial"/>
                <a:cs typeface="Arial"/>
              </a:rPr>
              <a:t>valued</a:t>
            </a:r>
            <a:r>
              <a:rPr sz="1600" spc="-5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association </a:t>
            </a:r>
            <a:r>
              <a:rPr sz="1600" dirty="0">
                <a:latin typeface="Arial"/>
                <a:cs typeface="Arial"/>
              </a:rPr>
              <a:t>where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an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entity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is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associated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with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collection</a:t>
            </a:r>
            <a:r>
              <a:rPr sz="1600" spc="-5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of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other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entities.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Hence,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in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this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type </a:t>
            </a:r>
            <a:r>
              <a:rPr sz="1600" spc="-25" dirty="0">
                <a:latin typeface="Arial"/>
                <a:cs typeface="Arial"/>
              </a:rPr>
              <a:t>of </a:t>
            </a:r>
            <a:r>
              <a:rPr sz="1600" dirty="0">
                <a:latin typeface="Arial"/>
                <a:cs typeface="Arial"/>
              </a:rPr>
              <a:t>association</a:t>
            </a:r>
            <a:r>
              <a:rPr sz="1600" spc="-5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instance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of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one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entity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can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be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mapped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with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any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number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of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instances </a:t>
            </a:r>
            <a:r>
              <a:rPr sz="1600" dirty="0">
                <a:latin typeface="Arial"/>
                <a:cs typeface="Arial"/>
              </a:rPr>
              <a:t>of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another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entity.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0"/>
              </a:spcBef>
            </a:pP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latin typeface="Arial"/>
                <a:cs typeface="Arial"/>
              </a:rPr>
              <a:t>In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this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example,</a:t>
            </a:r>
            <a:endParaRPr sz="1600">
              <a:latin typeface="Arial"/>
              <a:cs typeface="Arial"/>
            </a:endParaRPr>
          </a:p>
          <a:p>
            <a:pPr marL="12700" marR="99695">
              <a:lnSpc>
                <a:spcPct val="150000"/>
              </a:lnSpc>
            </a:pPr>
            <a:r>
              <a:rPr sz="1600" dirty="0">
                <a:latin typeface="Arial"/>
                <a:cs typeface="Arial"/>
              </a:rPr>
              <a:t>we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will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create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One-</a:t>
            </a:r>
            <a:r>
              <a:rPr sz="1600" spc="-75" dirty="0">
                <a:latin typeface="Arial"/>
                <a:cs typeface="Arial"/>
              </a:rPr>
              <a:t>To-</a:t>
            </a:r>
            <a:r>
              <a:rPr sz="1600" dirty="0">
                <a:latin typeface="Arial"/>
                <a:cs typeface="Arial"/>
              </a:rPr>
              <a:t>Many</a:t>
            </a:r>
            <a:r>
              <a:rPr sz="1600" spc="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relationship</a:t>
            </a:r>
            <a:r>
              <a:rPr sz="1600" spc="-5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between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Student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and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Library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in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such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spc="-50" dirty="0">
                <a:latin typeface="Arial"/>
                <a:cs typeface="Arial"/>
              </a:rPr>
              <a:t>a </a:t>
            </a:r>
            <a:r>
              <a:rPr sz="1600" dirty="0">
                <a:latin typeface="Arial"/>
                <a:cs typeface="Arial"/>
              </a:rPr>
              <a:t>way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that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one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student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can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be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issued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more</a:t>
            </a:r>
            <a:r>
              <a:rPr sz="1600" spc="-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than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one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type</a:t>
            </a:r>
            <a:r>
              <a:rPr sz="1600" spc="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of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book.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00" y="1143000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600" y="0"/>
                </a:lnTo>
              </a:path>
            </a:pathLst>
          </a:custGeom>
          <a:ln w="9144">
            <a:solidFill>
              <a:srgbClr val="70685A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4151" y="6432803"/>
            <a:ext cx="120650" cy="190500"/>
          </a:xfrm>
          <a:custGeom>
            <a:avLst/>
            <a:gdLst/>
            <a:ahLst/>
            <a:cxnLst/>
            <a:rect l="l" t="t" r="r" b="b"/>
            <a:pathLst>
              <a:path w="120650" h="190500">
                <a:moveTo>
                  <a:pt x="0" y="0"/>
                </a:moveTo>
                <a:lnTo>
                  <a:pt x="0" y="190500"/>
                </a:lnTo>
                <a:lnTo>
                  <a:pt x="120396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70685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79932" y="86888"/>
            <a:ext cx="1705307" cy="101648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One-</a:t>
            </a:r>
            <a:r>
              <a:rPr spc="-20" dirty="0"/>
              <a:t>To-</a:t>
            </a:r>
            <a:r>
              <a:rPr dirty="0"/>
              <a:t>Many </a:t>
            </a:r>
            <a:r>
              <a:rPr spc="-10" dirty="0"/>
              <a:t>Mapping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5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5"/>
              </a:lnSpc>
            </a:pPr>
            <a:r>
              <a:rPr dirty="0"/>
              <a:t>ACE</a:t>
            </a:r>
            <a:r>
              <a:rPr spc="-45" dirty="0"/>
              <a:t> </a:t>
            </a:r>
            <a:r>
              <a:rPr dirty="0"/>
              <a:t>Professionals</a:t>
            </a:r>
            <a:r>
              <a:rPr spc="-75" dirty="0"/>
              <a:t> </a:t>
            </a:r>
            <a:r>
              <a:rPr dirty="0"/>
              <a:t>Development</a:t>
            </a:r>
            <a:r>
              <a:rPr spc="-60" dirty="0"/>
              <a:t> </a:t>
            </a:r>
            <a:r>
              <a:rPr spc="-10" dirty="0"/>
              <a:t>Center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44500" y="1324102"/>
            <a:ext cx="8255000" cy="50247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288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Arial"/>
                <a:cs typeface="Arial"/>
              </a:rPr>
              <a:t>OtMStudent.java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0"/>
              </a:spcBef>
            </a:pPr>
            <a:endParaRPr sz="1600">
              <a:latin typeface="Arial"/>
              <a:cs typeface="Arial"/>
            </a:endParaRPr>
          </a:p>
          <a:p>
            <a:pPr marL="182880">
              <a:lnSpc>
                <a:spcPct val="100000"/>
              </a:lnSpc>
            </a:pPr>
            <a:r>
              <a:rPr sz="1600" dirty="0">
                <a:latin typeface="Arial"/>
                <a:cs typeface="Arial"/>
              </a:rPr>
              <a:t>import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javax.persistence.*;</a:t>
            </a:r>
            <a:endParaRPr sz="1600">
              <a:latin typeface="Arial"/>
              <a:cs typeface="Arial"/>
            </a:endParaRPr>
          </a:p>
          <a:p>
            <a:pPr marL="182880">
              <a:lnSpc>
                <a:spcPct val="100000"/>
              </a:lnSpc>
              <a:spcBef>
                <a:spcPts val="965"/>
              </a:spcBef>
            </a:pPr>
            <a:r>
              <a:rPr sz="1600" spc="-10" dirty="0">
                <a:latin typeface="Arial"/>
                <a:cs typeface="Arial"/>
              </a:rPr>
              <a:t>@Entity</a:t>
            </a:r>
            <a:endParaRPr sz="1600">
              <a:latin typeface="Arial"/>
              <a:cs typeface="Arial"/>
            </a:endParaRPr>
          </a:p>
          <a:p>
            <a:pPr marL="182880" marR="5348605">
              <a:lnSpc>
                <a:spcPct val="150000"/>
              </a:lnSpc>
            </a:pPr>
            <a:r>
              <a:rPr sz="1600" spc="-20" dirty="0">
                <a:latin typeface="Arial"/>
                <a:cs typeface="Arial"/>
              </a:rPr>
              <a:t>@Table(name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=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"otmstudent") </a:t>
            </a:r>
            <a:r>
              <a:rPr sz="1600" dirty="0">
                <a:latin typeface="Arial"/>
                <a:cs typeface="Arial"/>
              </a:rPr>
              <a:t>public</a:t>
            </a:r>
            <a:r>
              <a:rPr sz="1600" spc="-6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class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OtMStudent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spc="-50" dirty="0">
                <a:latin typeface="Arial"/>
                <a:cs typeface="Arial"/>
              </a:rPr>
              <a:t>{</a:t>
            </a:r>
            <a:r>
              <a:rPr sz="1600" spc="500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@Id</a:t>
            </a:r>
            <a:endParaRPr sz="1600">
              <a:latin typeface="Arial"/>
              <a:cs typeface="Arial"/>
            </a:endParaRPr>
          </a:p>
          <a:p>
            <a:pPr marL="182880">
              <a:lnSpc>
                <a:spcPct val="100000"/>
              </a:lnSpc>
              <a:spcBef>
                <a:spcPts val="960"/>
              </a:spcBef>
            </a:pPr>
            <a:r>
              <a:rPr sz="1600" dirty="0">
                <a:latin typeface="Arial"/>
                <a:cs typeface="Arial"/>
              </a:rPr>
              <a:t>private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int</a:t>
            </a:r>
            <a:r>
              <a:rPr sz="1600" spc="-20" dirty="0">
                <a:latin typeface="Arial"/>
                <a:cs typeface="Arial"/>
              </a:rPr>
              <a:t> sId;</a:t>
            </a:r>
            <a:endParaRPr sz="1600">
              <a:latin typeface="Arial"/>
              <a:cs typeface="Arial"/>
            </a:endParaRPr>
          </a:p>
          <a:p>
            <a:pPr marL="182880" marR="6109970">
              <a:lnSpc>
                <a:spcPct val="150000"/>
              </a:lnSpc>
            </a:pPr>
            <a:r>
              <a:rPr sz="1600" dirty="0">
                <a:latin typeface="Arial"/>
                <a:cs typeface="Arial"/>
              </a:rPr>
              <a:t>private</a:t>
            </a:r>
            <a:r>
              <a:rPr sz="1600" spc="-6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String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sName; </a:t>
            </a:r>
            <a:r>
              <a:rPr sz="1600" dirty="0">
                <a:latin typeface="Arial"/>
                <a:cs typeface="Arial"/>
              </a:rPr>
              <a:t>private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int</a:t>
            </a:r>
            <a:r>
              <a:rPr sz="1600" spc="-20" dirty="0">
                <a:latin typeface="Arial"/>
                <a:cs typeface="Arial"/>
              </a:rPr>
              <a:t> sAge;</a:t>
            </a:r>
            <a:endParaRPr sz="1600">
              <a:latin typeface="Arial"/>
              <a:cs typeface="Arial"/>
            </a:endParaRPr>
          </a:p>
          <a:p>
            <a:pPr marL="182880" marR="3979545">
              <a:lnSpc>
                <a:spcPts val="2880"/>
              </a:lnSpc>
              <a:spcBef>
                <a:spcPts val="254"/>
              </a:spcBef>
            </a:pPr>
            <a:r>
              <a:rPr sz="1600" spc="-10" dirty="0">
                <a:latin typeface="Arial"/>
                <a:cs typeface="Arial"/>
              </a:rPr>
              <a:t>@OneToMany(cascade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=</a:t>
            </a:r>
            <a:r>
              <a:rPr sz="1600" spc="-6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CascadeType.ALL) </a:t>
            </a:r>
            <a:r>
              <a:rPr sz="1600" dirty="0">
                <a:latin typeface="Arial"/>
                <a:cs typeface="Arial"/>
              </a:rPr>
              <a:t>private</a:t>
            </a:r>
            <a:r>
              <a:rPr sz="1600" spc="-10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List&lt;OtMLibrary&gt;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books_issued;</a:t>
            </a:r>
            <a:endParaRPr sz="1600">
              <a:latin typeface="Arial"/>
              <a:cs typeface="Arial"/>
            </a:endParaRPr>
          </a:p>
          <a:p>
            <a:pPr marL="182880">
              <a:lnSpc>
                <a:spcPct val="100000"/>
              </a:lnSpc>
              <a:spcBef>
                <a:spcPts val="705"/>
              </a:spcBef>
            </a:pPr>
            <a:r>
              <a:rPr sz="1600" spc="-10" dirty="0">
                <a:latin typeface="Arial"/>
                <a:cs typeface="Arial"/>
              </a:rPr>
              <a:t>//getter,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setter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  <a:tabLst>
                <a:tab pos="8241665" algn="l"/>
              </a:tabLst>
            </a:pPr>
            <a:r>
              <a:rPr sz="1600" u="dash" spc="225" dirty="0">
                <a:uFill>
                  <a:solidFill>
                    <a:srgbClr val="70685A"/>
                  </a:solidFill>
                </a:uFill>
                <a:latin typeface="Arial"/>
                <a:cs typeface="Arial"/>
              </a:rPr>
              <a:t>  </a:t>
            </a:r>
            <a:r>
              <a:rPr sz="1600" u="dash" spc="-50" dirty="0">
                <a:uFill>
                  <a:solidFill>
                    <a:srgbClr val="70685A"/>
                  </a:solidFill>
                </a:uFill>
                <a:latin typeface="Arial"/>
                <a:cs typeface="Arial"/>
              </a:rPr>
              <a:t>}</a:t>
            </a:r>
            <a:r>
              <a:rPr sz="1600" u="dash" dirty="0">
                <a:uFill>
                  <a:solidFill>
                    <a:srgbClr val="70685A"/>
                  </a:solidFill>
                </a:uFill>
                <a:latin typeface="Arial"/>
                <a:cs typeface="Arial"/>
              </a:rPr>
              <a:t>	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One-</a:t>
            </a:r>
            <a:r>
              <a:rPr spc="-20" dirty="0"/>
              <a:t>To-</a:t>
            </a:r>
            <a:r>
              <a:rPr dirty="0"/>
              <a:t>Many </a:t>
            </a:r>
            <a:r>
              <a:rPr spc="-10" dirty="0"/>
              <a:t>Mapping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5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5"/>
              </a:lnSpc>
            </a:pPr>
            <a:r>
              <a:rPr dirty="0"/>
              <a:t>ACE</a:t>
            </a:r>
            <a:r>
              <a:rPr spc="-45" dirty="0"/>
              <a:t> </a:t>
            </a:r>
            <a:r>
              <a:rPr dirty="0"/>
              <a:t>Professionals</a:t>
            </a:r>
            <a:r>
              <a:rPr spc="-75" dirty="0"/>
              <a:t> </a:t>
            </a:r>
            <a:r>
              <a:rPr dirty="0"/>
              <a:t>Development</a:t>
            </a:r>
            <a:r>
              <a:rPr spc="-60" dirty="0"/>
              <a:t> </a:t>
            </a:r>
            <a:r>
              <a:rPr spc="-10" dirty="0"/>
              <a:t>Center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5187" y="1324102"/>
            <a:ext cx="4844415" cy="39274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Arial"/>
                <a:cs typeface="Arial"/>
              </a:rPr>
              <a:t>OtMLibrary.java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0"/>
              </a:spcBef>
            </a:pP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00" spc="-10" dirty="0">
                <a:latin typeface="Arial"/>
                <a:cs typeface="Arial"/>
              </a:rPr>
              <a:t>@Entity</a:t>
            </a:r>
            <a:endParaRPr sz="1600">
              <a:latin typeface="Arial"/>
              <a:cs typeface="Arial"/>
            </a:endParaRPr>
          </a:p>
          <a:p>
            <a:pPr marL="12700" marR="2224405">
              <a:lnSpc>
                <a:spcPct val="150000"/>
              </a:lnSpc>
              <a:spcBef>
                <a:spcPts val="5"/>
              </a:spcBef>
            </a:pPr>
            <a:r>
              <a:rPr sz="1600" spc="-20" dirty="0">
                <a:latin typeface="Arial"/>
                <a:cs typeface="Arial"/>
              </a:rPr>
              <a:t>@Table(name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=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"otmlibrary") </a:t>
            </a:r>
            <a:r>
              <a:rPr sz="1600" dirty="0">
                <a:latin typeface="Arial"/>
                <a:cs typeface="Arial"/>
              </a:rPr>
              <a:t>public</a:t>
            </a:r>
            <a:r>
              <a:rPr sz="1600" spc="-7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class</a:t>
            </a:r>
            <a:r>
              <a:rPr sz="1600" spc="-5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OtMLibrary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spc="-50" dirty="0">
                <a:latin typeface="Arial"/>
                <a:cs typeface="Arial"/>
              </a:rPr>
              <a:t>{ </a:t>
            </a:r>
            <a:r>
              <a:rPr sz="1600" spc="-25" dirty="0">
                <a:latin typeface="Arial"/>
                <a:cs typeface="Arial"/>
              </a:rPr>
              <a:t>@Id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600" spc="-10" dirty="0">
                <a:latin typeface="Arial"/>
                <a:cs typeface="Arial"/>
              </a:rPr>
              <a:t>@GeneratedValue(strategy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=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GenerationType.AUTO)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600" dirty="0">
                <a:latin typeface="Arial"/>
                <a:cs typeface="Arial"/>
              </a:rPr>
              <a:t>private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int</a:t>
            </a:r>
            <a:r>
              <a:rPr sz="1600" spc="-20" dirty="0">
                <a:latin typeface="Arial"/>
                <a:cs typeface="Arial"/>
              </a:rPr>
              <a:t> bId;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600" dirty="0">
                <a:latin typeface="Arial"/>
                <a:cs typeface="Arial"/>
              </a:rPr>
              <a:t>private</a:t>
            </a:r>
            <a:r>
              <a:rPr sz="1600" spc="-6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String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bName;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600" spc="-10" dirty="0">
                <a:latin typeface="Arial"/>
                <a:cs typeface="Arial"/>
              </a:rPr>
              <a:t>//getter,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setter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600" spc="-50" dirty="0">
                <a:latin typeface="Arial"/>
                <a:cs typeface="Arial"/>
              </a:rPr>
              <a:t>}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One-</a:t>
            </a:r>
            <a:r>
              <a:rPr spc="-20" dirty="0"/>
              <a:t>To-</a:t>
            </a:r>
            <a:r>
              <a:rPr dirty="0"/>
              <a:t>Many </a:t>
            </a:r>
            <a:r>
              <a:rPr spc="-10" dirty="0"/>
              <a:t>Mapping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5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5"/>
              </a:lnSpc>
            </a:pPr>
            <a:r>
              <a:rPr dirty="0"/>
              <a:t>ACE</a:t>
            </a:r>
            <a:r>
              <a:rPr spc="-45" dirty="0"/>
              <a:t> </a:t>
            </a:r>
            <a:r>
              <a:rPr dirty="0"/>
              <a:t>Professionals</a:t>
            </a:r>
            <a:r>
              <a:rPr spc="-75" dirty="0"/>
              <a:t> </a:t>
            </a:r>
            <a:r>
              <a:rPr dirty="0"/>
              <a:t>Development</a:t>
            </a:r>
            <a:r>
              <a:rPr spc="-60" dirty="0"/>
              <a:t> </a:t>
            </a:r>
            <a:r>
              <a:rPr spc="-10" dirty="0"/>
              <a:t>Center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5187" y="1314957"/>
            <a:ext cx="4995545" cy="47212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latin typeface="Arial"/>
                <a:cs typeface="Arial"/>
              </a:rPr>
              <a:t>OtMStoreStudLibrary.java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05"/>
              </a:spcBef>
            </a:pPr>
            <a:endParaRPr sz="1400">
              <a:latin typeface="Arial"/>
              <a:cs typeface="Arial"/>
            </a:endParaRPr>
          </a:p>
          <a:p>
            <a:pPr marL="12700" marR="2056764">
              <a:lnSpc>
                <a:spcPct val="150100"/>
              </a:lnSpc>
            </a:pPr>
            <a:r>
              <a:rPr sz="1400" dirty="0">
                <a:latin typeface="Arial"/>
                <a:cs typeface="Arial"/>
              </a:rPr>
              <a:t>public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class </a:t>
            </a:r>
            <a:r>
              <a:rPr sz="1400" spc="-10" dirty="0">
                <a:latin typeface="Arial"/>
                <a:cs typeface="Arial"/>
              </a:rPr>
              <a:t>OtMStoreStudLibrary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50" dirty="0">
                <a:latin typeface="Arial"/>
                <a:cs typeface="Arial"/>
              </a:rPr>
              <a:t>{ </a:t>
            </a:r>
            <a:r>
              <a:rPr sz="1400" dirty="0">
                <a:latin typeface="Arial"/>
                <a:cs typeface="Arial"/>
              </a:rPr>
              <a:t>public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static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void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main(String[]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args)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spc="-50" dirty="0">
                <a:latin typeface="Arial"/>
                <a:cs typeface="Arial"/>
              </a:rPr>
              <a:t>{ </a:t>
            </a:r>
            <a:r>
              <a:rPr sz="1400" spc="-10" dirty="0">
                <a:latin typeface="Arial"/>
                <a:cs typeface="Arial"/>
              </a:rPr>
              <a:t>EntityManagerFactory</a:t>
            </a:r>
            <a:r>
              <a:rPr sz="1400" spc="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emf</a:t>
            </a:r>
            <a:r>
              <a:rPr sz="1400" spc="45" dirty="0">
                <a:latin typeface="Arial"/>
                <a:cs typeface="Arial"/>
              </a:rPr>
              <a:t> </a:t>
            </a:r>
            <a:r>
              <a:rPr sz="1400" spc="-50" dirty="0">
                <a:latin typeface="Arial"/>
                <a:cs typeface="Arial"/>
              </a:rPr>
              <a:t>=</a:t>
            </a:r>
            <a:endParaRPr sz="1400">
              <a:latin typeface="Arial"/>
              <a:cs typeface="Arial"/>
            </a:endParaRPr>
          </a:p>
          <a:p>
            <a:pPr marL="12700" marR="5080">
              <a:lnSpc>
                <a:spcPct val="150000"/>
              </a:lnSpc>
            </a:pPr>
            <a:r>
              <a:rPr sz="1400" spc="-10" dirty="0">
                <a:latin typeface="Arial"/>
                <a:cs typeface="Arial"/>
              </a:rPr>
              <a:t>Persistence.createEntityManagerFactory("JPASampleProject"); </a:t>
            </a:r>
            <a:r>
              <a:rPr sz="1400" dirty="0">
                <a:latin typeface="Arial"/>
                <a:cs typeface="Arial"/>
              </a:rPr>
              <a:t>EntityManager</a:t>
            </a:r>
            <a:r>
              <a:rPr sz="1400" spc="-6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em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=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emf.createEntityManager(); em.getTransaction().begin();</a:t>
            </a:r>
            <a:endParaRPr sz="1400">
              <a:latin typeface="Arial"/>
              <a:cs typeface="Arial"/>
            </a:endParaRPr>
          </a:p>
          <a:p>
            <a:pPr marL="12700" marR="461645">
              <a:lnSpc>
                <a:spcPct val="150000"/>
              </a:lnSpc>
              <a:spcBef>
                <a:spcPts val="5"/>
              </a:spcBef>
            </a:pPr>
            <a:r>
              <a:rPr sz="1400" dirty="0">
                <a:latin typeface="Arial"/>
                <a:cs typeface="Arial"/>
              </a:rPr>
              <a:t>List&lt;OtMLibrary&gt;</a:t>
            </a:r>
            <a:r>
              <a:rPr sz="1400" spc="-6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lstBook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=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new</a:t>
            </a:r>
            <a:r>
              <a:rPr sz="1400" spc="-9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ArrayList&lt;OtMLibrary&gt;(); </a:t>
            </a:r>
            <a:r>
              <a:rPr sz="1400" dirty="0">
                <a:latin typeface="Arial"/>
                <a:cs typeface="Arial"/>
              </a:rPr>
              <a:t>OtMLibrary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lib1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=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new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OtMLibrary();</a:t>
            </a:r>
            <a:endParaRPr sz="1400">
              <a:latin typeface="Arial"/>
              <a:cs typeface="Arial"/>
            </a:endParaRPr>
          </a:p>
          <a:p>
            <a:pPr marL="12700" marR="2148840">
              <a:lnSpc>
                <a:spcPct val="150000"/>
              </a:lnSpc>
            </a:pPr>
            <a:r>
              <a:rPr sz="1400" spc="-10" dirty="0">
                <a:latin typeface="Arial"/>
                <a:cs typeface="Arial"/>
              </a:rPr>
              <a:t>lib1.setbId(101); lib1.setbName("Data</a:t>
            </a:r>
            <a:r>
              <a:rPr sz="1400" spc="7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Structure"); </a:t>
            </a:r>
            <a:r>
              <a:rPr sz="1400" dirty="0">
                <a:latin typeface="Arial"/>
                <a:cs typeface="Arial"/>
              </a:rPr>
              <a:t>OtMLibrary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lib2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=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new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OtMLibrary();</a:t>
            </a:r>
            <a:endParaRPr sz="1400">
              <a:latin typeface="Arial"/>
              <a:cs typeface="Arial"/>
            </a:endParaRPr>
          </a:p>
          <a:p>
            <a:pPr marL="12700" marR="3028315">
              <a:lnSpc>
                <a:spcPct val="150000"/>
              </a:lnSpc>
            </a:pPr>
            <a:r>
              <a:rPr sz="1400" spc="-10" dirty="0">
                <a:latin typeface="Arial"/>
                <a:cs typeface="Arial"/>
              </a:rPr>
              <a:t>lib2.setbId(102); lib2.setbName("DBMS");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00" y="1143000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600" y="0"/>
                </a:lnTo>
              </a:path>
            </a:pathLst>
          </a:custGeom>
          <a:ln w="9144">
            <a:solidFill>
              <a:srgbClr val="70685A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4151" y="6432803"/>
            <a:ext cx="120650" cy="190500"/>
          </a:xfrm>
          <a:custGeom>
            <a:avLst/>
            <a:gdLst/>
            <a:ahLst/>
            <a:cxnLst/>
            <a:rect l="l" t="t" r="r" b="b"/>
            <a:pathLst>
              <a:path w="120650" h="190500">
                <a:moveTo>
                  <a:pt x="0" y="0"/>
                </a:moveTo>
                <a:lnTo>
                  <a:pt x="0" y="190500"/>
                </a:lnTo>
                <a:lnTo>
                  <a:pt x="120396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70685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79932" y="86888"/>
            <a:ext cx="1705307" cy="101648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One-</a:t>
            </a:r>
            <a:r>
              <a:rPr spc="-20" dirty="0"/>
              <a:t>To-</a:t>
            </a:r>
            <a:r>
              <a:rPr dirty="0"/>
              <a:t>Many </a:t>
            </a:r>
            <a:r>
              <a:rPr spc="-10" dirty="0"/>
              <a:t>Mapping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5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5"/>
              </a:lnSpc>
            </a:pPr>
            <a:r>
              <a:rPr dirty="0"/>
              <a:t>ACE</a:t>
            </a:r>
            <a:r>
              <a:rPr spc="-45" dirty="0"/>
              <a:t> </a:t>
            </a:r>
            <a:r>
              <a:rPr dirty="0"/>
              <a:t>Professionals</a:t>
            </a:r>
            <a:r>
              <a:rPr spc="-75" dirty="0"/>
              <a:t> </a:t>
            </a:r>
            <a:r>
              <a:rPr dirty="0"/>
              <a:t>Development</a:t>
            </a:r>
            <a:r>
              <a:rPr spc="-60" dirty="0"/>
              <a:t> </a:t>
            </a:r>
            <a:r>
              <a:rPr spc="-10" dirty="0"/>
              <a:t>Center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44500" y="1208887"/>
            <a:ext cx="8255000" cy="5147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2880" marR="6687820">
              <a:lnSpc>
                <a:spcPct val="150000"/>
              </a:lnSpc>
              <a:spcBef>
                <a:spcPts val="100"/>
              </a:spcBef>
            </a:pPr>
            <a:r>
              <a:rPr sz="1400" spc="-10" dirty="0">
                <a:latin typeface="Arial"/>
                <a:cs typeface="Arial"/>
              </a:rPr>
              <a:t>lstBook.add(lib1); lstBook.add(lib2);</a:t>
            </a:r>
            <a:endParaRPr sz="1400">
              <a:latin typeface="Arial"/>
              <a:cs typeface="Arial"/>
            </a:endParaRPr>
          </a:p>
          <a:p>
            <a:pPr marL="182880">
              <a:lnSpc>
                <a:spcPct val="100000"/>
              </a:lnSpc>
              <a:spcBef>
                <a:spcPts val="840"/>
              </a:spcBef>
            </a:pPr>
            <a:r>
              <a:rPr sz="1400" dirty="0">
                <a:latin typeface="Arial"/>
                <a:cs typeface="Arial"/>
              </a:rPr>
              <a:t>OtMStudent</a:t>
            </a:r>
            <a:r>
              <a:rPr sz="1400" spc="-6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st1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=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new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OtMStudent();</a:t>
            </a:r>
            <a:endParaRPr sz="1400">
              <a:latin typeface="Arial"/>
              <a:cs typeface="Arial"/>
            </a:endParaRPr>
          </a:p>
          <a:p>
            <a:pPr marL="182880" marR="5683885">
              <a:lnSpc>
                <a:spcPct val="150000"/>
              </a:lnSpc>
            </a:pPr>
            <a:r>
              <a:rPr sz="1400" spc="-10" dirty="0">
                <a:latin typeface="Arial"/>
                <a:cs typeface="Arial"/>
              </a:rPr>
              <a:t>st1.setsId(105); st1.setsAge(20); st1.setsName("Jon"); st1.setBooks_issued(lstBook);</a:t>
            </a:r>
            <a:endParaRPr sz="1400">
              <a:latin typeface="Arial"/>
              <a:cs typeface="Arial"/>
            </a:endParaRPr>
          </a:p>
          <a:p>
            <a:pPr marL="182880">
              <a:lnSpc>
                <a:spcPct val="100000"/>
              </a:lnSpc>
              <a:spcBef>
                <a:spcPts val="840"/>
              </a:spcBef>
            </a:pPr>
            <a:r>
              <a:rPr sz="1400" dirty="0">
                <a:latin typeface="Arial"/>
                <a:cs typeface="Arial"/>
              </a:rPr>
              <a:t>OtMStudent</a:t>
            </a:r>
            <a:r>
              <a:rPr sz="1400" spc="-6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st2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=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new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OtMStudent();</a:t>
            </a:r>
            <a:endParaRPr sz="1400">
              <a:latin typeface="Arial"/>
              <a:cs typeface="Arial"/>
            </a:endParaRPr>
          </a:p>
          <a:p>
            <a:pPr marL="182880" marR="5568315">
              <a:lnSpc>
                <a:spcPct val="150000"/>
              </a:lnSpc>
              <a:spcBef>
                <a:spcPts val="5"/>
              </a:spcBef>
            </a:pPr>
            <a:r>
              <a:rPr sz="1400" spc="-10" dirty="0">
                <a:latin typeface="Arial"/>
                <a:cs typeface="Arial"/>
              </a:rPr>
              <a:t>st2.setsId(106);</a:t>
            </a:r>
            <a:r>
              <a:rPr sz="1400" spc="50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st2.setsAge(22); st2.setsName("Smith"); st2.setBooks_issued(lstBook); </a:t>
            </a:r>
            <a:r>
              <a:rPr sz="1400" dirty="0">
                <a:latin typeface="Arial"/>
                <a:cs typeface="Arial"/>
              </a:rPr>
              <a:t>em.persist(st1);</a:t>
            </a:r>
            <a:r>
              <a:rPr sz="1400" spc="-8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em.persist(st2); em.getTransaction().commit(); em.close();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  <a:tabLst>
                <a:tab pos="388620" algn="l"/>
                <a:tab pos="8241665" algn="l"/>
              </a:tabLst>
            </a:pPr>
            <a:r>
              <a:rPr sz="1400" u="dash" spc="275" dirty="0">
                <a:uFill>
                  <a:solidFill>
                    <a:srgbClr val="70685A"/>
                  </a:solidFill>
                </a:uFill>
                <a:latin typeface="Arial"/>
                <a:cs typeface="Arial"/>
              </a:rPr>
              <a:t>  </a:t>
            </a:r>
            <a:r>
              <a:rPr sz="1400" u="dash" spc="-50" dirty="0">
                <a:uFill>
                  <a:solidFill>
                    <a:srgbClr val="70685A"/>
                  </a:solidFill>
                </a:uFill>
                <a:latin typeface="Arial"/>
                <a:cs typeface="Arial"/>
              </a:rPr>
              <a:t>}</a:t>
            </a:r>
            <a:r>
              <a:rPr sz="1400" u="dash" dirty="0">
                <a:uFill>
                  <a:solidFill>
                    <a:srgbClr val="70685A"/>
                  </a:solidFill>
                </a:uFill>
                <a:latin typeface="Arial"/>
                <a:cs typeface="Arial"/>
              </a:rPr>
              <a:t>	</a:t>
            </a:r>
            <a:r>
              <a:rPr sz="1400" u="dash" spc="-50" dirty="0">
                <a:uFill>
                  <a:solidFill>
                    <a:srgbClr val="70685A"/>
                  </a:solidFill>
                </a:uFill>
                <a:latin typeface="Arial"/>
                <a:cs typeface="Arial"/>
              </a:rPr>
              <a:t>}</a:t>
            </a:r>
            <a:r>
              <a:rPr sz="1400" u="dash" dirty="0">
                <a:uFill>
                  <a:solidFill>
                    <a:srgbClr val="70685A"/>
                  </a:solidFill>
                </a:uFill>
                <a:latin typeface="Arial"/>
                <a:cs typeface="Arial"/>
              </a:rPr>
              <a:t>	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Many-</a:t>
            </a:r>
            <a:r>
              <a:rPr spc="-20" dirty="0"/>
              <a:t>To-</a:t>
            </a:r>
            <a:r>
              <a:rPr dirty="0"/>
              <a:t>One</a:t>
            </a:r>
            <a:r>
              <a:rPr spc="-15" dirty="0"/>
              <a:t> </a:t>
            </a:r>
            <a:r>
              <a:rPr spc="-10" dirty="0"/>
              <a:t>Mapping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5"/>
              </a:lnSpc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5"/>
              </a:lnSpc>
            </a:pPr>
            <a:r>
              <a:rPr dirty="0"/>
              <a:t>ACE</a:t>
            </a:r>
            <a:r>
              <a:rPr spc="-45" dirty="0"/>
              <a:t> </a:t>
            </a:r>
            <a:r>
              <a:rPr dirty="0"/>
              <a:t>Professionals</a:t>
            </a:r>
            <a:r>
              <a:rPr spc="-75" dirty="0"/>
              <a:t> </a:t>
            </a:r>
            <a:r>
              <a:rPr dirty="0"/>
              <a:t>Development</a:t>
            </a:r>
            <a:r>
              <a:rPr spc="-60" dirty="0"/>
              <a:t> </a:t>
            </a:r>
            <a:r>
              <a:rPr spc="-10" dirty="0"/>
              <a:t>Center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5187" y="1507642"/>
            <a:ext cx="7573645" cy="2952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600" dirty="0">
                <a:latin typeface="Arial"/>
                <a:cs typeface="Arial"/>
              </a:rPr>
              <a:t>The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spc="-20" dirty="0">
                <a:latin typeface="Arial"/>
                <a:cs typeface="Arial"/>
              </a:rPr>
              <a:t>Many-</a:t>
            </a:r>
            <a:r>
              <a:rPr sz="1600" spc="-75" dirty="0">
                <a:latin typeface="Arial"/>
                <a:cs typeface="Arial"/>
              </a:rPr>
              <a:t>To-</a:t>
            </a:r>
            <a:r>
              <a:rPr sz="1600" dirty="0">
                <a:latin typeface="Arial"/>
                <a:cs typeface="Arial"/>
              </a:rPr>
              <a:t>One</a:t>
            </a:r>
            <a:r>
              <a:rPr sz="1600" spc="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mapping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represents a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single-</a:t>
            </a:r>
            <a:r>
              <a:rPr sz="1600" dirty="0">
                <a:latin typeface="Arial"/>
                <a:cs typeface="Arial"/>
              </a:rPr>
              <a:t>valued</a:t>
            </a:r>
            <a:r>
              <a:rPr sz="1600" spc="-5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association</a:t>
            </a:r>
            <a:r>
              <a:rPr sz="1600" spc="-5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where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spc="-50" dirty="0">
                <a:latin typeface="Arial"/>
                <a:cs typeface="Arial"/>
              </a:rPr>
              <a:t>a </a:t>
            </a:r>
            <a:r>
              <a:rPr sz="1600" dirty="0">
                <a:latin typeface="Arial"/>
                <a:cs typeface="Arial"/>
              </a:rPr>
              <a:t>collection</a:t>
            </a:r>
            <a:r>
              <a:rPr sz="1600" spc="-6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of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entities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can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be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associated</a:t>
            </a:r>
            <a:r>
              <a:rPr sz="1600" spc="-6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with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similar</a:t>
            </a:r>
            <a:r>
              <a:rPr sz="1600" spc="-5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entity.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Hence,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in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relational </a:t>
            </a:r>
            <a:r>
              <a:rPr sz="1600" dirty="0">
                <a:latin typeface="Arial"/>
                <a:cs typeface="Arial"/>
              </a:rPr>
              <a:t>database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any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more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than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one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row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of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an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entity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can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refer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to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similar</a:t>
            </a:r>
            <a:r>
              <a:rPr sz="1600" spc="-6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rows</a:t>
            </a:r>
            <a:r>
              <a:rPr sz="1600" spc="-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of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another entity.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0"/>
              </a:spcBef>
            </a:pP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latin typeface="Arial"/>
                <a:cs typeface="Arial"/>
              </a:rPr>
              <a:t>In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this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example,</a:t>
            </a:r>
            <a:endParaRPr sz="1600">
              <a:latin typeface="Arial"/>
              <a:cs typeface="Arial"/>
            </a:endParaRPr>
          </a:p>
          <a:p>
            <a:pPr marL="12700" marR="80645">
              <a:lnSpc>
                <a:spcPct val="150000"/>
              </a:lnSpc>
            </a:pPr>
            <a:r>
              <a:rPr sz="1600" dirty="0">
                <a:latin typeface="Arial"/>
                <a:cs typeface="Arial"/>
              </a:rPr>
              <a:t>we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will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create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spc="-20" dirty="0">
                <a:latin typeface="Arial"/>
                <a:cs typeface="Arial"/>
              </a:rPr>
              <a:t>Many-</a:t>
            </a:r>
            <a:r>
              <a:rPr sz="1600" spc="-75" dirty="0">
                <a:latin typeface="Arial"/>
                <a:cs typeface="Arial"/>
              </a:rPr>
              <a:t>To-</a:t>
            </a:r>
            <a:r>
              <a:rPr sz="1600" dirty="0">
                <a:latin typeface="Arial"/>
                <a:cs typeface="Arial"/>
              </a:rPr>
              <a:t>One</a:t>
            </a:r>
            <a:r>
              <a:rPr sz="1600" spc="5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relationship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between</a:t>
            </a:r>
            <a:r>
              <a:rPr sz="1600" spc="-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Student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and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Library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in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such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spc="-50" dirty="0">
                <a:latin typeface="Arial"/>
                <a:cs typeface="Arial"/>
              </a:rPr>
              <a:t>a </a:t>
            </a:r>
            <a:r>
              <a:rPr sz="1600" dirty="0">
                <a:latin typeface="Arial"/>
                <a:cs typeface="Arial"/>
              </a:rPr>
              <a:t>way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that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more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than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one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student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can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issued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same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book.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Many-</a:t>
            </a:r>
            <a:r>
              <a:rPr spc="-20" dirty="0"/>
              <a:t>To-</a:t>
            </a:r>
            <a:r>
              <a:rPr dirty="0"/>
              <a:t>One</a:t>
            </a:r>
            <a:r>
              <a:rPr spc="-15" dirty="0"/>
              <a:t> </a:t>
            </a:r>
            <a:r>
              <a:rPr spc="-10" dirty="0"/>
              <a:t>Mapping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5"/>
              </a:lnSpc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5"/>
              </a:lnSpc>
            </a:pPr>
            <a:r>
              <a:rPr dirty="0"/>
              <a:t>ACE</a:t>
            </a:r>
            <a:r>
              <a:rPr spc="-45" dirty="0"/>
              <a:t> </a:t>
            </a:r>
            <a:r>
              <a:rPr dirty="0"/>
              <a:t>Professionals</a:t>
            </a:r>
            <a:r>
              <a:rPr spc="-75" dirty="0"/>
              <a:t> </a:t>
            </a:r>
            <a:r>
              <a:rPr dirty="0"/>
              <a:t>Development</a:t>
            </a:r>
            <a:r>
              <a:rPr spc="-60" dirty="0"/>
              <a:t> </a:t>
            </a:r>
            <a:r>
              <a:rPr spc="-10" dirty="0"/>
              <a:t>Center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5187" y="1507642"/>
            <a:ext cx="4109720" cy="4780915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sz="1600" b="1" spc="-10" dirty="0">
                <a:latin typeface="Arial"/>
                <a:cs typeface="Arial"/>
              </a:rPr>
              <a:t>MtOStudent.java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600" dirty="0">
                <a:latin typeface="Arial"/>
                <a:cs typeface="Arial"/>
              </a:rPr>
              <a:t>import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javax.persistence.*;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0"/>
              </a:spcBef>
            </a:pP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00" spc="-10" dirty="0">
                <a:latin typeface="Arial"/>
                <a:cs typeface="Arial"/>
              </a:rPr>
              <a:t>@Entity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600" dirty="0">
                <a:latin typeface="Arial"/>
                <a:cs typeface="Arial"/>
              </a:rPr>
              <a:t>public</a:t>
            </a:r>
            <a:r>
              <a:rPr sz="1600" spc="-7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class</a:t>
            </a:r>
            <a:r>
              <a:rPr sz="1600" spc="-5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MtOStudent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spc="-50" dirty="0">
                <a:latin typeface="Arial"/>
                <a:cs typeface="Arial"/>
              </a:rPr>
              <a:t>{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600" spc="-25" dirty="0">
                <a:latin typeface="Arial"/>
                <a:cs typeface="Arial"/>
              </a:rPr>
              <a:t>@Id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600" dirty="0">
                <a:latin typeface="Arial"/>
                <a:cs typeface="Arial"/>
              </a:rPr>
              <a:t>private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int</a:t>
            </a:r>
            <a:r>
              <a:rPr sz="1600" spc="-20" dirty="0">
                <a:latin typeface="Arial"/>
                <a:cs typeface="Arial"/>
              </a:rPr>
              <a:t> sId;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600" dirty="0">
                <a:latin typeface="Arial"/>
                <a:cs typeface="Arial"/>
              </a:rPr>
              <a:t>private</a:t>
            </a:r>
            <a:r>
              <a:rPr sz="1600" spc="-6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String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sName;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600" dirty="0">
                <a:latin typeface="Arial"/>
                <a:cs typeface="Arial"/>
              </a:rPr>
              <a:t>private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int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spc="-20" dirty="0">
                <a:latin typeface="Arial"/>
                <a:cs typeface="Arial"/>
              </a:rPr>
              <a:t>sAge;</a:t>
            </a:r>
            <a:endParaRPr sz="1600">
              <a:latin typeface="Arial"/>
              <a:cs typeface="Arial"/>
            </a:endParaRPr>
          </a:p>
          <a:p>
            <a:pPr marL="12700" marR="5080">
              <a:lnSpc>
                <a:spcPct val="150000"/>
              </a:lnSpc>
              <a:spcBef>
                <a:spcPts val="5"/>
              </a:spcBef>
            </a:pPr>
            <a:r>
              <a:rPr sz="1600" spc="-10" dirty="0">
                <a:latin typeface="Arial"/>
                <a:cs typeface="Arial"/>
              </a:rPr>
              <a:t>@ManyToOne(cascade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=</a:t>
            </a:r>
            <a:r>
              <a:rPr sz="1600" spc="-6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CascadeType.ALL) </a:t>
            </a:r>
            <a:r>
              <a:rPr sz="1600" dirty="0">
                <a:latin typeface="Arial"/>
                <a:cs typeface="Arial"/>
              </a:rPr>
              <a:t>private</a:t>
            </a:r>
            <a:r>
              <a:rPr sz="1600" spc="-6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MtOLibrary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spc="-20" dirty="0">
                <a:latin typeface="Arial"/>
                <a:cs typeface="Arial"/>
              </a:rPr>
              <a:t>lib;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600" dirty="0">
                <a:latin typeface="Arial"/>
                <a:cs typeface="Arial"/>
              </a:rPr>
              <a:t>//getter</a:t>
            </a:r>
            <a:r>
              <a:rPr sz="1600" spc="-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,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setter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600" spc="-50" dirty="0">
                <a:latin typeface="Arial"/>
                <a:cs typeface="Arial"/>
              </a:rPr>
              <a:t>}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Many-</a:t>
            </a:r>
            <a:r>
              <a:rPr spc="-20" dirty="0"/>
              <a:t>To-</a:t>
            </a:r>
            <a:r>
              <a:rPr dirty="0"/>
              <a:t>One</a:t>
            </a:r>
            <a:r>
              <a:rPr spc="-15" dirty="0"/>
              <a:t> </a:t>
            </a:r>
            <a:r>
              <a:rPr spc="-10" dirty="0"/>
              <a:t>Mapping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5"/>
              </a:lnSpc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5"/>
              </a:lnSpc>
            </a:pPr>
            <a:r>
              <a:rPr dirty="0"/>
              <a:t>ACE</a:t>
            </a:r>
            <a:r>
              <a:rPr spc="-45" dirty="0"/>
              <a:t> </a:t>
            </a:r>
            <a:r>
              <a:rPr dirty="0"/>
              <a:t>Professionals</a:t>
            </a:r>
            <a:r>
              <a:rPr spc="-75" dirty="0"/>
              <a:t> </a:t>
            </a:r>
            <a:r>
              <a:rPr dirty="0"/>
              <a:t>Development</a:t>
            </a:r>
            <a:r>
              <a:rPr spc="-60" dirty="0"/>
              <a:t> </a:t>
            </a:r>
            <a:r>
              <a:rPr spc="-10" dirty="0"/>
              <a:t>Center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5187" y="1630172"/>
            <a:ext cx="4844415" cy="4292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Arial"/>
                <a:cs typeface="Arial"/>
              </a:rPr>
              <a:t>MtOLibrary.java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0"/>
              </a:spcBef>
            </a:pP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latin typeface="Arial"/>
                <a:cs typeface="Arial"/>
              </a:rPr>
              <a:t>import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javax.persistence.*;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0"/>
              </a:spcBef>
            </a:pP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00" spc="-10" dirty="0">
                <a:latin typeface="Arial"/>
                <a:cs typeface="Arial"/>
              </a:rPr>
              <a:t>@Entity</a:t>
            </a:r>
            <a:endParaRPr sz="1600">
              <a:latin typeface="Arial"/>
              <a:cs typeface="Arial"/>
            </a:endParaRPr>
          </a:p>
          <a:p>
            <a:pPr marL="12700" marR="2586990">
              <a:lnSpc>
                <a:spcPct val="150000"/>
              </a:lnSpc>
            </a:pPr>
            <a:r>
              <a:rPr sz="1600" dirty="0">
                <a:latin typeface="Arial"/>
                <a:cs typeface="Arial"/>
              </a:rPr>
              <a:t>public</a:t>
            </a:r>
            <a:r>
              <a:rPr sz="1600" spc="-6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class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MtOLibrary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spc="-50" dirty="0">
                <a:latin typeface="Arial"/>
                <a:cs typeface="Arial"/>
              </a:rPr>
              <a:t>{ </a:t>
            </a:r>
            <a:r>
              <a:rPr sz="1600" spc="-25" dirty="0">
                <a:latin typeface="Arial"/>
                <a:cs typeface="Arial"/>
              </a:rPr>
              <a:t>@Id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600" spc="-10" dirty="0">
                <a:latin typeface="Arial"/>
                <a:cs typeface="Arial"/>
              </a:rPr>
              <a:t>@GeneratedValue(strategy</a:t>
            </a:r>
            <a:r>
              <a:rPr sz="1600" spc="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=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GenerationType.AUTO)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600" dirty="0">
                <a:latin typeface="Arial"/>
                <a:cs typeface="Arial"/>
              </a:rPr>
              <a:t>private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int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spc="-20" dirty="0">
                <a:latin typeface="Arial"/>
                <a:cs typeface="Arial"/>
              </a:rPr>
              <a:t>bId;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65"/>
              </a:spcBef>
            </a:pPr>
            <a:r>
              <a:rPr sz="1600" dirty="0">
                <a:latin typeface="Arial"/>
                <a:cs typeface="Arial"/>
              </a:rPr>
              <a:t>private</a:t>
            </a:r>
            <a:r>
              <a:rPr sz="1600" spc="-6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String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bName;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600" dirty="0">
                <a:latin typeface="Arial"/>
                <a:cs typeface="Arial"/>
              </a:rPr>
              <a:t>//</a:t>
            </a:r>
            <a:r>
              <a:rPr sz="1600" spc="-6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getter,</a:t>
            </a:r>
            <a:r>
              <a:rPr sz="1600" spc="-5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setter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600" spc="-50" dirty="0">
                <a:latin typeface="Arial"/>
                <a:cs typeface="Arial"/>
              </a:rPr>
              <a:t>}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Many-</a:t>
            </a:r>
            <a:r>
              <a:rPr spc="-20" dirty="0"/>
              <a:t>To-</a:t>
            </a:r>
            <a:r>
              <a:rPr dirty="0"/>
              <a:t>One</a:t>
            </a:r>
            <a:r>
              <a:rPr spc="-15" dirty="0"/>
              <a:t> </a:t>
            </a:r>
            <a:r>
              <a:rPr spc="-10" dirty="0"/>
              <a:t>Mapping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5"/>
              </a:lnSpc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5"/>
              </a:lnSpc>
            </a:pPr>
            <a:r>
              <a:rPr dirty="0"/>
              <a:t>ACE</a:t>
            </a:r>
            <a:r>
              <a:rPr spc="-45" dirty="0"/>
              <a:t> </a:t>
            </a:r>
            <a:r>
              <a:rPr dirty="0"/>
              <a:t>Professionals</a:t>
            </a:r>
            <a:r>
              <a:rPr spc="-75" dirty="0"/>
              <a:t> </a:t>
            </a:r>
            <a:r>
              <a:rPr dirty="0"/>
              <a:t>Development</a:t>
            </a:r>
            <a:r>
              <a:rPr spc="-60" dirty="0"/>
              <a:t> </a:t>
            </a:r>
            <a:r>
              <a:rPr spc="-10" dirty="0"/>
              <a:t>Center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5187" y="1630172"/>
            <a:ext cx="5702935" cy="39274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Arial"/>
                <a:cs typeface="Arial"/>
              </a:rPr>
              <a:t>MtOStoreStudLibrary.java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40"/>
              </a:spcBef>
            </a:pPr>
            <a:endParaRPr sz="1600">
              <a:latin typeface="Arial"/>
              <a:cs typeface="Arial"/>
            </a:endParaRPr>
          </a:p>
          <a:p>
            <a:pPr marL="12700" marR="2337435">
              <a:lnSpc>
                <a:spcPct val="150000"/>
              </a:lnSpc>
            </a:pPr>
            <a:r>
              <a:rPr sz="1600" dirty="0">
                <a:latin typeface="Arial"/>
                <a:cs typeface="Arial"/>
              </a:rPr>
              <a:t>public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class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MtOStoreStudLibrary</a:t>
            </a:r>
            <a:r>
              <a:rPr sz="1600" spc="35" dirty="0">
                <a:latin typeface="Arial"/>
                <a:cs typeface="Arial"/>
              </a:rPr>
              <a:t> </a:t>
            </a:r>
            <a:r>
              <a:rPr sz="1600" spc="-50" dirty="0">
                <a:latin typeface="Arial"/>
                <a:cs typeface="Arial"/>
              </a:rPr>
              <a:t>{ </a:t>
            </a:r>
            <a:r>
              <a:rPr sz="1600" dirty="0">
                <a:latin typeface="Arial"/>
                <a:cs typeface="Arial"/>
              </a:rPr>
              <a:t>public</a:t>
            </a:r>
            <a:r>
              <a:rPr sz="1600" spc="-6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static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void</a:t>
            </a:r>
            <a:r>
              <a:rPr sz="1600" spc="-5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main(String[]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args)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spc="-50" dirty="0">
                <a:latin typeface="Arial"/>
                <a:cs typeface="Arial"/>
              </a:rPr>
              <a:t>{ </a:t>
            </a:r>
            <a:r>
              <a:rPr sz="1600" spc="-10" dirty="0">
                <a:latin typeface="Arial"/>
                <a:cs typeface="Arial"/>
              </a:rPr>
              <a:t>EntityManagerFactory</a:t>
            </a:r>
            <a:r>
              <a:rPr sz="1600" spc="5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emf</a:t>
            </a:r>
            <a:r>
              <a:rPr sz="1600" spc="10" dirty="0">
                <a:latin typeface="Arial"/>
                <a:cs typeface="Arial"/>
              </a:rPr>
              <a:t> </a:t>
            </a:r>
            <a:r>
              <a:rPr sz="1600" spc="-50" dirty="0">
                <a:latin typeface="Arial"/>
                <a:cs typeface="Arial"/>
              </a:rPr>
              <a:t>=</a:t>
            </a:r>
            <a:endParaRPr sz="1600">
              <a:latin typeface="Arial"/>
              <a:cs typeface="Arial"/>
            </a:endParaRPr>
          </a:p>
          <a:p>
            <a:pPr marL="12700" marR="5080">
              <a:lnSpc>
                <a:spcPct val="150000"/>
              </a:lnSpc>
            </a:pPr>
            <a:r>
              <a:rPr sz="1600" spc="-10" dirty="0">
                <a:latin typeface="Arial"/>
                <a:cs typeface="Arial"/>
              </a:rPr>
              <a:t>Persistence.createEntityManagerFactory("JPASampleProject"); </a:t>
            </a:r>
            <a:r>
              <a:rPr sz="1600" dirty="0">
                <a:latin typeface="Arial"/>
                <a:cs typeface="Arial"/>
              </a:rPr>
              <a:t>EntityManager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em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=</a:t>
            </a:r>
            <a:r>
              <a:rPr sz="1600" spc="-5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emf.createEntityManager(); em.getTransaction().begin();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600" dirty="0">
                <a:latin typeface="Arial"/>
                <a:cs typeface="Arial"/>
              </a:rPr>
              <a:t>MtOLibrary</a:t>
            </a:r>
            <a:r>
              <a:rPr sz="1600" spc="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lib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=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new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MtOLibrary();</a:t>
            </a:r>
            <a:endParaRPr sz="1600">
              <a:latin typeface="Arial"/>
              <a:cs typeface="Arial"/>
            </a:endParaRPr>
          </a:p>
          <a:p>
            <a:pPr marL="12700" marR="3575685">
              <a:lnSpc>
                <a:spcPct val="150000"/>
              </a:lnSpc>
              <a:spcBef>
                <a:spcPts val="5"/>
              </a:spcBef>
            </a:pPr>
            <a:r>
              <a:rPr sz="1600" spc="-10" dirty="0">
                <a:latin typeface="Arial"/>
                <a:cs typeface="Arial"/>
              </a:rPr>
              <a:t>lib.setbId(102); lib.setbName("DBMS");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00" y="1143000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600" y="0"/>
                </a:lnTo>
              </a:path>
            </a:pathLst>
          </a:custGeom>
          <a:ln w="9144">
            <a:solidFill>
              <a:srgbClr val="70685A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4151" y="6432803"/>
            <a:ext cx="120650" cy="190500"/>
          </a:xfrm>
          <a:custGeom>
            <a:avLst/>
            <a:gdLst/>
            <a:ahLst/>
            <a:cxnLst/>
            <a:rect l="l" t="t" r="r" b="b"/>
            <a:pathLst>
              <a:path w="120650" h="190500">
                <a:moveTo>
                  <a:pt x="0" y="0"/>
                </a:moveTo>
                <a:lnTo>
                  <a:pt x="0" y="190500"/>
                </a:lnTo>
                <a:lnTo>
                  <a:pt x="120396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70685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79932" y="86888"/>
            <a:ext cx="1705307" cy="101648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Many-</a:t>
            </a:r>
            <a:r>
              <a:rPr spc="-20" dirty="0"/>
              <a:t>To-</a:t>
            </a:r>
            <a:r>
              <a:rPr dirty="0"/>
              <a:t>One</a:t>
            </a:r>
            <a:r>
              <a:rPr spc="-15" dirty="0"/>
              <a:t> </a:t>
            </a:r>
            <a:r>
              <a:rPr spc="-10" dirty="0"/>
              <a:t>Mapping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5"/>
              </a:lnSpc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5"/>
              </a:lnSpc>
            </a:pPr>
            <a:r>
              <a:rPr dirty="0"/>
              <a:t>ACE</a:t>
            </a:r>
            <a:r>
              <a:rPr spc="-45" dirty="0"/>
              <a:t> </a:t>
            </a:r>
            <a:r>
              <a:rPr dirty="0"/>
              <a:t>Professionals</a:t>
            </a:r>
            <a:r>
              <a:rPr spc="-75" dirty="0"/>
              <a:t> </a:t>
            </a:r>
            <a:r>
              <a:rPr dirty="0"/>
              <a:t>Development</a:t>
            </a:r>
            <a:r>
              <a:rPr spc="-60" dirty="0"/>
              <a:t> </a:t>
            </a:r>
            <a:r>
              <a:rPr spc="-10" dirty="0"/>
              <a:t>Center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44500" y="1208887"/>
            <a:ext cx="8255000" cy="5147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2880" marR="5137785">
              <a:lnSpc>
                <a:spcPct val="15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MtOStudent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st1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=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new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MtOStudent(); st1.setsId(105);</a:t>
            </a:r>
            <a:endParaRPr sz="1400">
              <a:latin typeface="Arial"/>
              <a:cs typeface="Arial"/>
            </a:endParaRPr>
          </a:p>
          <a:p>
            <a:pPr marL="182880">
              <a:lnSpc>
                <a:spcPct val="100000"/>
              </a:lnSpc>
              <a:spcBef>
                <a:spcPts val="840"/>
              </a:spcBef>
            </a:pPr>
            <a:r>
              <a:rPr sz="1400" spc="-10" dirty="0">
                <a:latin typeface="Arial"/>
                <a:cs typeface="Arial"/>
              </a:rPr>
              <a:t>st1.setsAge(22);</a:t>
            </a:r>
            <a:endParaRPr sz="1400">
              <a:latin typeface="Arial"/>
              <a:cs typeface="Arial"/>
            </a:endParaRPr>
          </a:p>
          <a:p>
            <a:pPr marL="182880" marR="6396355">
              <a:lnSpc>
                <a:spcPct val="150000"/>
              </a:lnSpc>
            </a:pPr>
            <a:r>
              <a:rPr sz="1400" spc="-10" dirty="0">
                <a:latin typeface="Arial"/>
                <a:cs typeface="Arial"/>
              </a:rPr>
              <a:t>st1.setsName("Jon"); st1.setLib(lib);</a:t>
            </a:r>
            <a:endParaRPr sz="1400">
              <a:latin typeface="Arial"/>
              <a:cs typeface="Arial"/>
            </a:endParaRPr>
          </a:p>
          <a:p>
            <a:pPr marL="182880" marR="5137785">
              <a:lnSpc>
                <a:spcPct val="150000"/>
              </a:lnSpc>
            </a:pPr>
            <a:r>
              <a:rPr sz="1400" dirty="0">
                <a:latin typeface="Arial"/>
                <a:cs typeface="Arial"/>
              </a:rPr>
              <a:t>MtOStudent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st2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=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new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MtOStudent(); st2.setsId(106);</a:t>
            </a:r>
            <a:endParaRPr sz="1400">
              <a:latin typeface="Arial"/>
              <a:cs typeface="Arial"/>
            </a:endParaRPr>
          </a:p>
          <a:p>
            <a:pPr marL="182880">
              <a:lnSpc>
                <a:spcPct val="100000"/>
              </a:lnSpc>
              <a:spcBef>
                <a:spcPts val="840"/>
              </a:spcBef>
            </a:pPr>
            <a:r>
              <a:rPr sz="1400" spc="-10" dirty="0">
                <a:latin typeface="Arial"/>
                <a:cs typeface="Arial"/>
              </a:rPr>
              <a:t>st2.setsAge(27);</a:t>
            </a:r>
            <a:endParaRPr sz="1400">
              <a:latin typeface="Arial"/>
              <a:cs typeface="Arial"/>
            </a:endParaRPr>
          </a:p>
          <a:p>
            <a:pPr marL="182880" marR="5692775">
              <a:lnSpc>
                <a:spcPct val="150000"/>
              </a:lnSpc>
              <a:spcBef>
                <a:spcPts val="5"/>
              </a:spcBef>
            </a:pPr>
            <a:r>
              <a:rPr sz="1400" spc="-10" dirty="0">
                <a:latin typeface="Arial"/>
                <a:cs typeface="Arial"/>
              </a:rPr>
              <a:t>st2.setsName("Smith"); st2.setLib(lib);</a:t>
            </a:r>
            <a:r>
              <a:rPr sz="1400" spc="500" dirty="0">
                <a:latin typeface="Arial"/>
                <a:cs typeface="Arial"/>
              </a:rPr>
              <a:t>  </a:t>
            </a:r>
            <a:r>
              <a:rPr sz="1400" spc="-10" dirty="0">
                <a:latin typeface="Arial"/>
                <a:cs typeface="Arial"/>
              </a:rPr>
              <a:t>em.persist(st1); em.persist(st2); em.getTransaction().commit(); em.close();</a:t>
            </a:r>
            <a:endParaRPr sz="1400">
              <a:latin typeface="Arial"/>
              <a:cs typeface="Arial"/>
            </a:endParaRPr>
          </a:p>
          <a:p>
            <a:pPr marL="182880">
              <a:lnSpc>
                <a:spcPct val="100000"/>
              </a:lnSpc>
              <a:spcBef>
                <a:spcPts val="840"/>
              </a:spcBef>
            </a:pPr>
            <a:r>
              <a:rPr sz="1400" spc="-50" dirty="0">
                <a:latin typeface="Arial"/>
                <a:cs typeface="Arial"/>
              </a:rPr>
              <a:t>}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  <a:tabLst>
                <a:tab pos="8241665" algn="l"/>
              </a:tabLst>
            </a:pPr>
            <a:r>
              <a:rPr sz="1400" u="dash" spc="275" dirty="0">
                <a:uFill>
                  <a:solidFill>
                    <a:srgbClr val="70685A"/>
                  </a:solidFill>
                </a:uFill>
                <a:latin typeface="Arial"/>
                <a:cs typeface="Arial"/>
              </a:rPr>
              <a:t>  </a:t>
            </a:r>
            <a:r>
              <a:rPr sz="1400" u="dash" spc="-50" dirty="0">
                <a:uFill>
                  <a:solidFill>
                    <a:srgbClr val="70685A"/>
                  </a:solidFill>
                </a:uFill>
                <a:latin typeface="Arial"/>
                <a:cs typeface="Arial"/>
              </a:rPr>
              <a:t>}</a:t>
            </a:r>
            <a:r>
              <a:rPr sz="1400" u="dash" dirty="0">
                <a:uFill>
                  <a:solidFill>
                    <a:srgbClr val="70685A"/>
                  </a:solidFill>
                </a:uFill>
                <a:latin typeface="Arial"/>
                <a:cs typeface="Arial"/>
              </a:rPr>
              <a:t>	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Many-</a:t>
            </a:r>
            <a:r>
              <a:rPr spc="-20" dirty="0"/>
              <a:t>To-</a:t>
            </a:r>
            <a:r>
              <a:rPr dirty="0"/>
              <a:t>Many </a:t>
            </a:r>
            <a:r>
              <a:rPr spc="-10" dirty="0"/>
              <a:t>Mapping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5"/>
              </a:lnSpc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5"/>
              </a:lnSpc>
            </a:pPr>
            <a:r>
              <a:rPr dirty="0"/>
              <a:t>ACE</a:t>
            </a:r>
            <a:r>
              <a:rPr spc="-45" dirty="0"/>
              <a:t> </a:t>
            </a:r>
            <a:r>
              <a:rPr dirty="0"/>
              <a:t>Professionals</a:t>
            </a:r>
            <a:r>
              <a:rPr spc="-75" dirty="0"/>
              <a:t> </a:t>
            </a:r>
            <a:r>
              <a:rPr dirty="0"/>
              <a:t>Development</a:t>
            </a:r>
            <a:r>
              <a:rPr spc="-60" dirty="0"/>
              <a:t> </a:t>
            </a:r>
            <a:r>
              <a:rPr spc="-10" dirty="0"/>
              <a:t>Center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5187" y="1535455"/>
            <a:ext cx="7609840" cy="2952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7145">
              <a:lnSpc>
                <a:spcPct val="150000"/>
              </a:lnSpc>
              <a:spcBef>
                <a:spcPts val="100"/>
              </a:spcBef>
            </a:pPr>
            <a:r>
              <a:rPr sz="1600" dirty="0">
                <a:latin typeface="Arial"/>
                <a:cs typeface="Arial"/>
              </a:rPr>
              <a:t>The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spc="-20" dirty="0">
                <a:latin typeface="Arial"/>
                <a:cs typeface="Arial"/>
              </a:rPr>
              <a:t>Many-</a:t>
            </a:r>
            <a:r>
              <a:rPr sz="1600" spc="-75" dirty="0">
                <a:latin typeface="Arial"/>
                <a:cs typeface="Arial"/>
              </a:rPr>
              <a:t>To-</a:t>
            </a:r>
            <a:r>
              <a:rPr sz="1600" dirty="0">
                <a:latin typeface="Arial"/>
                <a:cs typeface="Arial"/>
              </a:rPr>
              <a:t>Many</a:t>
            </a:r>
            <a:r>
              <a:rPr sz="1600" spc="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mapping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represents</a:t>
            </a:r>
            <a:r>
              <a:rPr sz="1600" spc="-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collection-</a:t>
            </a:r>
            <a:r>
              <a:rPr sz="1600" dirty="0">
                <a:latin typeface="Arial"/>
                <a:cs typeface="Arial"/>
              </a:rPr>
              <a:t>valued</a:t>
            </a:r>
            <a:r>
              <a:rPr sz="1600" spc="-6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association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where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any </a:t>
            </a:r>
            <a:r>
              <a:rPr sz="1600" dirty="0">
                <a:latin typeface="Arial"/>
                <a:cs typeface="Arial"/>
              </a:rPr>
              <a:t>number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of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entities</a:t>
            </a:r>
            <a:r>
              <a:rPr sz="1600" spc="-5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can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be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associated</a:t>
            </a:r>
            <a:r>
              <a:rPr sz="1600" spc="-5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with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collection</a:t>
            </a:r>
            <a:r>
              <a:rPr sz="1600" spc="-7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of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other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entities.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In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relational </a:t>
            </a:r>
            <a:r>
              <a:rPr sz="1600" dirty="0">
                <a:latin typeface="Arial"/>
                <a:cs typeface="Arial"/>
              </a:rPr>
              <a:t>database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any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number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of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rows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of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one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entity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can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be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referred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to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any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number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of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rows</a:t>
            </a:r>
            <a:r>
              <a:rPr sz="1600" spc="-25" dirty="0">
                <a:latin typeface="Arial"/>
                <a:cs typeface="Arial"/>
              </a:rPr>
              <a:t> of </a:t>
            </a:r>
            <a:r>
              <a:rPr sz="1600" dirty="0">
                <a:latin typeface="Arial"/>
                <a:cs typeface="Arial"/>
              </a:rPr>
              <a:t>another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entity.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5"/>
              </a:spcBef>
            </a:pP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latin typeface="Arial"/>
                <a:cs typeface="Arial"/>
              </a:rPr>
              <a:t>In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this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example,</a:t>
            </a:r>
            <a:endParaRPr sz="1600">
              <a:latin typeface="Arial"/>
              <a:cs typeface="Arial"/>
            </a:endParaRPr>
          </a:p>
          <a:p>
            <a:pPr marL="12700" marR="5080">
              <a:lnSpc>
                <a:spcPct val="150000"/>
              </a:lnSpc>
            </a:pPr>
            <a:r>
              <a:rPr sz="1600" dirty="0">
                <a:latin typeface="Arial"/>
                <a:cs typeface="Arial"/>
              </a:rPr>
              <a:t>we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will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create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spc="-20" dirty="0">
                <a:latin typeface="Arial"/>
                <a:cs typeface="Arial"/>
              </a:rPr>
              <a:t>Many-</a:t>
            </a:r>
            <a:r>
              <a:rPr sz="1600" spc="-75" dirty="0">
                <a:latin typeface="Arial"/>
                <a:cs typeface="Arial"/>
              </a:rPr>
              <a:t>To-</a:t>
            </a:r>
            <a:r>
              <a:rPr sz="1600" dirty="0">
                <a:latin typeface="Arial"/>
                <a:cs typeface="Arial"/>
              </a:rPr>
              <a:t>Many</a:t>
            </a:r>
            <a:r>
              <a:rPr sz="1600" spc="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relationship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between</a:t>
            </a:r>
            <a:r>
              <a:rPr sz="1600" spc="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Student</a:t>
            </a:r>
            <a:r>
              <a:rPr sz="1600" spc="-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and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Library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in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such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spc="-50" dirty="0">
                <a:latin typeface="Arial"/>
                <a:cs typeface="Arial"/>
              </a:rPr>
              <a:t>a </a:t>
            </a:r>
            <a:r>
              <a:rPr sz="1600" dirty="0">
                <a:latin typeface="Arial"/>
                <a:cs typeface="Arial"/>
              </a:rPr>
              <a:t>way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that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any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number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of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students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can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be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issued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any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type of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books.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Many-</a:t>
            </a:r>
            <a:r>
              <a:rPr spc="-20" dirty="0"/>
              <a:t>To-</a:t>
            </a:r>
            <a:r>
              <a:rPr dirty="0"/>
              <a:t>Many </a:t>
            </a:r>
            <a:r>
              <a:rPr spc="-10" dirty="0"/>
              <a:t>Mapping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5"/>
              </a:lnSpc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5"/>
              </a:lnSpc>
            </a:pPr>
            <a:r>
              <a:rPr dirty="0"/>
              <a:t>ACE</a:t>
            </a:r>
            <a:r>
              <a:rPr spc="-45" dirty="0"/>
              <a:t> </a:t>
            </a:r>
            <a:r>
              <a:rPr dirty="0"/>
              <a:t>Professionals</a:t>
            </a:r>
            <a:r>
              <a:rPr spc="-75" dirty="0"/>
              <a:t> </a:t>
            </a:r>
            <a:r>
              <a:rPr dirty="0"/>
              <a:t>Development</a:t>
            </a:r>
            <a:r>
              <a:rPr spc="-60" dirty="0"/>
              <a:t> </a:t>
            </a:r>
            <a:r>
              <a:rPr spc="-10" dirty="0"/>
              <a:t>Center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5187" y="1185519"/>
            <a:ext cx="3733165" cy="5147310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400" b="1" spc="-10" dirty="0">
                <a:latin typeface="Arial"/>
                <a:cs typeface="Arial"/>
              </a:rPr>
              <a:t>MtMStudent.java</a:t>
            </a:r>
            <a:endParaRPr sz="1400">
              <a:latin typeface="Arial"/>
              <a:cs typeface="Arial"/>
            </a:endParaRPr>
          </a:p>
          <a:p>
            <a:pPr marL="12700" marR="1627505">
              <a:lnSpc>
                <a:spcPct val="150000"/>
              </a:lnSpc>
            </a:pPr>
            <a:r>
              <a:rPr sz="1400" dirty="0">
                <a:latin typeface="Arial"/>
                <a:cs typeface="Arial"/>
              </a:rPr>
              <a:t>import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javax.persistence.*; @Entity</a:t>
            </a:r>
            <a:endParaRPr sz="1400">
              <a:latin typeface="Arial"/>
              <a:cs typeface="Arial"/>
            </a:endParaRPr>
          </a:p>
          <a:p>
            <a:pPr marL="12700" marR="1680210">
              <a:lnSpc>
                <a:spcPct val="150000"/>
              </a:lnSpc>
            </a:pPr>
            <a:r>
              <a:rPr sz="1400" dirty="0">
                <a:latin typeface="Arial"/>
                <a:cs typeface="Arial"/>
              </a:rPr>
              <a:t>public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class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MtMStudent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spc="-50" dirty="0">
                <a:latin typeface="Arial"/>
                <a:cs typeface="Arial"/>
              </a:rPr>
              <a:t>{ </a:t>
            </a:r>
            <a:r>
              <a:rPr sz="1400" spc="-25" dirty="0">
                <a:latin typeface="Arial"/>
                <a:cs typeface="Arial"/>
              </a:rPr>
              <a:t>@Id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400" dirty="0">
                <a:latin typeface="Arial"/>
                <a:cs typeface="Arial"/>
              </a:rPr>
              <a:t>private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int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sId;</a:t>
            </a:r>
            <a:endParaRPr sz="1400">
              <a:latin typeface="Arial"/>
              <a:cs typeface="Arial"/>
            </a:endParaRPr>
          </a:p>
          <a:p>
            <a:pPr marL="12700" marR="2004060">
              <a:lnSpc>
                <a:spcPct val="150000"/>
              </a:lnSpc>
              <a:spcBef>
                <a:spcPts val="5"/>
              </a:spcBef>
            </a:pPr>
            <a:r>
              <a:rPr sz="1400" dirty="0">
                <a:latin typeface="Arial"/>
                <a:cs typeface="Arial"/>
              </a:rPr>
              <a:t>private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String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sName; </a:t>
            </a:r>
            <a:r>
              <a:rPr sz="1400" dirty="0">
                <a:latin typeface="Arial"/>
                <a:cs typeface="Arial"/>
              </a:rPr>
              <a:t>private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int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sAge;</a:t>
            </a:r>
            <a:endParaRPr sz="1400">
              <a:latin typeface="Arial"/>
              <a:cs typeface="Arial"/>
            </a:endParaRPr>
          </a:p>
          <a:p>
            <a:pPr marL="12700" marR="5080">
              <a:lnSpc>
                <a:spcPct val="150000"/>
              </a:lnSpc>
            </a:pPr>
            <a:r>
              <a:rPr sz="1400" spc="-20" dirty="0">
                <a:latin typeface="Arial"/>
                <a:cs typeface="Arial"/>
              </a:rPr>
              <a:t>@ManyToMany(cascade</a:t>
            </a:r>
            <a:r>
              <a:rPr sz="1400" spc="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=</a:t>
            </a:r>
            <a:r>
              <a:rPr sz="1400" spc="6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CascadeType.ALL) </a:t>
            </a:r>
            <a:r>
              <a:rPr sz="1400" spc="-20" dirty="0">
                <a:latin typeface="Arial"/>
                <a:cs typeface="Arial"/>
              </a:rPr>
              <a:t>@JoinTable(name</a:t>
            </a:r>
            <a:r>
              <a:rPr sz="1400" spc="-6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=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"stud_lib",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joinColumns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= </a:t>
            </a:r>
            <a:r>
              <a:rPr sz="1400" spc="-50" dirty="0">
                <a:latin typeface="Arial"/>
                <a:cs typeface="Arial"/>
              </a:rPr>
              <a:t>{ </a:t>
            </a:r>
            <a:r>
              <a:rPr sz="1400" dirty="0">
                <a:latin typeface="Arial"/>
                <a:cs typeface="Arial"/>
              </a:rPr>
              <a:t>@JoinColumn(name</a:t>
            </a:r>
            <a:r>
              <a:rPr sz="1400" spc="-7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=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"stud_id")</a:t>
            </a:r>
            <a:r>
              <a:rPr sz="1400" spc="-75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}, </a:t>
            </a:r>
            <a:r>
              <a:rPr sz="1400" dirty="0">
                <a:latin typeface="Arial"/>
                <a:cs typeface="Arial"/>
              </a:rPr>
              <a:t>inverseJoinColumns</a:t>
            </a:r>
            <a:r>
              <a:rPr sz="1400" spc="-6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=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spc="-50" dirty="0">
                <a:latin typeface="Arial"/>
                <a:cs typeface="Arial"/>
              </a:rPr>
              <a:t>{</a:t>
            </a:r>
            <a:endParaRPr sz="1400">
              <a:latin typeface="Arial"/>
              <a:cs typeface="Arial"/>
            </a:endParaRPr>
          </a:p>
          <a:p>
            <a:pPr marL="12700" marR="1122680">
              <a:lnSpc>
                <a:spcPct val="150000"/>
              </a:lnSpc>
            </a:pPr>
            <a:r>
              <a:rPr sz="1400" dirty="0">
                <a:latin typeface="Arial"/>
                <a:cs typeface="Arial"/>
              </a:rPr>
              <a:t>@JoinColumn(name</a:t>
            </a:r>
            <a:r>
              <a:rPr sz="1400" spc="-6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=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"lib_id")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}) </a:t>
            </a:r>
            <a:r>
              <a:rPr sz="1400" dirty="0">
                <a:latin typeface="Arial"/>
                <a:cs typeface="Arial"/>
              </a:rPr>
              <a:t>private</a:t>
            </a:r>
            <a:r>
              <a:rPr sz="1400" spc="1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List&lt;MtMLibrary&gt;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lib;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400" dirty="0">
                <a:latin typeface="Arial"/>
                <a:cs typeface="Arial"/>
              </a:rPr>
              <a:t>//getter</a:t>
            </a:r>
            <a:r>
              <a:rPr sz="1400" spc="-6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,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setter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400" spc="-50" dirty="0">
                <a:latin typeface="Arial"/>
                <a:cs typeface="Arial"/>
              </a:rPr>
              <a:t>}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Many-</a:t>
            </a:r>
            <a:r>
              <a:rPr spc="-20" dirty="0"/>
              <a:t>To-</a:t>
            </a:r>
            <a:r>
              <a:rPr dirty="0"/>
              <a:t>Many </a:t>
            </a:r>
            <a:r>
              <a:rPr spc="-10" dirty="0"/>
              <a:t>Mapping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5"/>
              </a:lnSpc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5"/>
              </a:lnSpc>
            </a:pPr>
            <a:r>
              <a:rPr dirty="0"/>
              <a:t>ACE</a:t>
            </a:r>
            <a:r>
              <a:rPr spc="-45" dirty="0"/>
              <a:t> </a:t>
            </a:r>
            <a:r>
              <a:rPr dirty="0"/>
              <a:t>Professionals</a:t>
            </a:r>
            <a:r>
              <a:rPr spc="-75" dirty="0"/>
              <a:t> </a:t>
            </a:r>
            <a:r>
              <a:rPr dirty="0"/>
              <a:t>Development</a:t>
            </a:r>
            <a:r>
              <a:rPr spc="-60" dirty="0"/>
              <a:t> </a:t>
            </a:r>
            <a:r>
              <a:rPr spc="-10" dirty="0"/>
              <a:t>Center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5187" y="1291844"/>
            <a:ext cx="4238625" cy="40811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latin typeface="Arial"/>
                <a:cs typeface="Arial"/>
              </a:rPr>
              <a:t>MtMLibrary.java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10"/>
              </a:spcBef>
            </a:pPr>
            <a:endParaRPr sz="1400">
              <a:latin typeface="Arial"/>
              <a:cs typeface="Arial"/>
            </a:endParaRPr>
          </a:p>
          <a:p>
            <a:pPr marL="12700" marR="2133600">
              <a:lnSpc>
                <a:spcPct val="150000"/>
              </a:lnSpc>
            </a:pPr>
            <a:r>
              <a:rPr sz="1400" dirty="0">
                <a:latin typeface="Arial"/>
                <a:cs typeface="Arial"/>
              </a:rPr>
              <a:t>import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javax.persistence.*; @Entity</a:t>
            </a:r>
            <a:endParaRPr sz="1400">
              <a:latin typeface="Arial"/>
              <a:cs typeface="Arial"/>
            </a:endParaRPr>
          </a:p>
          <a:p>
            <a:pPr marL="12700" marR="2256155">
              <a:lnSpc>
                <a:spcPct val="150000"/>
              </a:lnSpc>
            </a:pPr>
            <a:r>
              <a:rPr sz="1400" dirty="0">
                <a:latin typeface="Arial"/>
                <a:cs typeface="Arial"/>
              </a:rPr>
              <a:t>public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class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MtMLibrary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spc="-50" dirty="0">
                <a:latin typeface="Arial"/>
                <a:cs typeface="Arial"/>
              </a:rPr>
              <a:t>{ </a:t>
            </a:r>
            <a:r>
              <a:rPr sz="1400" spc="-25" dirty="0">
                <a:latin typeface="Arial"/>
                <a:cs typeface="Arial"/>
              </a:rPr>
              <a:t>@Id</a:t>
            </a:r>
            <a:endParaRPr sz="1400">
              <a:latin typeface="Arial"/>
              <a:cs typeface="Arial"/>
            </a:endParaRPr>
          </a:p>
          <a:p>
            <a:pPr marL="12700" marR="5080">
              <a:lnSpc>
                <a:spcPct val="150000"/>
              </a:lnSpc>
              <a:spcBef>
                <a:spcPts val="5"/>
              </a:spcBef>
            </a:pPr>
            <a:r>
              <a:rPr sz="1400" spc="-10" dirty="0">
                <a:latin typeface="Arial"/>
                <a:cs typeface="Arial"/>
              </a:rPr>
              <a:t>@GeneratedValue(strategy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=</a:t>
            </a:r>
            <a:r>
              <a:rPr sz="1400" spc="-10" dirty="0">
                <a:latin typeface="Arial"/>
                <a:cs typeface="Arial"/>
              </a:rPr>
              <a:t> GenerationType.AUTO) </a:t>
            </a:r>
            <a:r>
              <a:rPr sz="1400" dirty="0">
                <a:latin typeface="Arial"/>
                <a:cs typeface="Arial"/>
              </a:rPr>
              <a:t>private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int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bId;</a:t>
            </a:r>
            <a:endParaRPr sz="1400">
              <a:latin typeface="Arial"/>
              <a:cs typeface="Arial"/>
            </a:endParaRPr>
          </a:p>
          <a:p>
            <a:pPr marL="12700" marR="1509395">
              <a:lnSpc>
                <a:spcPct val="150000"/>
              </a:lnSpc>
            </a:pPr>
            <a:r>
              <a:rPr sz="1400" dirty="0">
                <a:latin typeface="Arial"/>
                <a:cs typeface="Arial"/>
              </a:rPr>
              <a:t>private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String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bName; @ManyToMany(mappedBy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=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"lib") </a:t>
            </a:r>
            <a:r>
              <a:rPr sz="1400" dirty="0">
                <a:latin typeface="Arial"/>
                <a:cs typeface="Arial"/>
              </a:rPr>
              <a:t>private</a:t>
            </a:r>
            <a:r>
              <a:rPr sz="1400" spc="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List&lt;MtMStudent&gt;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student;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400" spc="-10" dirty="0">
                <a:latin typeface="Arial"/>
                <a:cs typeface="Arial"/>
              </a:rPr>
              <a:t>//getter,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setter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400" spc="-50" dirty="0">
                <a:latin typeface="Arial"/>
                <a:cs typeface="Arial"/>
              </a:rPr>
              <a:t>}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Many-</a:t>
            </a:r>
            <a:r>
              <a:rPr spc="-20" dirty="0"/>
              <a:t>To-</a:t>
            </a:r>
            <a:r>
              <a:rPr dirty="0"/>
              <a:t>Many </a:t>
            </a:r>
            <a:r>
              <a:rPr spc="-10" dirty="0"/>
              <a:t>Mapping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5"/>
              </a:lnSpc>
            </a:pPr>
            <a:fld id="{81D60167-4931-47E6-BA6A-407CBD079E47}" type="slidenum">
              <a:rPr spc="-25" dirty="0"/>
              <a:t>23</a:t>
            </a:fld>
            <a:endParaRPr spc="-2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5"/>
              </a:lnSpc>
            </a:pPr>
            <a:r>
              <a:rPr dirty="0"/>
              <a:t>ACE</a:t>
            </a:r>
            <a:r>
              <a:rPr spc="-45" dirty="0"/>
              <a:t> </a:t>
            </a:r>
            <a:r>
              <a:rPr dirty="0"/>
              <a:t>Professionals</a:t>
            </a:r>
            <a:r>
              <a:rPr spc="-75" dirty="0"/>
              <a:t> </a:t>
            </a:r>
            <a:r>
              <a:rPr dirty="0"/>
              <a:t>Development</a:t>
            </a:r>
            <a:r>
              <a:rPr spc="-60" dirty="0"/>
              <a:t> </a:t>
            </a:r>
            <a:r>
              <a:rPr spc="-10" dirty="0"/>
              <a:t>Center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5187" y="1291844"/>
            <a:ext cx="4995545" cy="44011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latin typeface="Arial"/>
                <a:cs typeface="Arial"/>
              </a:rPr>
              <a:t>MtMStoreStudLibrary.java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latin typeface="Arial"/>
                <a:cs typeface="Arial"/>
              </a:rPr>
              <a:t>import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java.util.*;</a:t>
            </a:r>
            <a:endParaRPr sz="1400">
              <a:latin typeface="Arial"/>
              <a:cs typeface="Arial"/>
            </a:endParaRPr>
          </a:p>
          <a:p>
            <a:pPr marL="12700" marR="2890520">
              <a:lnSpc>
                <a:spcPct val="150000"/>
              </a:lnSpc>
            </a:pPr>
            <a:r>
              <a:rPr sz="1400" dirty="0">
                <a:latin typeface="Arial"/>
                <a:cs typeface="Arial"/>
              </a:rPr>
              <a:t>import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javax.persistence.*; </a:t>
            </a:r>
            <a:r>
              <a:rPr sz="1400" dirty="0">
                <a:latin typeface="Arial"/>
                <a:cs typeface="Arial"/>
              </a:rPr>
              <a:t>import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com.jpa.model.*;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400" dirty="0">
                <a:latin typeface="Arial"/>
                <a:cs typeface="Arial"/>
              </a:rPr>
              <a:t>public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class</a:t>
            </a:r>
            <a:r>
              <a:rPr sz="1400" spc="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MtMStoreStudLibrary</a:t>
            </a:r>
            <a:r>
              <a:rPr sz="1400" spc="5" dirty="0">
                <a:latin typeface="Arial"/>
                <a:cs typeface="Arial"/>
              </a:rPr>
              <a:t> </a:t>
            </a:r>
            <a:r>
              <a:rPr sz="1400" spc="-50" dirty="0">
                <a:latin typeface="Arial"/>
                <a:cs typeface="Arial"/>
              </a:rPr>
              <a:t>{</a:t>
            </a:r>
            <a:endParaRPr sz="1400">
              <a:latin typeface="Arial"/>
              <a:cs typeface="Arial"/>
            </a:endParaRPr>
          </a:p>
          <a:p>
            <a:pPr marL="12700" marR="2056764">
              <a:lnSpc>
                <a:spcPct val="150000"/>
              </a:lnSpc>
              <a:spcBef>
                <a:spcPts val="5"/>
              </a:spcBef>
            </a:pPr>
            <a:r>
              <a:rPr sz="1400" dirty="0">
                <a:latin typeface="Arial"/>
                <a:cs typeface="Arial"/>
              </a:rPr>
              <a:t>public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static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void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main(String[]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args)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spc="-50" dirty="0">
                <a:latin typeface="Arial"/>
                <a:cs typeface="Arial"/>
              </a:rPr>
              <a:t>{ </a:t>
            </a:r>
            <a:r>
              <a:rPr sz="1400" spc="-10" dirty="0">
                <a:latin typeface="Arial"/>
                <a:cs typeface="Arial"/>
              </a:rPr>
              <a:t>EntityManagerFactory</a:t>
            </a:r>
            <a:r>
              <a:rPr sz="1400" spc="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emf</a:t>
            </a:r>
            <a:r>
              <a:rPr sz="1400" spc="45" dirty="0">
                <a:latin typeface="Arial"/>
                <a:cs typeface="Arial"/>
              </a:rPr>
              <a:t> </a:t>
            </a:r>
            <a:r>
              <a:rPr sz="1400" spc="-50" dirty="0">
                <a:latin typeface="Arial"/>
                <a:cs typeface="Arial"/>
              </a:rPr>
              <a:t>=</a:t>
            </a:r>
            <a:endParaRPr sz="1400">
              <a:latin typeface="Arial"/>
              <a:cs typeface="Arial"/>
            </a:endParaRPr>
          </a:p>
          <a:p>
            <a:pPr marL="12700" marR="5080">
              <a:lnSpc>
                <a:spcPct val="150000"/>
              </a:lnSpc>
            </a:pPr>
            <a:r>
              <a:rPr sz="1400" spc="-10" dirty="0">
                <a:latin typeface="Arial"/>
                <a:cs typeface="Arial"/>
              </a:rPr>
              <a:t>Persistence.createEntityManagerFactory("JPASampleProject"); </a:t>
            </a:r>
            <a:r>
              <a:rPr sz="1400" dirty="0">
                <a:latin typeface="Arial"/>
                <a:cs typeface="Arial"/>
              </a:rPr>
              <a:t>EntityManager</a:t>
            </a:r>
            <a:r>
              <a:rPr sz="1400" spc="-6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em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=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emf.createEntityManager(); em.getTransaction().begin();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10"/>
              </a:spcBef>
            </a:pPr>
            <a:endParaRPr sz="1400">
              <a:latin typeface="Arial"/>
              <a:cs typeface="Arial"/>
            </a:endParaRPr>
          </a:p>
          <a:p>
            <a:pPr marL="12700" marR="513715">
              <a:lnSpc>
                <a:spcPct val="150000"/>
              </a:lnSpc>
            </a:pPr>
            <a:r>
              <a:rPr sz="1400" spc="-10" dirty="0">
                <a:latin typeface="Arial"/>
                <a:cs typeface="Arial"/>
              </a:rPr>
              <a:t>List&lt;MtMLibrary&gt;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lstLib1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=</a:t>
            </a:r>
            <a:r>
              <a:rPr sz="1400" spc="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new</a:t>
            </a:r>
            <a:r>
              <a:rPr sz="1400" spc="-7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ArrayList&lt;MtMLibrary&gt;(); List&lt;MtMLibrary&gt;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lstLib2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=</a:t>
            </a:r>
            <a:r>
              <a:rPr sz="1400" spc="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new</a:t>
            </a:r>
            <a:r>
              <a:rPr sz="1400" spc="-7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ArrayList&lt;MtMLibrary&gt;();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Many-</a:t>
            </a:r>
            <a:r>
              <a:rPr spc="-20" dirty="0"/>
              <a:t>To-</a:t>
            </a:r>
            <a:r>
              <a:rPr dirty="0"/>
              <a:t>Many </a:t>
            </a:r>
            <a:r>
              <a:rPr spc="-10" dirty="0"/>
              <a:t>Mapping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5"/>
              </a:lnSpc>
            </a:pPr>
            <a:fld id="{81D60167-4931-47E6-BA6A-407CBD079E47}" type="slidenum">
              <a:rPr spc="-25" dirty="0"/>
              <a:t>24</a:t>
            </a:fld>
            <a:endParaRPr spc="-2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5"/>
              </a:lnSpc>
            </a:pPr>
            <a:r>
              <a:rPr dirty="0"/>
              <a:t>ACE</a:t>
            </a:r>
            <a:r>
              <a:rPr spc="-45" dirty="0"/>
              <a:t> </a:t>
            </a:r>
            <a:r>
              <a:rPr dirty="0"/>
              <a:t>Professionals</a:t>
            </a:r>
            <a:r>
              <a:rPr spc="-75" dirty="0"/>
              <a:t> </a:t>
            </a:r>
            <a:r>
              <a:rPr dirty="0"/>
              <a:t>Development</a:t>
            </a:r>
            <a:r>
              <a:rPr spc="-60" dirty="0"/>
              <a:t> </a:t>
            </a:r>
            <a:r>
              <a:rPr spc="-10" dirty="0"/>
              <a:t>Center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5187" y="1185519"/>
            <a:ext cx="3024505" cy="5147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58750">
              <a:lnSpc>
                <a:spcPct val="1501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MtMLibrary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lib1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=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new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MtMLibrary(); lib1.setbId(101); lib1.setbName("Data</a:t>
            </a:r>
            <a:r>
              <a:rPr sz="1400" spc="7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Structure");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05"/>
              </a:spcBef>
            </a:pPr>
            <a:endParaRPr sz="1400">
              <a:latin typeface="Arial"/>
              <a:cs typeface="Arial"/>
            </a:endParaRPr>
          </a:p>
          <a:p>
            <a:pPr marL="12700" marR="158750">
              <a:lnSpc>
                <a:spcPct val="150100"/>
              </a:lnSpc>
            </a:pPr>
            <a:r>
              <a:rPr sz="1400" dirty="0">
                <a:latin typeface="Arial"/>
                <a:cs typeface="Arial"/>
              </a:rPr>
              <a:t>MtMLibrary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lib2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=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new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MtMLibrary(); lib2.setbId(102); lib2.setbName("DBMS");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10"/>
              </a:spcBef>
            </a:pPr>
            <a:endParaRPr sz="1400">
              <a:latin typeface="Arial"/>
              <a:cs typeface="Arial"/>
            </a:endParaRPr>
          </a:p>
          <a:p>
            <a:pPr marL="12700" marR="5080">
              <a:lnSpc>
                <a:spcPct val="150000"/>
              </a:lnSpc>
            </a:pPr>
            <a:r>
              <a:rPr sz="1400" dirty="0">
                <a:latin typeface="Arial"/>
                <a:cs typeface="Arial"/>
              </a:rPr>
              <a:t>MtMLibrary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lib3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=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new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MtMLibrary(); lib3.setbId(103); lib3.setbName("Artificial</a:t>
            </a:r>
            <a:r>
              <a:rPr sz="1400" spc="1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Intelligence");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15"/>
              </a:spcBef>
            </a:pPr>
            <a:endParaRPr sz="1400">
              <a:latin typeface="Arial"/>
              <a:cs typeface="Arial"/>
            </a:endParaRPr>
          </a:p>
          <a:p>
            <a:pPr marL="12700" marR="1698625" algn="just">
              <a:lnSpc>
                <a:spcPct val="150000"/>
              </a:lnSpc>
            </a:pPr>
            <a:r>
              <a:rPr sz="1400" spc="-10" dirty="0">
                <a:latin typeface="Arial"/>
                <a:cs typeface="Arial"/>
              </a:rPr>
              <a:t>lstLib1.add(lib1); lstLib1.add(lib2); lstLib2.add(lib2); lstLib2.add(lib3);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Many-</a:t>
            </a:r>
            <a:r>
              <a:rPr spc="-20" dirty="0"/>
              <a:t>To-</a:t>
            </a:r>
            <a:r>
              <a:rPr dirty="0"/>
              <a:t>Many </a:t>
            </a:r>
            <a:r>
              <a:rPr spc="-10" dirty="0"/>
              <a:t>Mapping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5"/>
              </a:lnSpc>
            </a:pPr>
            <a:fld id="{81D60167-4931-47E6-BA6A-407CBD079E47}" type="slidenum">
              <a:rPr spc="-25" dirty="0"/>
              <a:t>25</a:t>
            </a:fld>
            <a:endParaRPr spc="-2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5"/>
              </a:lnSpc>
            </a:pPr>
            <a:r>
              <a:rPr dirty="0"/>
              <a:t>ACE</a:t>
            </a:r>
            <a:r>
              <a:rPr spc="-45" dirty="0"/>
              <a:t> </a:t>
            </a:r>
            <a:r>
              <a:rPr dirty="0"/>
              <a:t>Professionals</a:t>
            </a:r>
            <a:r>
              <a:rPr spc="-75" dirty="0"/>
              <a:t> </a:t>
            </a:r>
            <a:r>
              <a:rPr dirty="0"/>
              <a:t>Development</a:t>
            </a:r>
            <a:r>
              <a:rPr spc="-60" dirty="0"/>
              <a:t> </a:t>
            </a:r>
            <a:r>
              <a:rPr spc="-10" dirty="0"/>
              <a:t>Center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5187" y="1185519"/>
            <a:ext cx="2971800" cy="5147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1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MtMStudent</a:t>
            </a:r>
            <a:r>
              <a:rPr sz="1400" spc="-6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st1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=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new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MtMStudent(); st1.setsId(105);</a:t>
            </a:r>
            <a:endParaRPr sz="1400">
              <a:latin typeface="Arial"/>
              <a:cs typeface="Arial"/>
            </a:endParaRPr>
          </a:p>
          <a:p>
            <a:pPr marL="12700" marR="1283335">
              <a:lnSpc>
                <a:spcPct val="150000"/>
              </a:lnSpc>
            </a:pPr>
            <a:r>
              <a:rPr sz="1400" spc="-10" dirty="0">
                <a:latin typeface="Arial"/>
                <a:cs typeface="Arial"/>
              </a:rPr>
              <a:t>st1.setsAge(22); st1.setsName("Jon"); st1.setLib(lstLib1);</a:t>
            </a:r>
            <a:endParaRPr sz="1400">
              <a:latin typeface="Arial"/>
              <a:cs typeface="Arial"/>
            </a:endParaRPr>
          </a:p>
          <a:p>
            <a:pPr marL="12700" marR="5080">
              <a:lnSpc>
                <a:spcPts val="2520"/>
              </a:lnSpc>
              <a:spcBef>
                <a:spcPts val="220"/>
              </a:spcBef>
            </a:pPr>
            <a:r>
              <a:rPr sz="1400" dirty="0">
                <a:latin typeface="Arial"/>
                <a:cs typeface="Arial"/>
              </a:rPr>
              <a:t>MtMStudent</a:t>
            </a:r>
            <a:r>
              <a:rPr sz="1400" spc="-6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st2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=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new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MtMStudent(); st2.setsId(106);</a:t>
            </a:r>
            <a:endParaRPr sz="1400">
              <a:latin typeface="Arial"/>
              <a:cs typeface="Arial"/>
            </a:endParaRPr>
          </a:p>
          <a:p>
            <a:pPr marL="12700" marR="1114425">
              <a:lnSpc>
                <a:spcPts val="2520"/>
              </a:lnSpc>
              <a:spcBef>
                <a:spcPts val="5"/>
              </a:spcBef>
            </a:pPr>
            <a:r>
              <a:rPr sz="1400" spc="-10" dirty="0">
                <a:latin typeface="Arial"/>
                <a:cs typeface="Arial"/>
              </a:rPr>
              <a:t>st2.setsAge(27); st2.setsName("Smith"); st2.setLib(lstLib2); em.persist(st1);</a:t>
            </a:r>
            <a:endParaRPr sz="1400">
              <a:latin typeface="Arial"/>
              <a:cs typeface="Arial"/>
            </a:endParaRPr>
          </a:p>
          <a:p>
            <a:pPr marL="12700" marR="579755">
              <a:lnSpc>
                <a:spcPts val="2520"/>
              </a:lnSpc>
            </a:pPr>
            <a:r>
              <a:rPr sz="1400" spc="-10" dirty="0">
                <a:latin typeface="Arial"/>
                <a:cs typeface="Arial"/>
              </a:rPr>
              <a:t>em.persist(st2); em.getTransaction().commit(); em.close();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sz="1400" spc="-50" dirty="0">
                <a:latin typeface="Arial"/>
                <a:cs typeface="Arial"/>
              </a:rPr>
              <a:t>}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400" spc="-50" dirty="0">
                <a:latin typeface="Arial"/>
                <a:cs typeface="Arial"/>
              </a:rPr>
              <a:t>}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JPA</a:t>
            </a:r>
            <a:r>
              <a:rPr spc="-10" dirty="0"/>
              <a:t> </a:t>
            </a:r>
            <a:r>
              <a:rPr dirty="0"/>
              <a:t>-</a:t>
            </a:r>
            <a:r>
              <a:rPr spc="-10" dirty="0"/>
              <a:t> Cascading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5"/>
              </a:lnSpc>
            </a:pPr>
            <a:fld id="{81D60167-4931-47E6-BA6A-407CBD079E47}" type="slidenum">
              <a:rPr spc="-25" dirty="0"/>
              <a:t>26</a:t>
            </a:fld>
            <a:endParaRPr spc="-2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5"/>
              </a:lnSpc>
            </a:pPr>
            <a:r>
              <a:rPr dirty="0"/>
              <a:t>ACE</a:t>
            </a:r>
            <a:r>
              <a:rPr spc="-45" dirty="0"/>
              <a:t> </a:t>
            </a:r>
            <a:r>
              <a:rPr dirty="0"/>
              <a:t>Professionals</a:t>
            </a:r>
            <a:r>
              <a:rPr spc="-75" dirty="0"/>
              <a:t> </a:t>
            </a:r>
            <a:r>
              <a:rPr dirty="0"/>
              <a:t>Development</a:t>
            </a:r>
            <a:r>
              <a:rPr spc="-60" dirty="0"/>
              <a:t> </a:t>
            </a:r>
            <a:r>
              <a:rPr spc="-10" dirty="0"/>
              <a:t>Center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5187" y="1178204"/>
            <a:ext cx="7407275" cy="33185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100"/>
              </a:lnSpc>
              <a:spcBef>
                <a:spcPts val="100"/>
              </a:spcBef>
            </a:pPr>
            <a:r>
              <a:rPr sz="1600" dirty="0">
                <a:latin typeface="Arial"/>
                <a:cs typeface="Arial"/>
              </a:rPr>
              <a:t>In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JPA,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if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any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operation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is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applied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on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an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entity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then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it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will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perform on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that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particular </a:t>
            </a:r>
            <a:r>
              <a:rPr sz="1600" dirty="0">
                <a:latin typeface="Arial"/>
                <a:cs typeface="Arial"/>
              </a:rPr>
              <a:t>entity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spc="-20" dirty="0">
                <a:latin typeface="Arial"/>
                <a:cs typeface="Arial"/>
              </a:rPr>
              <a:t>only.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These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operations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will</a:t>
            </a:r>
            <a:r>
              <a:rPr sz="1600" spc="-5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not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be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applicable</a:t>
            </a:r>
            <a:r>
              <a:rPr sz="1600" spc="-6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to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other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entities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that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are </a:t>
            </a:r>
            <a:r>
              <a:rPr sz="1600" dirty="0">
                <a:latin typeface="Arial"/>
                <a:cs typeface="Arial"/>
              </a:rPr>
              <a:t>related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to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it.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35"/>
              </a:spcBef>
            </a:pPr>
            <a:endParaRPr sz="1600">
              <a:latin typeface="Arial"/>
              <a:cs typeface="Arial"/>
            </a:endParaRPr>
          </a:p>
          <a:p>
            <a:pPr marL="12700" marR="676275">
              <a:lnSpc>
                <a:spcPct val="150100"/>
              </a:lnSpc>
              <a:spcBef>
                <a:spcPts val="5"/>
              </a:spcBef>
            </a:pPr>
            <a:r>
              <a:rPr sz="1600" spc="-65" dirty="0">
                <a:latin typeface="Arial"/>
                <a:cs typeface="Arial"/>
              </a:rPr>
              <a:t>To</a:t>
            </a:r>
            <a:r>
              <a:rPr sz="1600" spc="-5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establish</a:t>
            </a:r>
            <a:r>
              <a:rPr sz="1600" spc="-10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dependency</a:t>
            </a:r>
            <a:r>
              <a:rPr sz="1600" spc="-5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between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related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entities,</a:t>
            </a:r>
            <a:r>
              <a:rPr sz="1600" spc="-55" dirty="0">
                <a:latin typeface="Arial"/>
                <a:cs typeface="Arial"/>
              </a:rPr>
              <a:t> </a:t>
            </a:r>
            <a:r>
              <a:rPr sz="1600" spc="-45" dirty="0">
                <a:latin typeface="Arial"/>
                <a:cs typeface="Arial"/>
              </a:rPr>
              <a:t>JPA</a:t>
            </a:r>
            <a:r>
              <a:rPr sz="1600" spc="-9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provides javax.persistence.CascadeType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enumerated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types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that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define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cascade operations.</a:t>
            </a:r>
            <a:endParaRPr sz="1600">
              <a:latin typeface="Arial"/>
              <a:cs typeface="Arial"/>
            </a:endParaRPr>
          </a:p>
          <a:p>
            <a:pPr marL="12700" marR="829310">
              <a:lnSpc>
                <a:spcPct val="150000"/>
              </a:lnSpc>
            </a:pPr>
            <a:r>
              <a:rPr sz="1600" dirty="0">
                <a:latin typeface="Arial"/>
                <a:cs typeface="Arial"/>
              </a:rPr>
              <a:t>These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cascading</a:t>
            </a:r>
            <a:r>
              <a:rPr sz="1600" spc="-5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operations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can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be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defined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with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any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type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of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mapping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spc="-20" dirty="0">
                <a:latin typeface="Arial"/>
                <a:cs typeface="Arial"/>
              </a:rPr>
              <a:t>i.e. One-</a:t>
            </a:r>
            <a:r>
              <a:rPr sz="1600" spc="-10" dirty="0">
                <a:latin typeface="Arial"/>
                <a:cs typeface="Arial"/>
              </a:rPr>
              <a:t>to-</a:t>
            </a:r>
            <a:r>
              <a:rPr sz="1600" dirty="0">
                <a:latin typeface="Arial"/>
                <a:cs typeface="Arial"/>
              </a:rPr>
              <a:t>One,</a:t>
            </a:r>
            <a:r>
              <a:rPr sz="1600" spc="35" dirty="0">
                <a:latin typeface="Arial"/>
                <a:cs typeface="Arial"/>
              </a:rPr>
              <a:t> </a:t>
            </a:r>
            <a:r>
              <a:rPr sz="1600" spc="-20" dirty="0">
                <a:latin typeface="Arial"/>
                <a:cs typeface="Arial"/>
              </a:rPr>
              <a:t>One-</a:t>
            </a:r>
            <a:r>
              <a:rPr sz="1600" spc="-10" dirty="0">
                <a:latin typeface="Arial"/>
                <a:cs typeface="Arial"/>
              </a:rPr>
              <a:t>to-Many,</a:t>
            </a:r>
            <a:r>
              <a:rPr sz="1600" spc="35" dirty="0">
                <a:latin typeface="Arial"/>
                <a:cs typeface="Arial"/>
              </a:rPr>
              <a:t> </a:t>
            </a:r>
            <a:r>
              <a:rPr sz="1600" spc="-20" dirty="0">
                <a:latin typeface="Arial"/>
                <a:cs typeface="Arial"/>
              </a:rPr>
              <a:t>Many-</a:t>
            </a:r>
            <a:r>
              <a:rPr sz="1600" spc="-10" dirty="0">
                <a:latin typeface="Arial"/>
                <a:cs typeface="Arial"/>
              </a:rPr>
              <a:t>to-</a:t>
            </a:r>
            <a:r>
              <a:rPr sz="1600" dirty="0">
                <a:latin typeface="Arial"/>
                <a:cs typeface="Arial"/>
              </a:rPr>
              <a:t>One,</a:t>
            </a:r>
            <a:r>
              <a:rPr sz="1600" spc="45" dirty="0">
                <a:latin typeface="Arial"/>
                <a:cs typeface="Arial"/>
              </a:rPr>
              <a:t> </a:t>
            </a:r>
            <a:r>
              <a:rPr sz="1600" spc="-20" dirty="0">
                <a:latin typeface="Arial"/>
                <a:cs typeface="Arial"/>
              </a:rPr>
              <a:t>Many-</a:t>
            </a:r>
            <a:r>
              <a:rPr sz="1600" spc="-10" dirty="0">
                <a:latin typeface="Arial"/>
                <a:cs typeface="Arial"/>
              </a:rPr>
              <a:t>to-Many.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JPA</a:t>
            </a:r>
            <a:r>
              <a:rPr spc="-10" dirty="0"/>
              <a:t> </a:t>
            </a:r>
            <a:r>
              <a:rPr dirty="0"/>
              <a:t>-</a:t>
            </a:r>
            <a:r>
              <a:rPr spc="-10" dirty="0"/>
              <a:t> Cascading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7909" y="1337597"/>
            <a:ext cx="7648499" cy="468473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5"/>
              </a:lnSpc>
            </a:pPr>
            <a:fld id="{81D60167-4931-47E6-BA6A-407CBD079E47}" type="slidenum">
              <a:rPr spc="-25" dirty="0"/>
              <a:t>27</a:t>
            </a:fld>
            <a:endParaRPr spc="-2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5"/>
              </a:lnSpc>
            </a:pPr>
            <a:r>
              <a:rPr dirty="0"/>
              <a:t>ACE</a:t>
            </a:r>
            <a:r>
              <a:rPr spc="-45" dirty="0"/>
              <a:t> </a:t>
            </a:r>
            <a:r>
              <a:rPr dirty="0"/>
              <a:t>Professionals</a:t>
            </a:r>
            <a:r>
              <a:rPr spc="-75" dirty="0"/>
              <a:t> </a:t>
            </a:r>
            <a:r>
              <a:rPr dirty="0"/>
              <a:t>Development</a:t>
            </a:r>
            <a:r>
              <a:rPr spc="-60" dirty="0"/>
              <a:t> </a:t>
            </a:r>
            <a:r>
              <a:rPr spc="-10" dirty="0"/>
              <a:t>Center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JPA</a:t>
            </a:r>
            <a:r>
              <a:rPr spc="-10" dirty="0"/>
              <a:t> </a:t>
            </a:r>
            <a:r>
              <a:rPr dirty="0"/>
              <a:t>-</a:t>
            </a:r>
            <a:r>
              <a:rPr spc="-10" dirty="0"/>
              <a:t> </a:t>
            </a:r>
            <a:r>
              <a:rPr spc="-20" dirty="0"/>
              <a:t>JPQL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5"/>
              </a:lnSpc>
            </a:pPr>
            <a:fld id="{81D60167-4931-47E6-BA6A-407CBD079E47}" type="slidenum">
              <a:rPr spc="-25" dirty="0"/>
              <a:t>28</a:t>
            </a:fld>
            <a:endParaRPr spc="-2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5"/>
              </a:lnSpc>
            </a:pPr>
            <a:r>
              <a:rPr dirty="0"/>
              <a:t>ACE</a:t>
            </a:r>
            <a:r>
              <a:rPr spc="-45" dirty="0"/>
              <a:t> </a:t>
            </a:r>
            <a:r>
              <a:rPr dirty="0"/>
              <a:t>Professionals</a:t>
            </a:r>
            <a:r>
              <a:rPr spc="-75" dirty="0"/>
              <a:t> </a:t>
            </a:r>
            <a:r>
              <a:rPr dirty="0"/>
              <a:t>Development</a:t>
            </a:r>
            <a:r>
              <a:rPr spc="-60" dirty="0"/>
              <a:t> </a:t>
            </a:r>
            <a:r>
              <a:rPr spc="-10" dirty="0"/>
              <a:t>Center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5187" y="1201572"/>
            <a:ext cx="7585709" cy="4781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600" dirty="0">
                <a:latin typeface="Arial"/>
                <a:cs typeface="Arial"/>
              </a:rPr>
              <a:t>The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JPQL</a:t>
            </a:r>
            <a:r>
              <a:rPr sz="1600" spc="-8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(Java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Persistence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Query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Language)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is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an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object-</a:t>
            </a:r>
            <a:r>
              <a:rPr sz="1600" dirty="0">
                <a:latin typeface="Arial"/>
                <a:cs typeface="Arial"/>
              </a:rPr>
              <a:t>oriented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query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language </a:t>
            </a:r>
            <a:r>
              <a:rPr sz="1600" dirty="0">
                <a:latin typeface="Arial"/>
                <a:cs typeface="Arial"/>
              </a:rPr>
              <a:t>which</a:t>
            </a:r>
            <a:r>
              <a:rPr sz="1600" spc="-5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is</a:t>
            </a:r>
            <a:r>
              <a:rPr sz="1600" spc="-5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used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to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perform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database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operations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on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persistent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entities.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600" dirty="0">
                <a:latin typeface="Arial"/>
                <a:cs typeface="Arial"/>
              </a:rPr>
              <a:t>Instead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of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database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table,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JPQL</a:t>
            </a:r>
            <a:r>
              <a:rPr sz="1600" spc="-8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uses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entity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object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model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to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operate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25" dirty="0">
                <a:latin typeface="Arial"/>
                <a:cs typeface="Arial"/>
              </a:rPr>
              <a:t> SQL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600" spc="-10" dirty="0">
                <a:latin typeface="Arial"/>
                <a:cs typeface="Arial"/>
              </a:rPr>
              <a:t>queries.</a:t>
            </a:r>
            <a:endParaRPr sz="1600">
              <a:latin typeface="Arial"/>
              <a:cs typeface="Arial"/>
            </a:endParaRPr>
          </a:p>
          <a:p>
            <a:pPr marL="12700" marR="584835">
              <a:lnSpc>
                <a:spcPct val="150000"/>
              </a:lnSpc>
            </a:pPr>
            <a:r>
              <a:rPr sz="1600" dirty="0">
                <a:latin typeface="Arial"/>
                <a:cs typeface="Arial"/>
              </a:rPr>
              <a:t>Here,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role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of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spc="-45" dirty="0">
                <a:latin typeface="Arial"/>
                <a:cs typeface="Arial"/>
              </a:rPr>
              <a:t>JPA</a:t>
            </a:r>
            <a:r>
              <a:rPr sz="1600" spc="-9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is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to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transform</a:t>
            </a:r>
            <a:r>
              <a:rPr sz="1600" spc="-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JPQL</a:t>
            </a:r>
            <a:r>
              <a:rPr sz="1600" spc="-8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into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SQL.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Thus,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it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provides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an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spc="-20" dirty="0">
                <a:latin typeface="Arial"/>
                <a:cs typeface="Arial"/>
              </a:rPr>
              <a:t>easy </a:t>
            </a:r>
            <a:r>
              <a:rPr sz="1600" dirty="0">
                <a:latin typeface="Arial"/>
                <a:cs typeface="Arial"/>
              </a:rPr>
              <a:t>platform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for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developers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to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handle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SQL</a:t>
            </a:r>
            <a:r>
              <a:rPr sz="1600" spc="-8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tasks.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45"/>
              </a:spcBef>
            </a:pPr>
            <a:endParaRPr sz="1600">
              <a:latin typeface="Arial"/>
              <a:cs typeface="Arial"/>
            </a:endParaRPr>
          </a:p>
          <a:p>
            <a:pPr marL="12700" marR="336550">
              <a:lnSpc>
                <a:spcPct val="150000"/>
              </a:lnSpc>
            </a:pPr>
            <a:r>
              <a:rPr sz="1600" dirty="0">
                <a:latin typeface="Arial"/>
                <a:cs typeface="Arial"/>
              </a:rPr>
              <a:t>JPQL</a:t>
            </a:r>
            <a:r>
              <a:rPr sz="1600" spc="-8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is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an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extension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of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Entity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JavaBeans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Query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Language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(EJBQL),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adding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the </a:t>
            </a:r>
            <a:r>
              <a:rPr sz="1600" dirty="0">
                <a:latin typeface="Arial"/>
                <a:cs typeface="Arial"/>
              </a:rPr>
              <a:t>following</a:t>
            </a:r>
            <a:r>
              <a:rPr sz="1600" spc="-5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important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features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to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it: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spc="-50" dirty="0">
                <a:latin typeface="Arial"/>
                <a:cs typeface="Arial"/>
              </a:rPr>
              <a:t>-</a:t>
            </a:r>
            <a:endParaRPr sz="1600">
              <a:latin typeface="Arial"/>
              <a:cs typeface="Arial"/>
            </a:endParaRPr>
          </a:p>
          <a:p>
            <a:pPr marL="412115" indent="-282575">
              <a:lnSpc>
                <a:spcPct val="100000"/>
              </a:lnSpc>
              <a:spcBef>
                <a:spcPts val="960"/>
              </a:spcBef>
              <a:buChar char="•"/>
              <a:tabLst>
                <a:tab pos="412115" algn="l"/>
              </a:tabLst>
            </a:pPr>
            <a:r>
              <a:rPr sz="1600" dirty="0">
                <a:latin typeface="Arial"/>
                <a:cs typeface="Arial"/>
              </a:rPr>
              <a:t>It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can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perform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join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operations.</a:t>
            </a:r>
            <a:endParaRPr sz="1600">
              <a:latin typeface="Arial"/>
              <a:cs typeface="Arial"/>
            </a:endParaRPr>
          </a:p>
          <a:p>
            <a:pPr marL="412115" indent="-282575">
              <a:lnSpc>
                <a:spcPct val="100000"/>
              </a:lnSpc>
              <a:spcBef>
                <a:spcPts val="960"/>
              </a:spcBef>
              <a:buChar char="•"/>
              <a:tabLst>
                <a:tab pos="412115" algn="l"/>
              </a:tabLst>
            </a:pPr>
            <a:r>
              <a:rPr sz="1600" dirty="0">
                <a:latin typeface="Arial"/>
                <a:cs typeface="Arial"/>
              </a:rPr>
              <a:t>It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can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update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and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delete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data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in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bulk.</a:t>
            </a:r>
            <a:endParaRPr sz="1600">
              <a:latin typeface="Arial"/>
              <a:cs typeface="Arial"/>
            </a:endParaRPr>
          </a:p>
          <a:p>
            <a:pPr marL="412115" indent="-282575">
              <a:lnSpc>
                <a:spcPct val="100000"/>
              </a:lnSpc>
              <a:spcBef>
                <a:spcPts val="960"/>
              </a:spcBef>
              <a:buChar char="•"/>
              <a:tabLst>
                <a:tab pos="412115" algn="l"/>
              </a:tabLst>
            </a:pPr>
            <a:r>
              <a:rPr sz="1600" dirty="0">
                <a:latin typeface="Arial"/>
                <a:cs typeface="Arial"/>
              </a:rPr>
              <a:t>It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can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perform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aggregate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function</a:t>
            </a:r>
            <a:r>
              <a:rPr sz="1600" spc="-5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with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sorting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and</a:t>
            </a:r>
            <a:r>
              <a:rPr sz="1600" spc="-5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grouping</a:t>
            </a:r>
            <a:r>
              <a:rPr sz="1600" spc="-5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clauses.</a:t>
            </a:r>
            <a:endParaRPr sz="1600">
              <a:latin typeface="Arial"/>
              <a:cs typeface="Arial"/>
            </a:endParaRPr>
          </a:p>
          <a:p>
            <a:pPr marL="412115" indent="-282575">
              <a:lnSpc>
                <a:spcPct val="100000"/>
              </a:lnSpc>
              <a:spcBef>
                <a:spcPts val="960"/>
              </a:spcBef>
              <a:buChar char="•"/>
              <a:tabLst>
                <a:tab pos="412115" algn="l"/>
              </a:tabLst>
            </a:pPr>
            <a:r>
              <a:rPr sz="1600" dirty="0">
                <a:latin typeface="Arial"/>
                <a:cs typeface="Arial"/>
              </a:rPr>
              <a:t>Single</a:t>
            </a:r>
            <a:r>
              <a:rPr sz="1600" spc="-5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and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multiple</a:t>
            </a:r>
            <a:r>
              <a:rPr sz="1600" spc="-5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value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result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types.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JPQL</a:t>
            </a:r>
            <a:r>
              <a:rPr spc="-10" dirty="0"/>
              <a:t> Features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5"/>
              </a:lnSpc>
            </a:pPr>
            <a:fld id="{81D60167-4931-47E6-BA6A-407CBD079E47}" type="slidenum">
              <a:rPr spc="-25" dirty="0"/>
              <a:t>29</a:t>
            </a:fld>
            <a:endParaRPr spc="-2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5"/>
              </a:lnSpc>
            </a:pPr>
            <a:r>
              <a:rPr dirty="0"/>
              <a:t>ACE</a:t>
            </a:r>
            <a:r>
              <a:rPr spc="-45" dirty="0"/>
              <a:t> </a:t>
            </a:r>
            <a:r>
              <a:rPr dirty="0"/>
              <a:t>Professionals</a:t>
            </a:r>
            <a:r>
              <a:rPr spc="-75" dirty="0"/>
              <a:t> </a:t>
            </a:r>
            <a:r>
              <a:rPr dirty="0"/>
              <a:t>Development</a:t>
            </a:r>
            <a:r>
              <a:rPr spc="-60" dirty="0"/>
              <a:t> </a:t>
            </a:r>
            <a:r>
              <a:rPr spc="-10" dirty="0"/>
              <a:t>Center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5187" y="1415542"/>
            <a:ext cx="6501765" cy="2219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95"/>
              </a:spcBef>
              <a:buChar char="•"/>
              <a:tabLst>
                <a:tab pos="299085" algn="l"/>
              </a:tabLst>
            </a:pPr>
            <a:r>
              <a:rPr sz="1600" dirty="0">
                <a:latin typeface="Arial"/>
                <a:cs typeface="Arial"/>
              </a:rPr>
              <a:t>It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is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platform-</a:t>
            </a:r>
            <a:r>
              <a:rPr sz="1600" dirty="0">
                <a:latin typeface="Arial"/>
                <a:cs typeface="Arial"/>
              </a:rPr>
              <a:t>independent query</a:t>
            </a:r>
            <a:r>
              <a:rPr sz="1600" spc="-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language.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0"/>
              </a:spcBef>
              <a:buFont typeface="Arial"/>
              <a:buChar char="•"/>
            </a:pPr>
            <a:endParaRPr sz="160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1600" dirty="0">
                <a:latin typeface="Arial"/>
                <a:cs typeface="Arial"/>
              </a:rPr>
              <a:t>It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is</a:t>
            </a:r>
            <a:r>
              <a:rPr sz="1600" spc="-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simple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and</a:t>
            </a:r>
            <a:r>
              <a:rPr sz="1600" spc="-10" dirty="0">
                <a:latin typeface="Arial"/>
                <a:cs typeface="Arial"/>
              </a:rPr>
              <a:t> robust.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0"/>
              </a:spcBef>
              <a:buFont typeface="Arial"/>
              <a:buChar char="•"/>
            </a:pPr>
            <a:endParaRPr sz="160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Char char="•"/>
              <a:tabLst>
                <a:tab pos="299085" algn="l"/>
              </a:tabLst>
            </a:pPr>
            <a:r>
              <a:rPr sz="1600" dirty="0">
                <a:latin typeface="Arial"/>
                <a:cs typeface="Arial"/>
              </a:rPr>
              <a:t>It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can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be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used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with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any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type</a:t>
            </a:r>
            <a:r>
              <a:rPr sz="1600" spc="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of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database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such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as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MySQL,</a:t>
            </a:r>
            <a:r>
              <a:rPr sz="1600" spc="2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Oracle.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5"/>
              </a:spcBef>
              <a:buFont typeface="Arial"/>
              <a:buChar char="•"/>
            </a:pPr>
            <a:endParaRPr sz="160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Char char="•"/>
              <a:tabLst>
                <a:tab pos="299085" algn="l"/>
              </a:tabLst>
            </a:pPr>
            <a:r>
              <a:rPr sz="1600" dirty="0">
                <a:latin typeface="Arial"/>
                <a:cs typeface="Arial"/>
              </a:rPr>
              <a:t>JPQL</a:t>
            </a:r>
            <a:r>
              <a:rPr sz="1600" spc="-8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queries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can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be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declared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statically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into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metadata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or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can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also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be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5"/>
              </a:spcBef>
              <a:buFont typeface="Arial"/>
              <a:buChar char="•"/>
            </a:pPr>
            <a:endParaRPr sz="160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Char char="•"/>
              <a:tabLst>
                <a:tab pos="299085" algn="l"/>
              </a:tabLst>
            </a:pPr>
            <a:r>
              <a:rPr sz="1600" dirty="0">
                <a:latin typeface="Arial"/>
                <a:cs typeface="Arial"/>
              </a:rPr>
              <a:t>dynamically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built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in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spc="-20" dirty="0">
                <a:latin typeface="Arial"/>
                <a:cs typeface="Arial"/>
              </a:rPr>
              <a:t>code.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Creating</a:t>
            </a:r>
            <a:r>
              <a:rPr spc="-65" dirty="0"/>
              <a:t> </a:t>
            </a:r>
            <a:r>
              <a:rPr dirty="0"/>
              <a:t>Queries</a:t>
            </a:r>
            <a:r>
              <a:rPr spc="-65" dirty="0"/>
              <a:t> </a:t>
            </a:r>
            <a:r>
              <a:rPr dirty="0"/>
              <a:t>in</a:t>
            </a:r>
            <a:r>
              <a:rPr spc="-65" dirty="0"/>
              <a:t> </a:t>
            </a:r>
            <a:r>
              <a:rPr spc="-20" dirty="0"/>
              <a:t>JPQL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5"/>
              </a:lnSpc>
            </a:pPr>
            <a:fld id="{81D60167-4931-47E6-BA6A-407CBD079E47}" type="slidenum">
              <a:rPr spc="-25" dirty="0"/>
              <a:t>30</a:t>
            </a:fld>
            <a:endParaRPr spc="-2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5"/>
              </a:lnSpc>
            </a:pPr>
            <a:r>
              <a:rPr dirty="0"/>
              <a:t>ACE</a:t>
            </a:r>
            <a:r>
              <a:rPr spc="-45" dirty="0"/>
              <a:t> </a:t>
            </a:r>
            <a:r>
              <a:rPr dirty="0"/>
              <a:t>Professionals</a:t>
            </a:r>
            <a:r>
              <a:rPr spc="-75" dirty="0"/>
              <a:t> </a:t>
            </a:r>
            <a:r>
              <a:rPr dirty="0"/>
              <a:t>Development</a:t>
            </a:r>
            <a:r>
              <a:rPr spc="-60" dirty="0"/>
              <a:t> </a:t>
            </a:r>
            <a:r>
              <a:rPr spc="-10" dirty="0"/>
              <a:t>Center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5187" y="1415542"/>
            <a:ext cx="7620634" cy="36836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Arial"/>
                <a:cs typeface="Arial"/>
              </a:rPr>
              <a:t>JPQL</a:t>
            </a:r>
            <a:r>
              <a:rPr sz="1600" spc="-9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provides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two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methods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that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can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be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used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to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access</a:t>
            </a:r>
            <a:r>
              <a:rPr sz="1600" spc="-5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database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records.</a:t>
            </a:r>
            <a:r>
              <a:rPr sz="1600" spc="-5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These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latin typeface="Arial"/>
                <a:cs typeface="Arial"/>
              </a:rPr>
              <a:t>methods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are: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spc="-50" dirty="0">
                <a:latin typeface="Arial"/>
                <a:cs typeface="Arial"/>
              </a:rPr>
              <a:t>-</a:t>
            </a:r>
            <a:endParaRPr sz="1600">
              <a:latin typeface="Arial"/>
              <a:cs typeface="Arial"/>
            </a:endParaRPr>
          </a:p>
          <a:p>
            <a:pPr marL="12700" marR="5080" indent="286385">
              <a:lnSpc>
                <a:spcPct val="200000"/>
              </a:lnSpc>
              <a:spcBef>
                <a:spcPts val="5"/>
              </a:spcBef>
              <a:buFont typeface="Arial"/>
              <a:buChar char="•"/>
              <a:tabLst>
                <a:tab pos="299085" algn="l"/>
              </a:tabLst>
            </a:pPr>
            <a:r>
              <a:rPr sz="1600" b="1" dirty="0">
                <a:latin typeface="Arial"/>
                <a:cs typeface="Arial"/>
              </a:rPr>
              <a:t>Query</a:t>
            </a:r>
            <a:r>
              <a:rPr sz="1600" b="1" spc="-25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createQuery(String</a:t>
            </a:r>
            <a:r>
              <a:rPr sz="1600" b="1" spc="1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name)</a:t>
            </a:r>
            <a:r>
              <a:rPr sz="1600" b="1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-</a:t>
            </a:r>
            <a:r>
              <a:rPr sz="1600" spc="-6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createQuery()</a:t>
            </a:r>
            <a:r>
              <a:rPr sz="1600" spc="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method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of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EntityManager </a:t>
            </a:r>
            <a:r>
              <a:rPr sz="1600" dirty="0">
                <a:latin typeface="Arial"/>
                <a:cs typeface="Arial"/>
              </a:rPr>
              <a:t>interface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is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used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to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create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an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instance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of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Query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interface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for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executing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spc="-20" dirty="0">
                <a:latin typeface="Arial"/>
                <a:cs typeface="Arial"/>
              </a:rPr>
              <a:t>JPQL </a:t>
            </a:r>
            <a:r>
              <a:rPr sz="1600" spc="-10" dirty="0">
                <a:latin typeface="Arial"/>
                <a:cs typeface="Arial"/>
              </a:rPr>
              <a:t>statement.</a:t>
            </a:r>
            <a:endParaRPr sz="1600">
              <a:latin typeface="Arial"/>
              <a:cs typeface="Arial"/>
            </a:endParaRPr>
          </a:p>
          <a:p>
            <a:pPr marL="12700" marR="36830" indent="286385">
              <a:lnSpc>
                <a:spcPct val="200000"/>
              </a:lnSpc>
              <a:buFont typeface="Arial"/>
              <a:buChar char="•"/>
              <a:tabLst>
                <a:tab pos="299085" algn="l"/>
              </a:tabLst>
            </a:pPr>
            <a:r>
              <a:rPr sz="1600" b="1" dirty="0">
                <a:latin typeface="Arial"/>
                <a:cs typeface="Arial"/>
              </a:rPr>
              <a:t>Query</a:t>
            </a:r>
            <a:r>
              <a:rPr sz="1600" b="1" spc="-30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createNamedQuery(String</a:t>
            </a:r>
            <a:r>
              <a:rPr sz="1600" b="1" spc="1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name)</a:t>
            </a:r>
            <a:r>
              <a:rPr sz="1600" b="1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-</a:t>
            </a:r>
            <a:r>
              <a:rPr sz="1600" spc="-6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5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createNamedQuery()</a:t>
            </a:r>
            <a:r>
              <a:rPr sz="1600" spc="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method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of </a:t>
            </a:r>
            <a:r>
              <a:rPr sz="1600" dirty="0">
                <a:latin typeface="Arial"/>
                <a:cs typeface="Arial"/>
              </a:rPr>
              <a:t>EntityManager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interface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is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used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to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create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an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instance</a:t>
            </a:r>
            <a:r>
              <a:rPr sz="1600" spc="-5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of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Query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interface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for </a:t>
            </a:r>
            <a:r>
              <a:rPr sz="1600" dirty="0">
                <a:latin typeface="Arial"/>
                <a:cs typeface="Arial"/>
              </a:rPr>
              <a:t>executing</a:t>
            </a:r>
            <a:r>
              <a:rPr sz="1600" spc="-6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named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queries.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JPQL</a:t>
            </a:r>
            <a:r>
              <a:rPr spc="-50" dirty="0"/>
              <a:t> </a:t>
            </a:r>
            <a:r>
              <a:rPr dirty="0"/>
              <a:t>Basic</a:t>
            </a:r>
            <a:r>
              <a:rPr spc="-50" dirty="0"/>
              <a:t> </a:t>
            </a:r>
            <a:r>
              <a:rPr spc="-10" dirty="0"/>
              <a:t>Operations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5"/>
              </a:lnSpc>
            </a:pPr>
            <a:fld id="{81D60167-4931-47E6-BA6A-407CBD079E47}" type="slidenum">
              <a:rPr spc="-25" dirty="0"/>
              <a:t>31</a:t>
            </a:fld>
            <a:endParaRPr spc="-2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5"/>
              </a:lnSpc>
            </a:pPr>
            <a:r>
              <a:rPr dirty="0"/>
              <a:t>ACE</a:t>
            </a:r>
            <a:r>
              <a:rPr spc="-45" dirty="0"/>
              <a:t> </a:t>
            </a:r>
            <a:r>
              <a:rPr dirty="0"/>
              <a:t>Professionals</a:t>
            </a:r>
            <a:r>
              <a:rPr spc="-75" dirty="0"/>
              <a:t> </a:t>
            </a:r>
            <a:r>
              <a:rPr dirty="0"/>
              <a:t>Development</a:t>
            </a:r>
            <a:r>
              <a:rPr spc="-60" dirty="0"/>
              <a:t> </a:t>
            </a:r>
            <a:r>
              <a:rPr spc="-10" dirty="0"/>
              <a:t>Center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3864" y="1277772"/>
            <a:ext cx="2409825" cy="4050029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sz="1600" b="1" spc="-10" dirty="0">
                <a:latin typeface="Arial"/>
                <a:cs typeface="Arial"/>
              </a:rPr>
              <a:t>Student.java</a:t>
            </a:r>
            <a:endParaRPr sz="1600">
              <a:latin typeface="Arial"/>
              <a:cs typeface="Arial"/>
            </a:endParaRPr>
          </a:p>
          <a:p>
            <a:pPr marL="12700" marR="5080">
              <a:lnSpc>
                <a:spcPts val="2880"/>
              </a:lnSpc>
              <a:spcBef>
                <a:spcPts val="254"/>
              </a:spcBef>
            </a:pPr>
            <a:r>
              <a:rPr sz="1600" dirty="0">
                <a:latin typeface="Arial"/>
                <a:cs typeface="Arial"/>
              </a:rPr>
              <a:t>import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javax.persistence.*; @Entity</a:t>
            </a:r>
            <a:endParaRPr sz="1600">
              <a:latin typeface="Arial"/>
              <a:cs typeface="Arial"/>
            </a:endParaRPr>
          </a:p>
          <a:p>
            <a:pPr marL="12700" marR="12700">
              <a:lnSpc>
                <a:spcPts val="2880"/>
              </a:lnSpc>
              <a:spcBef>
                <a:spcPts val="5"/>
              </a:spcBef>
            </a:pPr>
            <a:r>
              <a:rPr sz="1600" spc="-20" dirty="0">
                <a:latin typeface="Arial"/>
                <a:cs typeface="Arial"/>
              </a:rPr>
              <a:t>@Table(name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=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"student") </a:t>
            </a:r>
            <a:r>
              <a:rPr sz="1600" dirty="0">
                <a:latin typeface="Arial"/>
                <a:cs typeface="Arial"/>
              </a:rPr>
              <a:t>public</a:t>
            </a:r>
            <a:r>
              <a:rPr sz="1600" spc="-6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class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Student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spc="-50" dirty="0">
                <a:latin typeface="Arial"/>
                <a:cs typeface="Arial"/>
              </a:rPr>
              <a:t>{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1600" spc="-25" dirty="0">
                <a:latin typeface="Arial"/>
                <a:cs typeface="Arial"/>
              </a:rPr>
              <a:t>@Id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600" dirty="0">
                <a:latin typeface="Arial"/>
                <a:cs typeface="Arial"/>
              </a:rPr>
              <a:t>private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int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spc="-20" dirty="0">
                <a:latin typeface="Arial"/>
                <a:cs typeface="Arial"/>
              </a:rPr>
              <a:t>sId;</a:t>
            </a:r>
            <a:endParaRPr sz="1600">
              <a:latin typeface="Arial"/>
              <a:cs typeface="Arial"/>
            </a:endParaRPr>
          </a:p>
          <a:p>
            <a:pPr marL="12700" marR="434975">
              <a:lnSpc>
                <a:spcPct val="150000"/>
              </a:lnSpc>
              <a:spcBef>
                <a:spcPts val="5"/>
              </a:spcBef>
            </a:pPr>
            <a:r>
              <a:rPr sz="1600" dirty="0">
                <a:latin typeface="Arial"/>
                <a:cs typeface="Arial"/>
              </a:rPr>
              <a:t>private</a:t>
            </a:r>
            <a:r>
              <a:rPr sz="1600" spc="-6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String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sName; </a:t>
            </a:r>
            <a:r>
              <a:rPr sz="1600" dirty="0">
                <a:latin typeface="Arial"/>
                <a:cs typeface="Arial"/>
              </a:rPr>
              <a:t>private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int</a:t>
            </a:r>
            <a:r>
              <a:rPr sz="1600" spc="-20" dirty="0">
                <a:latin typeface="Arial"/>
                <a:cs typeface="Arial"/>
              </a:rPr>
              <a:t> sAge;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600" dirty="0">
                <a:latin typeface="Arial"/>
                <a:cs typeface="Arial"/>
              </a:rPr>
              <a:t>//</a:t>
            </a:r>
            <a:r>
              <a:rPr sz="1600" spc="-6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getter,</a:t>
            </a:r>
            <a:r>
              <a:rPr sz="1600" spc="-5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setter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600" spc="-50" dirty="0">
                <a:latin typeface="Arial"/>
                <a:cs typeface="Arial"/>
              </a:rPr>
              <a:t>}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JPQL</a:t>
            </a:r>
            <a:r>
              <a:rPr spc="-50" dirty="0"/>
              <a:t> </a:t>
            </a:r>
            <a:r>
              <a:rPr dirty="0"/>
              <a:t>Basic</a:t>
            </a:r>
            <a:r>
              <a:rPr spc="-50" dirty="0"/>
              <a:t> </a:t>
            </a:r>
            <a:r>
              <a:rPr spc="-10" dirty="0"/>
              <a:t>Operations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5"/>
              </a:lnSpc>
            </a:pPr>
            <a:fld id="{81D60167-4931-47E6-BA6A-407CBD079E47}" type="slidenum">
              <a:rPr spc="-25" dirty="0"/>
              <a:t>32</a:t>
            </a:fld>
            <a:endParaRPr spc="-2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5"/>
              </a:lnSpc>
            </a:pPr>
            <a:r>
              <a:rPr dirty="0"/>
              <a:t>ACE</a:t>
            </a:r>
            <a:r>
              <a:rPr spc="-45" dirty="0"/>
              <a:t> </a:t>
            </a:r>
            <a:r>
              <a:rPr dirty="0"/>
              <a:t>Professionals</a:t>
            </a:r>
            <a:r>
              <a:rPr spc="-75" dirty="0"/>
              <a:t> </a:t>
            </a:r>
            <a:r>
              <a:rPr dirty="0"/>
              <a:t>Development</a:t>
            </a:r>
            <a:r>
              <a:rPr spc="-60" dirty="0"/>
              <a:t> </a:t>
            </a:r>
            <a:r>
              <a:rPr spc="-10" dirty="0"/>
              <a:t>Center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3864" y="1285087"/>
            <a:ext cx="5212715" cy="4827270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400" b="1" spc="-10" dirty="0">
                <a:latin typeface="Arial"/>
                <a:cs typeface="Arial"/>
              </a:rPr>
              <a:t>FetchColumn.java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400" dirty="0">
                <a:latin typeface="Arial"/>
                <a:cs typeface="Arial"/>
              </a:rPr>
              <a:t>public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class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FetchColumn</a:t>
            </a:r>
            <a:r>
              <a:rPr sz="1400" spc="-50" dirty="0">
                <a:latin typeface="Arial"/>
                <a:cs typeface="Arial"/>
              </a:rPr>
              <a:t> {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400" dirty="0">
                <a:latin typeface="Arial"/>
                <a:cs typeface="Arial"/>
              </a:rPr>
              <a:t>public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static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void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main(String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args[])</a:t>
            </a:r>
            <a:r>
              <a:rPr sz="1400" spc="-65" dirty="0">
                <a:latin typeface="Arial"/>
                <a:cs typeface="Arial"/>
              </a:rPr>
              <a:t> </a:t>
            </a:r>
            <a:r>
              <a:rPr sz="1400" spc="-50" dirty="0">
                <a:latin typeface="Arial"/>
                <a:cs typeface="Arial"/>
              </a:rPr>
              <a:t>{</a:t>
            </a:r>
            <a:endParaRPr sz="1400">
              <a:latin typeface="Arial"/>
              <a:cs typeface="Arial"/>
            </a:endParaRPr>
          </a:p>
          <a:p>
            <a:pPr marL="12700" marR="222250">
              <a:lnSpc>
                <a:spcPct val="150000"/>
              </a:lnSpc>
            </a:pPr>
            <a:r>
              <a:rPr sz="1400" spc="-10" dirty="0">
                <a:latin typeface="Arial"/>
                <a:cs typeface="Arial"/>
              </a:rPr>
              <a:t>EntityManagerFactory</a:t>
            </a:r>
            <a:r>
              <a:rPr sz="1400" spc="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emf</a:t>
            </a:r>
            <a:r>
              <a:rPr sz="1400" spc="45" dirty="0">
                <a:latin typeface="Arial"/>
                <a:cs typeface="Arial"/>
              </a:rPr>
              <a:t> </a:t>
            </a:r>
            <a:r>
              <a:rPr sz="1400" spc="-50" dirty="0">
                <a:latin typeface="Arial"/>
                <a:cs typeface="Arial"/>
              </a:rPr>
              <a:t>= </a:t>
            </a:r>
            <a:r>
              <a:rPr sz="1400" spc="-10" dirty="0">
                <a:latin typeface="Arial"/>
                <a:cs typeface="Arial"/>
              </a:rPr>
              <a:t>Persistence.createEntityManagerFactory("JPASampleProject"); </a:t>
            </a:r>
            <a:r>
              <a:rPr sz="1400" dirty="0">
                <a:latin typeface="Arial"/>
                <a:cs typeface="Arial"/>
              </a:rPr>
              <a:t>EntityManager</a:t>
            </a:r>
            <a:r>
              <a:rPr sz="1400" spc="-6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em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=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emf.createEntityManager();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400" dirty="0">
                <a:latin typeface="Arial"/>
                <a:cs typeface="Arial"/>
              </a:rPr>
              <a:t>Query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query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=</a:t>
            </a:r>
            <a:r>
              <a:rPr sz="1400" spc="1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em.createQuery("Select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s.sName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from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Student</a:t>
            </a:r>
            <a:r>
              <a:rPr sz="1400" spc="-20" dirty="0">
                <a:latin typeface="Arial"/>
                <a:cs typeface="Arial"/>
              </a:rPr>
              <a:t> s");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400" dirty="0">
                <a:latin typeface="Arial"/>
                <a:cs typeface="Arial"/>
              </a:rPr>
              <a:t>List&lt;String&gt;</a:t>
            </a:r>
            <a:r>
              <a:rPr sz="1400" spc="-6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list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=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query.getResultList();</a:t>
            </a:r>
            <a:endParaRPr sz="1400">
              <a:latin typeface="Arial"/>
              <a:cs typeface="Arial"/>
            </a:endParaRPr>
          </a:p>
          <a:p>
            <a:pPr marL="12700" marR="2244090">
              <a:lnSpc>
                <a:spcPct val="150000"/>
              </a:lnSpc>
              <a:spcBef>
                <a:spcPts val="5"/>
              </a:spcBef>
            </a:pPr>
            <a:r>
              <a:rPr sz="1400" spc="-10" dirty="0">
                <a:latin typeface="Arial"/>
                <a:cs typeface="Arial"/>
              </a:rPr>
              <a:t>System.out.println("Student</a:t>
            </a:r>
            <a:r>
              <a:rPr sz="1400" spc="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Name</a:t>
            </a:r>
            <a:r>
              <a:rPr sz="1400" spc="55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:"); </a:t>
            </a:r>
            <a:r>
              <a:rPr sz="1400" dirty="0">
                <a:latin typeface="Arial"/>
                <a:cs typeface="Arial"/>
              </a:rPr>
              <a:t>for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(String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: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list)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spc="-50" dirty="0">
                <a:latin typeface="Arial"/>
                <a:cs typeface="Arial"/>
              </a:rPr>
              <a:t>{ </a:t>
            </a:r>
            <a:r>
              <a:rPr sz="1400" spc="-10" dirty="0">
                <a:latin typeface="Arial"/>
                <a:cs typeface="Arial"/>
              </a:rPr>
              <a:t>System.out.println(s);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400" spc="-50" dirty="0">
                <a:latin typeface="Arial"/>
                <a:cs typeface="Arial"/>
              </a:rPr>
              <a:t>}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400" spc="-10" dirty="0">
                <a:latin typeface="Arial"/>
                <a:cs typeface="Arial"/>
              </a:rPr>
              <a:t>em.close();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400" spc="-50" dirty="0">
                <a:latin typeface="Arial"/>
                <a:cs typeface="Arial"/>
              </a:rPr>
              <a:t>}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400" spc="-50" dirty="0">
                <a:latin typeface="Arial"/>
                <a:cs typeface="Arial"/>
              </a:rPr>
              <a:t>}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JPQL</a:t>
            </a:r>
            <a:r>
              <a:rPr spc="-50" dirty="0"/>
              <a:t> </a:t>
            </a:r>
            <a:r>
              <a:rPr dirty="0"/>
              <a:t>Static</a:t>
            </a:r>
            <a:r>
              <a:rPr spc="-30" dirty="0"/>
              <a:t> </a:t>
            </a:r>
            <a:r>
              <a:rPr spc="-10" dirty="0"/>
              <a:t>Query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5"/>
              </a:lnSpc>
            </a:pPr>
            <a:fld id="{81D60167-4931-47E6-BA6A-407CBD079E47}" type="slidenum">
              <a:rPr spc="-25" dirty="0"/>
              <a:t>33</a:t>
            </a:fld>
            <a:endParaRPr spc="-2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5"/>
              </a:lnSpc>
            </a:pPr>
            <a:r>
              <a:rPr dirty="0"/>
              <a:t>ACE</a:t>
            </a:r>
            <a:r>
              <a:rPr spc="-45" dirty="0"/>
              <a:t> </a:t>
            </a:r>
            <a:r>
              <a:rPr dirty="0"/>
              <a:t>Professionals</a:t>
            </a:r>
            <a:r>
              <a:rPr spc="-75" dirty="0"/>
              <a:t> </a:t>
            </a:r>
            <a:r>
              <a:rPr dirty="0"/>
              <a:t>Development</a:t>
            </a:r>
            <a:r>
              <a:rPr spc="-60" dirty="0"/>
              <a:t> </a:t>
            </a:r>
            <a:r>
              <a:rPr spc="-10" dirty="0"/>
              <a:t>Center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3864" y="1391157"/>
            <a:ext cx="6274435" cy="47212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latin typeface="Arial"/>
                <a:cs typeface="Arial"/>
              </a:rPr>
              <a:t>Student.java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latin typeface="Arial"/>
                <a:cs typeface="Arial"/>
              </a:rPr>
              <a:t>import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javax.persistence.*;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400" spc="-10" dirty="0">
                <a:latin typeface="Arial"/>
                <a:cs typeface="Arial"/>
              </a:rPr>
              <a:t>@Entity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400" spc="-20" dirty="0">
                <a:latin typeface="Arial"/>
                <a:cs typeface="Arial"/>
              </a:rPr>
              <a:t>@Table(name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=</a:t>
            </a:r>
            <a:r>
              <a:rPr sz="1400" spc="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"student")</a:t>
            </a:r>
            <a:endParaRPr sz="1400">
              <a:latin typeface="Arial"/>
              <a:cs typeface="Arial"/>
            </a:endParaRPr>
          </a:p>
          <a:p>
            <a:pPr marL="12700" marR="5080">
              <a:lnSpc>
                <a:spcPct val="150000"/>
              </a:lnSpc>
            </a:pPr>
            <a:r>
              <a:rPr sz="1400" dirty="0">
                <a:latin typeface="Arial"/>
                <a:cs typeface="Arial"/>
              </a:rPr>
              <a:t>@NamedQuery(name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=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"findName"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,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query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=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"Select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s.sName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from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Student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s") </a:t>
            </a:r>
            <a:r>
              <a:rPr sz="1400" dirty="0">
                <a:latin typeface="Arial"/>
                <a:cs typeface="Arial"/>
              </a:rPr>
              <a:t>public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class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Student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spc="-50" dirty="0">
                <a:latin typeface="Arial"/>
                <a:cs typeface="Arial"/>
              </a:rPr>
              <a:t>{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400" spc="-25" dirty="0">
                <a:latin typeface="Arial"/>
                <a:cs typeface="Arial"/>
              </a:rPr>
              <a:t>@Id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45"/>
              </a:spcBef>
            </a:pPr>
            <a:r>
              <a:rPr sz="1400" dirty="0">
                <a:latin typeface="Arial"/>
                <a:cs typeface="Arial"/>
              </a:rPr>
              <a:t>private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int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sId;</a:t>
            </a:r>
            <a:endParaRPr sz="1400">
              <a:latin typeface="Arial"/>
              <a:cs typeface="Arial"/>
            </a:endParaRPr>
          </a:p>
          <a:p>
            <a:pPr marL="12700" marR="4545330">
              <a:lnSpc>
                <a:spcPct val="150000"/>
              </a:lnSpc>
            </a:pPr>
            <a:r>
              <a:rPr sz="1400" dirty="0">
                <a:latin typeface="Arial"/>
                <a:cs typeface="Arial"/>
              </a:rPr>
              <a:t>private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String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sName; </a:t>
            </a:r>
            <a:r>
              <a:rPr sz="1400" dirty="0">
                <a:latin typeface="Arial"/>
                <a:cs typeface="Arial"/>
              </a:rPr>
              <a:t>private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int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sAge;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400" spc="-10" dirty="0">
                <a:latin typeface="Arial"/>
                <a:cs typeface="Arial"/>
              </a:rPr>
              <a:t>//getter,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setter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400" spc="-50" dirty="0">
                <a:latin typeface="Arial"/>
                <a:cs typeface="Arial"/>
              </a:rPr>
              <a:t>}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400" dirty="0">
                <a:latin typeface="Arial"/>
                <a:cs typeface="Arial"/>
              </a:rPr>
              <a:t>Replace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with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following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code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in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FetchColumn.java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400" b="1" dirty="0">
                <a:latin typeface="Arial"/>
                <a:cs typeface="Arial"/>
              </a:rPr>
              <a:t>Query</a:t>
            </a:r>
            <a:r>
              <a:rPr sz="1400" b="1" spc="-4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query</a:t>
            </a:r>
            <a:r>
              <a:rPr sz="1400" b="1" spc="-3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=</a:t>
            </a:r>
            <a:r>
              <a:rPr sz="1400" b="1" spc="-15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em.createNamedQuery("findName");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JPQL</a:t>
            </a:r>
            <a:r>
              <a:rPr spc="-25" dirty="0"/>
              <a:t> </a:t>
            </a:r>
            <a:r>
              <a:rPr dirty="0"/>
              <a:t>Bulk</a:t>
            </a:r>
            <a:r>
              <a:rPr spc="-40" dirty="0"/>
              <a:t> </a:t>
            </a:r>
            <a:r>
              <a:rPr dirty="0"/>
              <a:t>Data</a:t>
            </a:r>
            <a:r>
              <a:rPr spc="-30" dirty="0"/>
              <a:t> </a:t>
            </a:r>
            <a:r>
              <a:rPr spc="-10" dirty="0"/>
              <a:t>Operations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5"/>
              </a:lnSpc>
            </a:pPr>
            <a:fld id="{81D60167-4931-47E6-BA6A-407CBD079E47}" type="slidenum">
              <a:rPr spc="-25" dirty="0"/>
              <a:t>34</a:t>
            </a:fld>
            <a:endParaRPr spc="-2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5"/>
              </a:lnSpc>
            </a:pPr>
            <a:r>
              <a:rPr dirty="0"/>
              <a:t>ACE</a:t>
            </a:r>
            <a:r>
              <a:rPr spc="-45" dirty="0"/>
              <a:t> </a:t>
            </a:r>
            <a:r>
              <a:rPr dirty="0"/>
              <a:t>Professionals</a:t>
            </a:r>
            <a:r>
              <a:rPr spc="-75" dirty="0"/>
              <a:t> </a:t>
            </a:r>
            <a:r>
              <a:rPr dirty="0"/>
              <a:t>Development</a:t>
            </a:r>
            <a:r>
              <a:rPr spc="-60" dirty="0"/>
              <a:t> </a:t>
            </a:r>
            <a:r>
              <a:rPr spc="-10" dirty="0"/>
              <a:t>Center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3864" y="1285087"/>
            <a:ext cx="6724015" cy="4827270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400" b="1" spc="-10" dirty="0">
                <a:latin typeface="Arial"/>
                <a:cs typeface="Arial"/>
              </a:rPr>
              <a:t>FindAllStudent.java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400" dirty="0">
                <a:latin typeface="Arial"/>
                <a:cs typeface="Arial"/>
              </a:rPr>
              <a:t>import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java.util.List;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400" dirty="0">
                <a:latin typeface="Arial"/>
                <a:cs typeface="Arial"/>
              </a:rPr>
              <a:t>import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javax.persistence.*;</a:t>
            </a:r>
            <a:endParaRPr sz="1400">
              <a:latin typeface="Arial"/>
              <a:cs typeface="Arial"/>
            </a:endParaRPr>
          </a:p>
          <a:p>
            <a:pPr marL="12700" marR="4293870">
              <a:lnSpc>
                <a:spcPct val="150000"/>
              </a:lnSpc>
            </a:pPr>
            <a:r>
              <a:rPr sz="1400" dirty="0">
                <a:latin typeface="Arial"/>
                <a:cs typeface="Arial"/>
              </a:rPr>
              <a:t>import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com.jpa.model.Student; </a:t>
            </a:r>
            <a:r>
              <a:rPr sz="1400" dirty="0">
                <a:latin typeface="Arial"/>
                <a:cs typeface="Arial"/>
              </a:rPr>
              <a:t>public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class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FindAllStudent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spc="-50" dirty="0">
                <a:latin typeface="Arial"/>
                <a:cs typeface="Arial"/>
              </a:rPr>
              <a:t>{</a:t>
            </a:r>
            <a:endParaRPr sz="1400">
              <a:latin typeface="Arial"/>
              <a:cs typeface="Arial"/>
            </a:endParaRPr>
          </a:p>
          <a:p>
            <a:pPr marL="12700" marR="3785870">
              <a:lnSpc>
                <a:spcPct val="150000"/>
              </a:lnSpc>
            </a:pPr>
            <a:r>
              <a:rPr sz="1400" dirty="0">
                <a:latin typeface="Arial"/>
                <a:cs typeface="Arial"/>
              </a:rPr>
              <a:t>public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static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void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main(String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args[])</a:t>
            </a:r>
            <a:r>
              <a:rPr sz="1400" spc="-60" dirty="0">
                <a:latin typeface="Arial"/>
                <a:cs typeface="Arial"/>
              </a:rPr>
              <a:t> </a:t>
            </a:r>
            <a:r>
              <a:rPr sz="1400" spc="-50" dirty="0">
                <a:latin typeface="Arial"/>
                <a:cs typeface="Arial"/>
              </a:rPr>
              <a:t>{ </a:t>
            </a:r>
            <a:r>
              <a:rPr sz="1400" spc="-10" dirty="0">
                <a:latin typeface="Arial"/>
                <a:cs typeface="Arial"/>
              </a:rPr>
              <a:t>EntityManagerFactory</a:t>
            </a:r>
            <a:r>
              <a:rPr sz="1400" spc="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emf</a:t>
            </a:r>
            <a:r>
              <a:rPr sz="1400" spc="45" dirty="0">
                <a:latin typeface="Arial"/>
                <a:cs typeface="Arial"/>
              </a:rPr>
              <a:t> </a:t>
            </a:r>
            <a:r>
              <a:rPr sz="1400" spc="-50" dirty="0">
                <a:latin typeface="Arial"/>
                <a:cs typeface="Arial"/>
              </a:rPr>
              <a:t>=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400" spc="-10" dirty="0">
                <a:latin typeface="Arial"/>
                <a:cs typeface="Arial"/>
              </a:rPr>
              <a:t>Persistence.createEntityManagerFactory("JPASampleProject");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45"/>
              </a:spcBef>
            </a:pPr>
            <a:r>
              <a:rPr sz="1400" dirty="0">
                <a:latin typeface="Arial"/>
                <a:cs typeface="Arial"/>
              </a:rPr>
              <a:t>EntityManager</a:t>
            </a:r>
            <a:r>
              <a:rPr sz="1400" spc="-6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em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=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emf.createEntityManager();</a:t>
            </a:r>
            <a:endParaRPr sz="1400">
              <a:latin typeface="Arial"/>
              <a:cs typeface="Arial"/>
            </a:endParaRPr>
          </a:p>
          <a:p>
            <a:pPr marL="12700" marR="5080">
              <a:lnSpc>
                <a:spcPct val="150000"/>
              </a:lnSpc>
            </a:pPr>
            <a:r>
              <a:rPr sz="1400" dirty="0">
                <a:latin typeface="Arial"/>
                <a:cs typeface="Arial"/>
              </a:rPr>
              <a:t>List&lt;Student&gt;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lstStudent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= </a:t>
            </a:r>
            <a:r>
              <a:rPr sz="1400" spc="-10" dirty="0">
                <a:latin typeface="Arial"/>
                <a:cs typeface="Arial"/>
              </a:rPr>
              <a:t>em.createQuery("select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</a:t>
            </a:r>
            <a:r>
              <a:rPr sz="1400" spc="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from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Student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s").getResultList(); </a:t>
            </a:r>
            <a:r>
              <a:rPr sz="1400" dirty="0">
                <a:latin typeface="Arial"/>
                <a:cs typeface="Arial"/>
              </a:rPr>
              <a:t>for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(int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 =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0;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&lt;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lstStudent.size();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i++)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50" dirty="0">
                <a:latin typeface="Arial"/>
                <a:cs typeface="Arial"/>
              </a:rPr>
              <a:t>{</a:t>
            </a:r>
            <a:endParaRPr sz="1400">
              <a:latin typeface="Arial"/>
              <a:cs typeface="Arial"/>
            </a:endParaRPr>
          </a:p>
          <a:p>
            <a:pPr marL="12700" marR="2894965">
              <a:lnSpc>
                <a:spcPts val="2520"/>
              </a:lnSpc>
              <a:spcBef>
                <a:spcPts val="220"/>
              </a:spcBef>
            </a:pPr>
            <a:r>
              <a:rPr sz="1400" spc="-10" dirty="0">
                <a:latin typeface="Arial"/>
                <a:cs typeface="Arial"/>
              </a:rPr>
              <a:t>System.out.println(lstStudent.get(i).getsId()); System.out.println(lstStudent.get(i).getsName());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sz="1400" dirty="0">
                <a:latin typeface="Arial"/>
                <a:cs typeface="Arial"/>
              </a:rPr>
              <a:t>}</a:t>
            </a:r>
            <a:r>
              <a:rPr sz="1400" spc="-10" dirty="0">
                <a:latin typeface="Arial"/>
                <a:cs typeface="Arial"/>
              </a:rPr>
              <a:t> em.close();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400" dirty="0">
                <a:latin typeface="Arial"/>
                <a:cs typeface="Arial"/>
              </a:rPr>
              <a:t>}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spc="-50" dirty="0">
                <a:latin typeface="Arial"/>
                <a:cs typeface="Arial"/>
              </a:rPr>
              <a:t>}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JPQL</a:t>
            </a:r>
            <a:r>
              <a:rPr spc="-10" dirty="0"/>
              <a:t> Update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5"/>
              </a:lnSpc>
            </a:pPr>
            <a:fld id="{81D60167-4931-47E6-BA6A-407CBD079E47}" type="slidenum">
              <a:rPr spc="-25" dirty="0"/>
              <a:t>35</a:t>
            </a:fld>
            <a:endParaRPr spc="-2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5"/>
              </a:lnSpc>
            </a:pPr>
            <a:r>
              <a:rPr dirty="0"/>
              <a:t>ACE</a:t>
            </a:r>
            <a:r>
              <a:rPr spc="-45" dirty="0"/>
              <a:t> </a:t>
            </a:r>
            <a:r>
              <a:rPr dirty="0"/>
              <a:t>Professionals</a:t>
            </a:r>
            <a:r>
              <a:rPr spc="-75" dirty="0"/>
              <a:t> </a:t>
            </a:r>
            <a:r>
              <a:rPr dirty="0"/>
              <a:t>Development</a:t>
            </a:r>
            <a:r>
              <a:rPr spc="-60" dirty="0"/>
              <a:t> </a:t>
            </a:r>
            <a:r>
              <a:rPr spc="-10" dirty="0"/>
              <a:t>Center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3864" y="1285087"/>
            <a:ext cx="6374765" cy="4827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944620">
              <a:lnSpc>
                <a:spcPct val="150000"/>
              </a:lnSpc>
              <a:spcBef>
                <a:spcPts val="100"/>
              </a:spcBef>
            </a:pPr>
            <a:r>
              <a:rPr sz="1400" b="1" spc="-10" dirty="0">
                <a:latin typeface="Arial"/>
                <a:cs typeface="Arial"/>
              </a:rPr>
              <a:t>JPQLUpdateStudent.java </a:t>
            </a:r>
            <a:r>
              <a:rPr sz="1400" dirty="0">
                <a:latin typeface="Arial"/>
                <a:cs typeface="Arial"/>
              </a:rPr>
              <a:t>import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javax.persistence.*; </a:t>
            </a:r>
            <a:r>
              <a:rPr sz="1400" dirty="0">
                <a:latin typeface="Arial"/>
                <a:cs typeface="Arial"/>
              </a:rPr>
              <a:t>import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com.jpa.model.Student;</a:t>
            </a:r>
            <a:endParaRPr sz="1400">
              <a:latin typeface="Arial"/>
              <a:cs typeface="Arial"/>
            </a:endParaRPr>
          </a:p>
          <a:p>
            <a:pPr marL="12700" marR="3436620">
              <a:lnSpc>
                <a:spcPct val="150000"/>
              </a:lnSpc>
            </a:pPr>
            <a:r>
              <a:rPr sz="1400" dirty="0">
                <a:latin typeface="Arial"/>
                <a:cs typeface="Arial"/>
              </a:rPr>
              <a:t>public class</a:t>
            </a:r>
            <a:r>
              <a:rPr sz="1400" spc="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JPQLUpdateStudent </a:t>
            </a:r>
            <a:r>
              <a:rPr sz="1400" spc="-50" dirty="0">
                <a:latin typeface="Arial"/>
                <a:cs typeface="Arial"/>
              </a:rPr>
              <a:t>{ </a:t>
            </a:r>
            <a:r>
              <a:rPr sz="1400" dirty="0">
                <a:latin typeface="Arial"/>
                <a:cs typeface="Arial"/>
              </a:rPr>
              <a:t>public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static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void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main(String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args[])</a:t>
            </a:r>
            <a:r>
              <a:rPr sz="1400" spc="-60" dirty="0">
                <a:latin typeface="Arial"/>
                <a:cs typeface="Arial"/>
              </a:rPr>
              <a:t> </a:t>
            </a:r>
            <a:r>
              <a:rPr sz="1400" spc="-50" dirty="0">
                <a:latin typeface="Arial"/>
                <a:cs typeface="Arial"/>
              </a:rPr>
              <a:t>{ </a:t>
            </a:r>
            <a:r>
              <a:rPr sz="1400" spc="-10" dirty="0">
                <a:latin typeface="Arial"/>
                <a:cs typeface="Arial"/>
              </a:rPr>
              <a:t>EntityManagerFactory</a:t>
            </a:r>
            <a:r>
              <a:rPr sz="1400" spc="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emf</a:t>
            </a:r>
            <a:r>
              <a:rPr sz="1400" spc="45" dirty="0">
                <a:latin typeface="Arial"/>
                <a:cs typeface="Arial"/>
              </a:rPr>
              <a:t> </a:t>
            </a:r>
            <a:r>
              <a:rPr sz="1400" spc="-50" dirty="0">
                <a:latin typeface="Arial"/>
                <a:cs typeface="Arial"/>
              </a:rPr>
              <a:t>=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400" spc="-10" dirty="0">
                <a:latin typeface="Arial"/>
                <a:cs typeface="Arial"/>
              </a:rPr>
              <a:t>Persistence.createEntityManagerFactory("JPASampleProject");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400" dirty="0">
                <a:latin typeface="Arial"/>
                <a:cs typeface="Arial"/>
              </a:rPr>
              <a:t>EntityManager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em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=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emf.createEntityManager();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45"/>
              </a:spcBef>
            </a:pPr>
            <a:r>
              <a:rPr sz="1400" spc="-10" dirty="0">
                <a:latin typeface="Arial"/>
                <a:cs typeface="Arial"/>
              </a:rPr>
              <a:t>em.getTransaction().begin();</a:t>
            </a:r>
            <a:endParaRPr sz="1400">
              <a:latin typeface="Arial"/>
              <a:cs typeface="Arial"/>
            </a:endParaRPr>
          </a:p>
          <a:p>
            <a:pPr marL="12700" marR="5080">
              <a:lnSpc>
                <a:spcPct val="150000"/>
              </a:lnSpc>
            </a:pPr>
            <a:r>
              <a:rPr sz="1400" dirty="0">
                <a:latin typeface="Arial"/>
                <a:cs typeface="Arial"/>
              </a:rPr>
              <a:t>Query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query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=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em.createQuery("update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Student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SET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sAge=:age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where </a:t>
            </a:r>
            <a:r>
              <a:rPr sz="1400" spc="-10" dirty="0">
                <a:latin typeface="Arial"/>
                <a:cs typeface="Arial"/>
              </a:rPr>
              <a:t>sId&gt;:id"); query.setParameter("age",30);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400" spc="-10" dirty="0">
                <a:latin typeface="Arial"/>
                <a:cs typeface="Arial"/>
              </a:rPr>
              <a:t>query.setParameter("id",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105);</a:t>
            </a:r>
            <a:endParaRPr sz="1400">
              <a:latin typeface="Arial"/>
              <a:cs typeface="Arial"/>
            </a:endParaRPr>
          </a:p>
          <a:p>
            <a:pPr marL="12700" marR="3008630">
              <a:lnSpc>
                <a:spcPct val="150000"/>
              </a:lnSpc>
            </a:pPr>
            <a:r>
              <a:rPr sz="1400" spc="-10" dirty="0">
                <a:latin typeface="Arial"/>
                <a:cs typeface="Arial"/>
              </a:rPr>
              <a:t>query.executeUpdate(); </a:t>
            </a:r>
            <a:r>
              <a:rPr sz="1400" dirty="0">
                <a:latin typeface="Arial"/>
                <a:cs typeface="Arial"/>
              </a:rPr>
              <a:t>em.getTransaction().commit();</a:t>
            </a:r>
            <a:r>
              <a:rPr sz="1400" spc="14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em.close();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400" dirty="0">
                <a:latin typeface="Arial"/>
                <a:cs typeface="Arial"/>
              </a:rPr>
              <a:t>}</a:t>
            </a:r>
            <a:r>
              <a:rPr sz="1400" spc="380" dirty="0">
                <a:latin typeface="Arial"/>
                <a:cs typeface="Arial"/>
              </a:rPr>
              <a:t> </a:t>
            </a:r>
            <a:r>
              <a:rPr sz="1400" spc="-50" dirty="0">
                <a:latin typeface="Arial"/>
                <a:cs typeface="Arial"/>
              </a:rPr>
              <a:t>}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JPQL</a:t>
            </a:r>
            <a:r>
              <a:rPr spc="-10" dirty="0"/>
              <a:t> Delete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5"/>
              </a:lnSpc>
            </a:pPr>
            <a:fld id="{81D60167-4931-47E6-BA6A-407CBD079E47}" type="slidenum">
              <a:rPr spc="-25" dirty="0"/>
              <a:t>36</a:t>
            </a:fld>
            <a:endParaRPr spc="-2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5"/>
              </a:lnSpc>
            </a:pPr>
            <a:r>
              <a:rPr dirty="0"/>
              <a:t>ACE</a:t>
            </a:r>
            <a:r>
              <a:rPr spc="-45" dirty="0"/>
              <a:t> </a:t>
            </a:r>
            <a:r>
              <a:rPr dirty="0"/>
              <a:t>Professionals</a:t>
            </a:r>
            <a:r>
              <a:rPr spc="-75" dirty="0"/>
              <a:t> </a:t>
            </a:r>
            <a:r>
              <a:rPr dirty="0"/>
              <a:t>Development</a:t>
            </a:r>
            <a:r>
              <a:rPr spc="-60" dirty="0"/>
              <a:t> </a:t>
            </a:r>
            <a:r>
              <a:rPr spc="-10" dirty="0"/>
              <a:t>Center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3864" y="1285087"/>
            <a:ext cx="4995545" cy="48272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2565400">
              <a:lnSpc>
                <a:spcPct val="150100"/>
              </a:lnSpc>
              <a:spcBef>
                <a:spcPts val="95"/>
              </a:spcBef>
            </a:pPr>
            <a:r>
              <a:rPr sz="1400" b="1" spc="-10" dirty="0">
                <a:latin typeface="Arial"/>
                <a:cs typeface="Arial"/>
              </a:rPr>
              <a:t>JPQLDeleteLibrary.java </a:t>
            </a:r>
            <a:r>
              <a:rPr sz="1400" dirty="0">
                <a:latin typeface="Arial"/>
                <a:cs typeface="Arial"/>
              </a:rPr>
              <a:t>import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javax.persistence.*; </a:t>
            </a:r>
            <a:r>
              <a:rPr sz="1400" dirty="0">
                <a:latin typeface="Arial"/>
                <a:cs typeface="Arial"/>
              </a:rPr>
              <a:t>import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com.jpa.model.Library; </a:t>
            </a:r>
            <a:r>
              <a:rPr sz="1400" dirty="0">
                <a:latin typeface="Arial"/>
                <a:cs typeface="Arial"/>
              </a:rPr>
              <a:t>import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com.jpa.model.Student;</a:t>
            </a:r>
            <a:endParaRPr sz="1400">
              <a:latin typeface="Arial"/>
              <a:cs typeface="Arial"/>
            </a:endParaRPr>
          </a:p>
          <a:p>
            <a:pPr marL="12700" marR="2057400">
              <a:lnSpc>
                <a:spcPct val="150000"/>
              </a:lnSpc>
            </a:pPr>
            <a:r>
              <a:rPr sz="1400" dirty="0">
                <a:latin typeface="Arial"/>
                <a:cs typeface="Arial"/>
              </a:rPr>
              <a:t>public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class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JPQLDeleteLibrary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spc="-50" dirty="0">
                <a:latin typeface="Arial"/>
                <a:cs typeface="Arial"/>
              </a:rPr>
              <a:t>{ </a:t>
            </a:r>
            <a:r>
              <a:rPr sz="1400" dirty="0">
                <a:latin typeface="Arial"/>
                <a:cs typeface="Arial"/>
              </a:rPr>
              <a:t>public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static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void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main(String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args[])</a:t>
            </a:r>
            <a:r>
              <a:rPr sz="1400" spc="-60" dirty="0">
                <a:latin typeface="Arial"/>
                <a:cs typeface="Arial"/>
              </a:rPr>
              <a:t> </a:t>
            </a:r>
            <a:r>
              <a:rPr sz="1400" spc="-50" dirty="0">
                <a:latin typeface="Arial"/>
                <a:cs typeface="Arial"/>
              </a:rPr>
              <a:t>{ </a:t>
            </a:r>
            <a:r>
              <a:rPr sz="1400" spc="-10" dirty="0">
                <a:latin typeface="Arial"/>
                <a:cs typeface="Arial"/>
              </a:rPr>
              <a:t>EntityManagerFactory</a:t>
            </a:r>
            <a:r>
              <a:rPr sz="1400" spc="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emf</a:t>
            </a:r>
            <a:r>
              <a:rPr sz="1400" spc="45" dirty="0">
                <a:latin typeface="Arial"/>
                <a:cs typeface="Arial"/>
              </a:rPr>
              <a:t> </a:t>
            </a:r>
            <a:r>
              <a:rPr sz="1400" spc="-50" dirty="0">
                <a:latin typeface="Arial"/>
                <a:cs typeface="Arial"/>
              </a:rPr>
              <a:t>=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400" spc="-10" dirty="0">
                <a:latin typeface="Arial"/>
                <a:cs typeface="Arial"/>
              </a:rPr>
              <a:t>Persistence.createEntityManagerFactory("JPASampleProject");</a:t>
            </a:r>
            <a:endParaRPr sz="1400">
              <a:latin typeface="Arial"/>
              <a:cs typeface="Arial"/>
            </a:endParaRPr>
          </a:p>
          <a:p>
            <a:pPr marL="12700" marR="1183005">
              <a:lnSpc>
                <a:spcPct val="150000"/>
              </a:lnSpc>
              <a:spcBef>
                <a:spcPts val="5"/>
              </a:spcBef>
            </a:pPr>
            <a:r>
              <a:rPr sz="1400" dirty="0">
                <a:latin typeface="Arial"/>
                <a:cs typeface="Arial"/>
              </a:rPr>
              <a:t>EntityManager</a:t>
            </a:r>
            <a:r>
              <a:rPr sz="1400" spc="-6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em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=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emf.createEntityManager(); em.getTransaction().begin();</a:t>
            </a:r>
            <a:endParaRPr sz="1400">
              <a:latin typeface="Arial"/>
              <a:cs typeface="Arial"/>
            </a:endParaRPr>
          </a:p>
          <a:p>
            <a:pPr marL="12700" marR="2173605">
              <a:lnSpc>
                <a:spcPct val="150000"/>
              </a:lnSpc>
            </a:pPr>
            <a:r>
              <a:rPr sz="1400" dirty="0">
                <a:latin typeface="Arial"/>
                <a:cs typeface="Arial"/>
              </a:rPr>
              <a:t>Library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lib=em.find(Library.class, </a:t>
            </a:r>
            <a:r>
              <a:rPr sz="1400" spc="-25" dirty="0">
                <a:latin typeface="Arial"/>
                <a:cs typeface="Arial"/>
              </a:rPr>
              <a:t>2); </a:t>
            </a:r>
            <a:r>
              <a:rPr sz="1400" dirty="0">
                <a:latin typeface="Arial"/>
                <a:cs typeface="Arial"/>
              </a:rPr>
              <a:t>Student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s=lib.getStudent();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400" spc="-10" dirty="0">
                <a:latin typeface="Arial"/>
                <a:cs typeface="Arial"/>
              </a:rPr>
              <a:t>lib.setStudent(null);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400" dirty="0">
                <a:latin typeface="Arial"/>
                <a:cs typeface="Arial"/>
              </a:rPr>
              <a:t>em.remove(s);</a:t>
            </a:r>
            <a:r>
              <a:rPr sz="1400" spc="38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em.getTransaction().commit();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em.close();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400" dirty="0">
                <a:latin typeface="Arial"/>
                <a:cs typeface="Arial"/>
              </a:rPr>
              <a:t>}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spc="-50" dirty="0">
                <a:latin typeface="Arial"/>
                <a:cs typeface="Arial"/>
              </a:rPr>
              <a:t>}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Sample</a:t>
            </a:r>
            <a:r>
              <a:rPr spc="-65" dirty="0"/>
              <a:t> </a:t>
            </a:r>
            <a:r>
              <a:rPr dirty="0"/>
              <a:t>Project</a:t>
            </a:r>
            <a:r>
              <a:rPr spc="-45" dirty="0"/>
              <a:t> </a:t>
            </a:r>
            <a:r>
              <a:rPr dirty="0"/>
              <a:t>with</a:t>
            </a:r>
            <a:r>
              <a:rPr spc="-65" dirty="0"/>
              <a:t> </a:t>
            </a:r>
            <a:r>
              <a:rPr spc="-25" dirty="0"/>
              <a:t>JPA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5"/>
              </a:lnSpc>
            </a:pPr>
            <a:fld id="{81D60167-4931-47E6-BA6A-407CBD079E47}" type="slidenum">
              <a:rPr spc="-25" dirty="0"/>
              <a:t>37</a:t>
            </a:fld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5"/>
              </a:lnSpc>
            </a:pPr>
            <a:r>
              <a:rPr dirty="0"/>
              <a:t>ACE</a:t>
            </a:r>
            <a:r>
              <a:rPr spc="-45" dirty="0"/>
              <a:t> </a:t>
            </a:r>
            <a:r>
              <a:rPr dirty="0"/>
              <a:t>Professionals</a:t>
            </a:r>
            <a:r>
              <a:rPr spc="-75" dirty="0"/>
              <a:t> </a:t>
            </a:r>
            <a:r>
              <a:rPr dirty="0"/>
              <a:t>Development</a:t>
            </a:r>
            <a:r>
              <a:rPr spc="-60" dirty="0"/>
              <a:t> </a:t>
            </a:r>
            <a:r>
              <a:rPr spc="-10" dirty="0"/>
              <a:t>Center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3864" y="1491742"/>
            <a:ext cx="6614795" cy="1732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65" dirty="0">
                <a:latin typeface="Arial"/>
                <a:cs typeface="Arial"/>
              </a:rPr>
              <a:t>To</a:t>
            </a:r>
            <a:r>
              <a:rPr sz="1600" spc="-5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integrate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spc="-45" dirty="0">
                <a:latin typeface="Arial"/>
                <a:cs typeface="Arial"/>
              </a:rPr>
              <a:t>JPA</a:t>
            </a:r>
            <a:r>
              <a:rPr sz="1600" spc="-9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with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Spring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MVC,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following</a:t>
            </a:r>
            <a:r>
              <a:rPr sz="1600" spc="-5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steps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are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required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to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do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spc="-50" dirty="0">
                <a:latin typeface="Arial"/>
                <a:cs typeface="Arial"/>
              </a:rPr>
              <a:t>: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60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1600" dirty="0">
                <a:latin typeface="Arial"/>
                <a:cs typeface="Arial"/>
              </a:rPr>
              <a:t>Step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spc="-20" dirty="0">
                <a:latin typeface="Arial"/>
                <a:cs typeface="Arial"/>
              </a:rPr>
              <a:t>-</a:t>
            </a:r>
            <a:r>
              <a:rPr sz="1600" dirty="0">
                <a:latin typeface="Arial"/>
                <a:cs typeface="Arial"/>
              </a:rPr>
              <a:t>1</a:t>
            </a:r>
            <a:r>
              <a:rPr sz="1600" spc="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: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Project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–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Dynamic Web</a:t>
            </a:r>
            <a:r>
              <a:rPr sz="1600" spc="-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Project</a:t>
            </a:r>
            <a:endParaRPr sz="1600">
              <a:latin typeface="Arial"/>
              <a:cs typeface="Arial"/>
            </a:endParaRPr>
          </a:p>
          <a:p>
            <a:pPr marL="12700" marR="1186180" indent="286385">
              <a:lnSpc>
                <a:spcPct val="200000"/>
              </a:lnSpc>
              <a:spcBef>
                <a:spcPts val="5"/>
              </a:spcBef>
              <a:buChar char="•"/>
              <a:tabLst>
                <a:tab pos="299085" algn="l"/>
              </a:tabLst>
            </a:pPr>
            <a:r>
              <a:rPr sz="1600" dirty="0">
                <a:latin typeface="Arial"/>
                <a:cs typeface="Arial"/>
              </a:rPr>
              <a:t>Step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-</a:t>
            </a:r>
            <a:r>
              <a:rPr sz="1600" dirty="0">
                <a:latin typeface="Arial"/>
                <a:cs typeface="Arial"/>
              </a:rPr>
              <a:t>2 :</a:t>
            </a:r>
            <a:r>
              <a:rPr sz="1600" spc="-10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Add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jar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files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of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(Spring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MVC,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spc="-50" dirty="0">
                <a:latin typeface="Arial"/>
                <a:cs typeface="Arial"/>
              </a:rPr>
              <a:t>JPA</a:t>
            </a:r>
            <a:r>
              <a:rPr sz="1600" spc="-8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EclipseLink)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following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steps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are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same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in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Spring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MVC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project.</a:t>
            </a:r>
            <a:endParaRPr sz="1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3864" y="3930777"/>
            <a:ext cx="5118735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Arial"/>
                <a:cs typeface="Arial"/>
              </a:rPr>
              <a:t>In</a:t>
            </a:r>
            <a:r>
              <a:rPr sz="1600" spc="-5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this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example,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we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show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spc="-45" dirty="0">
                <a:latin typeface="Arial"/>
                <a:cs typeface="Arial"/>
              </a:rPr>
              <a:t>JPA</a:t>
            </a:r>
            <a:r>
              <a:rPr sz="1600" spc="-9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with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Dynamic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Web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Project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00" spc="-10" dirty="0">
                <a:latin typeface="Arial"/>
                <a:cs typeface="Arial"/>
              </a:rPr>
              <a:t>(BookManagementSystem).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latin typeface="Arial"/>
                <a:cs typeface="Arial"/>
              </a:rPr>
              <a:t>Let’s</a:t>
            </a:r>
            <a:r>
              <a:rPr sz="1600" spc="-6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start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Spring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MVC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with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spc="-45" dirty="0">
                <a:latin typeface="Arial"/>
                <a:cs typeface="Arial"/>
              </a:rPr>
              <a:t>JPA</a:t>
            </a:r>
            <a:r>
              <a:rPr sz="1600" spc="-9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integration.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Sample</a:t>
            </a:r>
            <a:r>
              <a:rPr spc="-65" dirty="0"/>
              <a:t> </a:t>
            </a:r>
            <a:r>
              <a:rPr dirty="0"/>
              <a:t>Project</a:t>
            </a:r>
            <a:r>
              <a:rPr spc="-45" dirty="0"/>
              <a:t> </a:t>
            </a:r>
            <a:r>
              <a:rPr dirty="0"/>
              <a:t>with</a:t>
            </a:r>
            <a:r>
              <a:rPr spc="-65" dirty="0"/>
              <a:t> </a:t>
            </a:r>
            <a:r>
              <a:rPr spc="-25" dirty="0"/>
              <a:t>JPA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5"/>
              </a:lnSpc>
            </a:pPr>
            <a:fld id="{81D60167-4931-47E6-BA6A-407CBD079E47}" type="slidenum">
              <a:rPr spc="-25" dirty="0"/>
              <a:t>38</a:t>
            </a:fld>
            <a:endParaRPr spc="-2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5"/>
              </a:lnSpc>
            </a:pPr>
            <a:r>
              <a:rPr dirty="0"/>
              <a:t>ACE</a:t>
            </a:r>
            <a:r>
              <a:rPr spc="-45" dirty="0"/>
              <a:t> </a:t>
            </a:r>
            <a:r>
              <a:rPr dirty="0"/>
              <a:t>Professionals</a:t>
            </a:r>
            <a:r>
              <a:rPr spc="-75" dirty="0"/>
              <a:t> </a:t>
            </a:r>
            <a:r>
              <a:rPr dirty="0"/>
              <a:t>Development</a:t>
            </a:r>
            <a:r>
              <a:rPr spc="-60" dirty="0"/>
              <a:t> </a:t>
            </a:r>
            <a:r>
              <a:rPr spc="-10" dirty="0"/>
              <a:t>Center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2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1" dirty="0">
                <a:latin typeface="Arial"/>
                <a:cs typeface="Arial"/>
              </a:rPr>
              <a:t>1.</a:t>
            </a:r>
            <a:r>
              <a:rPr b="1" spc="-5" dirty="0">
                <a:latin typeface="Arial"/>
                <a:cs typeface="Arial"/>
              </a:rPr>
              <a:t> </a:t>
            </a:r>
            <a:r>
              <a:rPr b="1" spc="-10" dirty="0">
                <a:latin typeface="Arial"/>
                <a:cs typeface="Arial"/>
              </a:rPr>
              <a:t>web.xml</a:t>
            </a:r>
          </a:p>
          <a:p>
            <a:pPr marL="297815">
              <a:lnSpc>
                <a:spcPct val="100000"/>
              </a:lnSpc>
              <a:spcBef>
                <a:spcPts val="1200"/>
              </a:spcBef>
            </a:pPr>
            <a:r>
              <a:rPr spc="-10" dirty="0"/>
              <a:t>&lt;display-name&gt;JPASpringBook_20200916&lt;/display-name&gt;</a:t>
            </a:r>
          </a:p>
          <a:p>
            <a:pPr marL="297815">
              <a:lnSpc>
                <a:spcPct val="100000"/>
              </a:lnSpc>
              <a:spcBef>
                <a:spcPts val="960"/>
              </a:spcBef>
            </a:pPr>
            <a:r>
              <a:rPr spc="-10" dirty="0"/>
              <a:t>&lt;servlet&gt;</a:t>
            </a:r>
          </a:p>
          <a:p>
            <a:pPr marL="297815">
              <a:lnSpc>
                <a:spcPct val="100000"/>
              </a:lnSpc>
              <a:spcBef>
                <a:spcPts val="960"/>
              </a:spcBef>
            </a:pPr>
            <a:r>
              <a:rPr spc="-10" dirty="0"/>
              <a:t>&lt;servlet-name&gt;spring&lt;/servlet-name&gt;</a:t>
            </a:r>
          </a:p>
          <a:p>
            <a:pPr marL="297815" marR="782320">
              <a:lnSpc>
                <a:spcPct val="150000"/>
              </a:lnSpc>
            </a:pPr>
            <a:r>
              <a:rPr spc="-10" dirty="0"/>
              <a:t>&lt;servlet-class&gt; org.springframework.web.servlet.DispatcherServlet</a:t>
            </a:r>
          </a:p>
          <a:p>
            <a:pPr marL="297815">
              <a:lnSpc>
                <a:spcPct val="100000"/>
              </a:lnSpc>
              <a:spcBef>
                <a:spcPts val="965"/>
              </a:spcBef>
            </a:pPr>
            <a:r>
              <a:rPr spc="-10" dirty="0"/>
              <a:t>&lt;/servlet-class&gt;</a:t>
            </a:r>
          </a:p>
          <a:p>
            <a:pPr marL="297815">
              <a:lnSpc>
                <a:spcPct val="100000"/>
              </a:lnSpc>
              <a:spcBef>
                <a:spcPts val="960"/>
              </a:spcBef>
            </a:pPr>
            <a:r>
              <a:rPr spc="-10" dirty="0"/>
              <a:t>&lt;/servlet&gt;</a:t>
            </a:r>
          </a:p>
          <a:p>
            <a:pPr marL="297815">
              <a:lnSpc>
                <a:spcPct val="100000"/>
              </a:lnSpc>
              <a:spcBef>
                <a:spcPts val="960"/>
              </a:spcBef>
            </a:pPr>
            <a:r>
              <a:rPr spc="-10" dirty="0"/>
              <a:t>&lt;servlet-mapping&gt;</a:t>
            </a:r>
          </a:p>
          <a:p>
            <a:pPr marL="297815">
              <a:lnSpc>
                <a:spcPct val="100000"/>
              </a:lnSpc>
              <a:spcBef>
                <a:spcPts val="960"/>
              </a:spcBef>
            </a:pPr>
            <a:r>
              <a:rPr spc="-10" dirty="0"/>
              <a:t>&lt;servlet-name&gt;spring&lt;/servlet-name&gt;</a:t>
            </a:r>
          </a:p>
          <a:p>
            <a:pPr marL="297815">
              <a:lnSpc>
                <a:spcPct val="100000"/>
              </a:lnSpc>
              <a:spcBef>
                <a:spcPts val="960"/>
              </a:spcBef>
            </a:pPr>
            <a:r>
              <a:rPr spc="-10" dirty="0"/>
              <a:t>&lt;url-pattern&gt;/&lt;/url-pattern&gt;</a:t>
            </a:r>
          </a:p>
          <a:p>
            <a:pPr marL="297815">
              <a:lnSpc>
                <a:spcPct val="100000"/>
              </a:lnSpc>
              <a:spcBef>
                <a:spcPts val="960"/>
              </a:spcBef>
            </a:pPr>
            <a:r>
              <a:rPr spc="-10" dirty="0"/>
              <a:t>&lt;/servlet-mapping&gt;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Sample</a:t>
            </a:r>
            <a:r>
              <a:rPr spc="-65" dirty="0"/>
              <a:t> </a:t>
            </a:r>
            <a:r>
              <a:rPr dirty="0"/>
              <a:t>Project</a:t>
            </a:r>
            <a:r>
              <a:rPr spc="-45" dirty="0"/>
              <a:t> </a:t>
            </a:r>
            <a:r>
              <a:rPr dirty="0"/>
              <a:t>with</a:t>
            </a:r>
            <a:r>
              <a:rPr spc="-65" dirty="0"/>
              <a:t> </a:t>
            </a:r>
            <a:r>
              <a:rPr spc="-25" dirty="0"/>
              <a:t>JPA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5"/>
              </a:lnSpc>
            </a:pPr>
            <a:fld id="{81D60167-4931-47E6-BA6A-407CBD079E47}" type="slidenum">
              <a:rPr spc="-25" dirty="0"/>
              <a:t>39</a:t>
            </a:fld>
            <a:endParaRPr spc="-2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5"/>
              </a:lnSpc>
            </a:pPr>
            <a:r>
              <a:rPr dirty="0"/>
              <a:t>ACE</a:t>
            </a:r>
            <a:r>
              <a:rPr spc="-45" dirty="0"/>
              <a:t> </a:t>
            </a:r>
            <a:r>
              <a:rPr dirty="0"/>
              <a:t>Professionals</a:t>
            </a:r>
            <a:r>
              <a:rPr spc="-75" dirty="0"/>
              <a:t> </a:t>
            </a:r>
            <a:r>
              <a:rPr dirty="0"/>
              <a:t>Development</a:t>
            </a:r>
            <a:r>
              <a:rPr spc="-60" dirty="0"/>
              <a:t> </a:t>
            </a:r>
            <a:r>
              <a:rPr spc="-10" dirty="0"/>
              <a:t>Center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3864" y="1491742"/>
            <a:ext cx="7477759" cy="395795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Arial"/>
                <a:cs typeface="Arial"/>
              </a:rPr>
              <a:t>2.</a:t>
            </a:r>
            <a:r>
              <a:rPr sz="1600" b="1" spc="-5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spring-servlet.xml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1600" dirty="0">
                <a:latin typeface="Arial"/>
                <a:cs typeface="Arial"/>
              </a:rPr>
              <a:t>&lt;bean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id="ld"</a:t>
            </a:r>
            <a:endParaRPr sz="1600">
              <a:latin typeface="Arial"/>
              <a:cs typeface="Arial"/>
            </a:endParaRPr>
          </a:p>
          <a:p>
            <a:pPr marL="12700" marR="5080">
              <a:lnSpc>
                <a:spcPct val="150000"/>
              </a:lnSpc>
            </a:pPr>
            <a:r>
              <a:rPr sz="1600" spc="-10" dirty="0">
                <a:latin typeface="Arial"/>
                <a:cs typeface="Arial"/>
              </a:rPr>
              <a:t>class= "org.springframework.instrument.classloading.InstrumentationLoadTimeWeaver"</a:t>
            </a:r>
            <a:r>
              <a:rPr sz="1600" spc="135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/&gt;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600" spc="-10" dirty="0">
                <a:latin typeface="Arial"/>
                <a:cs typeface="Arial"/>
              </a:rPr>
              <a:t>&lt;context:load-</a:t>
            </a:r>
            <a:r>
              <a:rPr sz="1600" spc="-20" dirty="0">
                <a:latin typeface="Arial"/>
                <a:cs typeface="Arial"/>
              </a:rPr>
              <a:t>time-</a:t>
            </a:r>
            <a:r>
              <a:rPr sz="1600" dirty="0">
                <a:latin typeface="Arial"/>
                <a:cs typeface="Arial"/>
              </a:rPr>
              <a:t>weaver</a:t>
            </a:r>
            <a:r>
              <a:rPr sz="1600" spc="70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/&gt;</a:t>
            </a:r>
            <a:endParaRPr sz="1600">
              <a:latin typeface="Arial"/>
              <a:cs typeface="Arial"/>
            </a:endParaRPr>
          </a:p>
          <a:p>
            <a:pPr marL="12700" marR="601345">
              <a:lnSpc>
                <a:spcPts val="2880"/>
              </a:lnSpc>
              <a:spcBef>
                <a:spcPts val="260"/>
              </a:spcBef>
            </a:pPr>
            <a:r>
              <a:rPr sz="1600" dirty="0">
                <a:latin typeface="Arial"/>
                <a:cs typeface="Arial"/>
              </a:rPr>
              <a:t>&lt;bean</a:t>
            </a:r>
            <a:r>
              <a:rPr sz="1600" spc="-5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id="jpaVendor" class="org.springframework.orm.jpa.vendor.EclipseLinkJpaVendorAdapter"&gt;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sz="1600" dirty="0">
                <a:latin typeface="Arial"/>
                <a:cs typeface="Arial"/>
              </a:rPr>
              <a:t>&lt;property</a:t>
            </a:r>
            <a:r>
              <a:rPr sz="1600" spc="-5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name="showSql"</a:t>
            </a:r>
            <a:r>
              <a:rPr sz="1600" spc="-7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value="true"</a:t>
            </a:r>
            <a:r>
              <a:rPr sz="1600" spc="-70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/&gt;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600" dirty="0">
                <a:latin typeface="Arial"/>
                <a:cs typeface="Arial"/>
              </a:rPr>
              <a:t>&lt;property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name="generateDdl"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value="true"</a:t>
            </a:r>
            <a:r>
              <a:rPr sz="1600" spc="-50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/&gt;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600" dirty="0">
                <a:latin typeface="Arial"/>
                <a:cs typeface="Arial"/>
              </a:rPr>
              <a:t>&lt;property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name="database"</a:t>
            </a:r>
            <a:r>
              <a:rPr sz="1600" spc="-5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value="MYSQL"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/&gt;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600" spc="-10" dirty="0">
                <a:latin typeface="Arial"/>
                <a:cs typeface="Arial"/>
              </a:rPr>
              <a:t>&lt;/bean&gt;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Sample</a:t>
            </a:r>
            <a:r>
              <a:rPr spc="-65" dirty="0"/>
              <a:t> </a:t>
            </a:r>
            <a:r>
              <a:rPr dirty="0"/>
              <a:t>Project</a:t>
            </a:r>
            <a:r>
              <a:rPr spc="-45" dirty="0"/>
              <a:t> </a:t>
            </a:r>
            <a:r>
              <a:rPr dirty="0"/>
              <a:t>with</a:t>
            </a:r>
            <a:r>
              <a:rPr spc="-65" dirty="0"/>
              <a:t> </a:t>
            </a:r>
            <a:r>
              <a:rPr spc="-25" dirty="0"/>
              <a:t>JPA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5"/>
              </a:lnSpc>
            </a:pPr>
            <a:fld id="{81D60167-4931-47E6-BA6A-407CBD079E47}" type="slidenum">
              <a:rPr spc="-25" dirty="0"/>
              <a:t>40</a:t>
            </a:fld>
            <a:endParaRPr spc="-2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5"/>
              </a:lnSpc>
            </a:pPr>
            <a:r>
              <a:rPr dirty="0"/>
              <a:t>ACE</a:t>
            </a:r>
            <a:r>
              <a:rPr spc="-45" dirty="0"/>
              <a:t> </a:t>
            </a:r>
            <a:r>
              <a:rPr dirty="0"/>
              <a:t>Professionals</a:t>
            </a:r>
            <a:r>
              <a:rPr spc="-75" dirty="0"/>
              <a:t> </a:t>
            </a:r>
            <a:r>
              <a:rPr dirty="0"/>
              <a:t>Development</a:t>
            </a:r>
            <a:r>
              <a:rPr spc="-60" dirty="0"/>
              <a:t> </a:t>
            </a:r>
            <a:r>
              <a:rPr spc="-10" dirty="0"/>
              <a:t>Center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3864" y="1277772"/>
            <a:ext cx="7327900" cy="4781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600" dirty="0">
                <a:latin typeface="Arial"/>
                <a:cs typeface="Arial"/>
              </a:rPr>
              <a:t>&lt;bean</a:t>
            </a:r>
            <a:r>
              <a:rPr sz="1600" spc="-5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id="emf" class="org.springframework.orm.jpa.LocalContainerEntityManagerFactoryBean"&gt;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600" dirty="0">
                <a:latin typeface="Arial"/>
                <a:cs typeface="Arial"/>
              </a:rPr>
              <a:t>&lt;property</a:t>
            </a:r>
            <a:r>
              <a:rPr sz="1600" spc="-10" dirty="0">
                <a:latin typeface="Arial"/>
                <a:cs typeface="Arial"/>
              </a:rPr>
              <a:t> name="loadTimeWeaver"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ref="ld"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/&gt;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600" dirty="0">
                <a:latin typeface="Arial"/>
                <a:cs typeface="Arial"/>
              </a:rPr>
              <a:t>&lt;property</a:t>
            </a:r>
            <a:r>
              <a:rPr sz="1600" spc="-10" dirty="0">
                <a:latin typeface="Arial"/>
                <a:cs typeface="Arial"/>
              </a:rPr>
              <a:t> name="dataSource"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ref="ds"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/&gt;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600" dirty="0">
                <a:latin typeface="Arial"/>
                <a:cs typeface="Arial"/>
              </a:rPr>
              <a:t>&lt;property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name="jpaVendorAdapter"</a:t>
            </a:r>
            <a:r>
              <a:rPr sz="1600" spc="-6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ref="jpaVendor"&gt;&lt;/property&gt;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600" dirty="0">
                <a:latin typeface="Arial"/>
                <a:cs typeface="Arial"/>
              </a:rPr>
              <a:t>&lt;property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name="persistenceUnitName"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600" spc="-10" dirty="0">
                <a:latin typeface="Arial"/>
                <a:cs typeface="Arial"/>
              </a:rPr>
              <a:t>value="JPASpringBook_20200916"</a:t>
            </a:r>
            <a:r>
              <a:rPr sz="1600" spc="114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/&gt;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65"/>
              </a:spcBef>
            </a:pPr>
            <a:r>
              <a:rPr sz="1600" dirty="0">
                <a:latin typeface="Arial"/>
                <a:cs typeface="Arial"/>
              </a:rPr>
              <a:t>&lt;property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name="packagesToScan"&gt;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600" spc="-10" dirty="0">
                <a:latin typeface="Arial"/>
                <a:cs typeface="Arial"/>
              </a:rPr>
              <a:t>&lt;list&gt;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600" spc="-10" dirty="0">
                <a:latin typeface="Arial"/>
                <a:cs typeface="Arial"/>
              </a:rPr>
              <a:t>&lt;value&gt;com.book.model&lt;/value&gt;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600" spc="-10" dirty="0">
                <a:latin typeface="Arial"/>
                <a:cs typeface="Arial"/>
              </a:rPr>
              <a:t>&lt;/list&gt;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600" spc="-10" dirty="0">
                <a:latin typeface="Arial"/>
                <a:cs typeface="Arial"/>
              </a:rPr>
              <a:t>&lt;/property&gt;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600" spc="-10" dirty="0">
                <a:latin typeface="Arial"/>
                <a:cs typeface="Arial"/>
              </a:rPr>
              <a:t>&lt;/bean&gt;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Sample</a:t>
            </a:r>
            <a:r>
              <a:rPr spc="-65" dirty="0"/>
              <a:t> </a:t>
            </a:r>
            <a:r>
              <a:rPr dirty="0"/>
              <a:t>Project</a:t>
            </a:r>
            <a:r>
              <a:rPr spc="-45" dirty="0"/>
              <a:t> </a:t>
            </a:r>
            <a:r>
              <a:rPr dirty="0"/>
              <a:t>with</a:t>
            </a:r>
            <a:r>
              <a:rPr spc="-65" dirty="0"/>
              <a:t> </a:t>
            </a:r>
            <a:r>
              <a:rPr spc="-25" dirty="0"/>
              <a:t>JPA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5"/>
              </a:lnSpc>
            </a:pPr>
            <a:fld id="{81D60167-4931-47E6-BA6A-407CBD079E47}" type="slidenum">
              <a:rPr spc="-25" dirty="0"/>
              <a:t>41</a:t>
            </a:fld>
            <a:endParaRPr spc="-2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5"/>
              </a:lnSpc>
            </a:pPr>
            <a:r>
              <a:rPr dirty="0"/>
              <a:t>ACE</a:t>
            </a:r>
            <a:r>
              <a:rPr spc="-45" dirty="0"/>
              <a:t> </a:t>
            </a:r>
            <a:r>
              <a:rPr dirty="0"/>
              <a:t>Professionals</a:t>
            </a:r>
            <a:r>
              <a:rPr spc="-75" dirty="0"/>
              <a:t> </a:t>
            </a:r>
            <a:r>
              <a:rPr dirty="0"/>
              <a:t>Development</a:t>
            </a:r>
            <a:r>
              <a:rPr spc="-60" dirty="0"/>
              <a:t> </a:t>
            </a:r>
            <a:r>
              <a:rPr spc="-10" dirty="0"/>
              <a:t>Center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dirty="0"/>
              <a:t>&lt;bean</a:t>
            </a:r>
            <a:r>
              <a:rPr spc="-50" dirty="0"/>
              <a:t> </a:t>
            </a:r>
            <a:r>
              <a:rPr spc="-10" dirty="0"/>
              <a:t>id="myTxManager" class="org.springframework.orm.jpa.JpaTransactionManager"&gt;</a:t>
            </a: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/>
              <a:t>&lt;property</a:t>
            </a:r>
            <a:r>
              <a:rPr spc="-20" dirty="0"/>
              <a:t> </a:t>
            </a:r>
            <a:r>
              <a:rPr spc="-10" dirty="0"/>
              <a:t>name="entityManagerFactory"</a:t>
            </a:r>
            <a:r>
              <a:rPr spc="20" dirty="0"/>
              <a:t> </a:t>
            </a:r>
            <a:r>
              <a:rPr dirty="0"/>
              <a:t>ref="emf"</a:t>
            </a:r>
            <a:r>
              <a:rPr spc="-20" dirty="0"/>
              <a:t> </a:t>
            </a:r>
            <a:r>
              <a:rPr spc="-25" dirty="0"/>
              <a:t>/&gt;</a:t>
            </a: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/>
              <a:t>&lt;property</a:t>
            </a:r>
            <a:r>
              <a:rPr spc="-10" dirty="0"/>
              <a:t> name="dataSource"</a:t>
            </a:r>
            <a:r>
              <a:rPr spc="-25" dirty="0"/>
              <a:t> </a:t>
            </a:r>
            <a:r>
              <a:rPr dirty="0"/>
              <a:t>ref="ds"</a:t>
            </a:r>
            <a:r>
              <a:rPr spc="-20" dirty="0"/>
              <a:t> </a:t>
            </a:r>
            <a:r>
              <a:rPr spc="-25" dirty="0"/>
              <a:t>/&gt;</a:t>
            </a: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pc="-10" dirty="0"/>
              <a:t>&lt;/bean&gt;</a:t>
            </a: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pc="-10" dirty="0"/>
              <a:t>&lt;tx:annotation-</a:t>
            </a:r>
            <a:r>
              <a:rPr dirty="0"/>
              <a:t>driven</a:t>
            </a:r>
            <a:r>
              <a:rPr spc="20" dirty="0"/>
              <a:t> </a:t>
            </a:r>
            <a:r>
              <a:rPr spc="-10" dirty="0"/>
              <a:t>transaction-manager="myTxManager"</a:t>
            </a:r>
            <a:r>
              <a:rPr spc="70" dirty="0"/>
              <a:t> </a:t>
            </a:r>
            <a:r>
              <a:rPr spc="-25" dirty="0"/>
              <a:t>/&gt;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Sample</a:t>
            </a:r>
            <a:r>
              <a:rPr spc="-65" dirty="0"/>
              <a:t> </a:t>
            </a:r>
            <a:r>
              <a:rPr dirty="0"/>
              <a:t>Project</a:t>
            </a:r>
            <a:r>
              <a:rPr spc="-45" dirty="0"/>
              <a:t> </a:t>
            </a:r>
            <a:r>
              <a:rPr dirty="0"/>
              <a:t>with</a:t>
            </a:r>
            <a:r>
              <a:rPr spc="-65" dirty="0"/>
              <a:t> </a:t>
            </a:r>
            <a:r>
              <a:rPr spc="-25" dirty="0"/>
              <a:t>JPA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5"/>
              </a:lnSpc>
            </a:pPr>
            <a:fld id="{81D60167-4931-47E6-BA6A-407CBD079E47}" type="slidenum">
              <a:rPr spc="-25" dirty="0"/>
              <a:t>42</a:t>
            </a:fld>
            <a:endParaRPr spc="-2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5"/>
              </a:lnSpc>
            </a:pPr>
            <a:r>
              <a:rPr dirty="0"/>
              <a:t>ACE</a:t>
            </a:r>
            <a:r>
              <a:rPr spc="-45" dirty="0"/>
              <a:t> </a:t>
            </a:r>
            <a:r>
              <a:rPr dirty="0"/>
              <a:t>Professionals</a:t>
            </a:r>
            <a:r>
              <a:rPr spc="-75" dirty="0"/>
              <a:t> </a:t>
            </a:r>
            <a:r>
              <a:rPr dirty="0"/>
              <a:t>Development</a:t>
            </a:r>
            <a:r>
              <a:rPr spc="-60" dirty="0"/>
              <a:t> </a:t>
            </a:r>
            <a:r>
              <a:rPr spc="-10" dirty="0"/>
              <a:t>Center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3864" y="1491742"/>
            <a:ext cx="2719070" cy="35921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Arial"/>
                <a:cs typeface="Arial"/>
              </a:rPr>
              <a:t>3.</a:t>
            </a:r>
            <a:r>
              <a:rPr sz="1600" b="1" spc="-5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Book.java</a:t>
            </a:r>
            <a:endParaRPr sz="1600">
              <a:latin typeface="Arial"/>
              <a:cs typeface="Arial"/>
            </a:endParaRPr>
          </a:p>
          <a:p>
            <a:pPr marL="356870">
              <a:lnSpc>
                <a:spcPct val="100000"/>
              </a:lnSpc>
              <a:spcBef>
                <a:spcPts val="1200"/>
              </a:spcBef>
            </a:pPr>
            <a:r>
              <a:rPr sz="1600" spc="-10" dirty="0">
                <a:latin typeface="Arial"/>
                <a:cs typeface="Arial"/>
              </a:rPr>
              <a:t>@Entity</a:t>
            </a:r>
            <a:endParaRPr sz="1600">
              <a:latin typeface="Arial"/>
              <a:cs typeface="Arial"/>
            </a:endParaRPr>
          </a:p>
          <a:p>
            <a:pPr marL="356870" marR="662305">
              <a:lnSpc>
                <a:spcPct val="150000"/>
              </a:lnSpc>
            </a:pPr>
            <a:r>
              <a:rPr sz="1600" dirty="0">
                <a:latin typeface="Arial"/>
                <a:cs typeface="Arial"/>
              </a:rPr>
              <a:t>public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class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Book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spc="-60" dirty="0">
                <a:latin typeface="Arial"/>
                <a:cs typeface="Arial"/>
              </a:rPr>
              <a:t>{ </a:t>
            </a:r>
            <a:r>
              <a:rPr sz="1600" spc="-25" dirty="0">
                <a:latin typeface="Arial"/>
                <a:cs typeface="Arial"/>
              </a:rPr>
              <a:t>@Id</a:t>
            </a:r>
            <a:endParaRPr sz="1600">
              <a:latin typeface="Arial"/>
              <a:cs typeface="Arial"/>
            </a:endParaRPr>
          </a:p>
          <a:p>
            <a:pPr marL="356870" marR="5080">
              <a:lnSpc>
                <a:spcPct val="150000"/>
              </a:lnSpc>
            </a:pPr>
            <a:r>
              <a:rPr sz="1600" dirty="0">
                <a:latin typeface="Arial"/>
                <a:cs typeface="Arial"/>
              </a:rPr>
              <a:t>private</a:t>
            </a:r>
            <a:r>
              <a:rPr sz="1600" spc="-6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String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bookCode; </a:t>
            </a:r>
            <a:r>
              <a:rPr sz="1600" dirty="0">
                <a:latin typeface="Arial"/>
                <a:cs typeface="Arial"/>
              </a:rPr>
              <a:t>private</a:t>
            </a:r>
            <a:r>
              <a:rPr sz="1600" spc="-6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String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bookTitle; </a:t>
            </a:r>
            <a:r>
              <a:rPr sz="1600" dirty="0">
                <a:latin typeface="Arial"/>
                <a:cs typeface="Arial"/>
              </a:rPr>
              <a:t>private</a:t>
            </a:r>
            <a:r>
              <a:rPr sz="1600" spc="-6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String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bookAuthor; </a:t>
            </a:r>
            <a:r>
              <a:rPr sz="1600" dirty="0">
                <a:latin typeface="Arial"/>
                <a:cs typeface="Arial"/>
              </a:rPr>
              <a:t>private</a:t>
            </a:r>
            <a:r>
              <a:rPr sz="1600" spc="-6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String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bookPrice;</a:t>
            </a:r>
            <a:endParaRPr sz="1600">
              <a:latin typeface="Arial"/>
              <a:cs typeface="Arial"/>
            </a:endParaRPr>
          </a:p>
          <a:p>
            <a:pPr marL="356870">
              <a:lnSpc>
                <a:spcPct val="100000"/>
              </a:lnSpc>
              <a:spcBef>
                <a:spcPts val="960"/>
              </a:spcBef>
            </a:pPr>
            <a:r>
              <a:rPr sz="1600" spc="-10" dirty="0">
                <a:latin typeface="Arial"/>
                <a:cs typeface="Arial"/>
              </a:rPr>
              <a:t>//getter,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setter</a:t>
            </a:r>
            <a:endParaRPr sz="1600">
              <a:latin typeface="Arial"/>
              <a:cs typeface="Arial"/>
            </a:endParaRPr>
          </a:p>
          <a:p>
            <a:pPr marL="356870">
              <a:lnSpc>
                <a:spcPct val="100000"/>
              </a:lnSpc>
              <a:spcBef>
                <a:spcPts val="960"/>
              </a:spcBef>
            </a:pPr>
            <a:r>
              <a:rPr sz="1600" spc="-50" dirty="0">
                <a:latin typeface="Arial"/>
                <a:cs typeface="Arial"/>
              </a:rPr>
              <a:t>}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Sample</a:t>
            </a:r>
            <a:r>
              <a:rPr spc="-65" dirty="0"/>
              <a:t> </a:t>
            </a:r>
            <a:r>
              <a:rPr dirty="0"/>
              <a:t>Project</a:t>
            </a:r>
            <a:r>
              <a:rPr spc="-45" dirty="0"/>
              <a:t> </a:t>
            </a:r>
            <a:r>
              <a:rPr dirty="0"/>
              <a:t>with</a:t>
            </a:r>
            <a:r>
              <a:rPr spc="-65" dirty="0"/>
              <a:t> </a:t>
            </a:r>
            <a:r>
              <a:rPr spc="-25" dirty="0"/>
              <a:t>JPA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5"/>
              </a:lnSpc>
            </a:pPr>
            <a:fld id="{81D60167-4931-47E6-BA6A-407CBD079E47}" type="slidenum">
              <a:rPr spc="-25" dirty="0"/>
              <a:t>43</a:t>
            </a:fld>
            <a:endParaRPr spc="-2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5"/>
              </a:lnSpc>
            </a:pPr>
            <a:r>
              <a:rPr dirty="0"/>
              <a:t>ACE</a:t>
            </a:r>
            <a:r>
              <a:rPr spc="-45" dirty="0"/>
              <a:t> </a:t>
            </a:r>
            <a:r>
              <a:rPr dirty="0"/>
              <a:t>Professionals</a:t>
            </a:r>
            <a:r>
              <a:rPr spc="-75" dirty="0"/>
              <a:t> </a:t>
            </a:r>
            <a:r>
              <a:rPr dirty="0"/>
              <a:t>Development</a:t>
            </a:r>
            <a:r>
              <a:rPr spc="-60" dirty="0"/>
              <a:t> </a:t>
            </a:r>
            <a:r>
              <a:rPr spc="-10" dirty="0"/>
              <a:t>Center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3864" y="1491742"/>
            <a:ext cx="3749040" cy="36836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Arial"/>
                <a:cs typeface="Arial"/>
              </a:rPr>
              <a:t>4.</a:t>
            </a:r>
            <a:r>
              <a:rPr sz="1600" b="1" spc="-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BookDao</a:t>
            </a:r>
            <a:r>
              <a:rPr sz="1600" b="1" spc="-5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Interface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latin typeface="Arial"/>
                <a:cs typeface="Arial"/>
              </a:rPr>
              <a:t>public</a:t>
            </a:r>
            <a:r>
              <a:rPr sz="1600" spc="-6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interface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BookDao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spc="-50" dirty="0">
                <a:latin typeface="Arial"/>
                <a:cs typeface="Arial"/>
              </a:rPr>
              <a:t>{</a:t>
            </a:r>
            <a:endParaRPr sz="1600">
              <a:latin typeface="Arial"/>
              <a:cs typeface="Arial"/>
            </a:endParaRPr>
          </a:p>
          <a:p>
            <a:pPr marL="12700" marR="670560">
              <a:lnSpc>
                <a:spcPct val="200000"/>
              </a:lnSpc>
              <a:spcBef>
                <a:spcPts val="5"/>
              </a:spcBef>
            </a:pPr>
            <a:r>
              <a:rPr sz="1600" dirty="0">
                <a:latin typeface="Arial"/>
                <a:cs typeface="Arial"/>
              </a:rPr>
              <a:t>public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int </a:t>
            </a:r>
            <a:r>
              <a:rPr sz="1600" spc="-10" dirty="0">
                <a:latin typeface="Arial"/>
                <a:cs typeface="Arial"/>
              </a:rPr>
              <a:t>insertData(Book</a:t>
            </a:r>
            <a:r>
              <a:rPr sz="1600" spc="1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book); </a:t>
            </a:r>
            <a:r>
              <a:rPr sz="1600" dirty="0">
                <a:latin typeface="Arial"/>
                <a:cs typeface="Arial"/>
              </a:rPr>
              <a:t>public</a:t>
            </a:r>
            <a:r>
              <a:rPr sz="1600" spc="-7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int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updateData(Book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book);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dirty="0">
                <a:latin typeface="Arial"/>
                <a:cs typeface="Arial"/>
              </a:rPr>
              <a:t>public</a:t>
            </a:r>
            <a:r>
              <a:rPr sz="1600" spc="-6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int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deleteData(String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bookCode);</a:t>
            </a:r>
            <a:endParaRPr sz="1600">
              <a:latin typeface="Arial"/>
              <a:cs typeface="Arial"/>
            </a:endParaRPr>
          </a:p>
          <a:p>
            <a:pPr marL="12700" marR="5080">
              <a:lnSpc>
                <a:spcPct val="200000"/>
              </a:lnSpc>
            </a:pPr>
            <a:r>
              <a:rPr sz="1600" dirty="0">
                <a:latin typeface="Arial"/>
                <a:cs typeface="Arial"/>
              </a:rPr>
              <a:t>public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Book</a:t>
            </a:r>
            <a:r>
              <a:rPr sz="1600" spc="2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selectOne(String</a:t>
            </a:r>
            <a:r>
              <a:rPr sz="1600" spc="2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bookCode); </a:t>
            </a:r>
            <a:r>
              <a:rPr sz="1600" dirty="0">
                <a:latin typeface="Arial"/>
                <a:cs typeface="Arial"/>
              </a:rPr>
              <a:t>public</a:t>
            </a:r>
            <a:r>
              <a:rPr sz="1600" spc="-6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List&lt;Book&gt;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selectAll();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00" spc="-50" dirty="0">
                <a:latin typeface="Arial"/>
                <a:cs typeface="Arial"/>
              </a:rPr>
              <a:t>}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Sample</a:t>
            </a:r>
            <a:r>
              <a:rPr spc="-65" dirty="0"/>
              <a:t> </a:t>
            </a:r>
            <a:r>
              <a:rPr dirty="0"/>
              <a:t>Project</a:t>
            </a:r>
            <a:r>
              <a:rPr spc="-45" dirty="0"/>
              <a:t> </a:t>
            </a:r>
            <a:r>
              <a:rPr dirty="0"/>
              <a:t>with</a:t>
            </a:r>
            <a:r>
              <a:rPr spc="-65" dirty="0"/>
              <a:t> </a:t>
            </a:r>
            <a:r>
              <a:rPr spc="-25" dirty="0"/>
              <a:t>JPA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5"/>
              </a:lnSpc>
            </a:pPr>
            <a:fld id="{81D60167-4931-47E6-BA6A-407CBD079E47}" type="slidenum">
              <a:rPr spc="-25" dirty="0"/>
              <a:t>44</a:t>
            </a:fld>
            <a:endParaRPr spc="-2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5"/>
              </a:lnSpc>
            </a:pPr>
            <a:r>
              <a:rPr dirty="0"/>
              <a:t>ACE</a:t>
            </a:r>
            <a:r>
              <a:rPr spc="-45" dirty="0"/>
              <a:t> </a:t>
            </a:r>
            <a:r>
              <a:rPr dirty="0"/>
              <a:t>Professionals</a:t>
            </a:r>
            <a:r>
              <a:rPr spc="-75" dirty="0"/>
              <a:t> </a:t>
            </a:r>
            <a:r>
              <a:rPr dirty="0"/>
              <a:t>Development</a:t>
            </a:r>
            <a:r>
              <a:rPr spc="-60" dirty="0"/>
              <a:t> </a:t>
            </a:r>
            <a:r>
              <a:rPr spc="-10" dirty="0"/>
              <a:t>Center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3864" y="1491742"/>
            <a:ext cx="4460875" cy="44913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Arial"/>
                <a:cs typeface="Arial"/>
              </a:rPr>
              <a:t>5.</a:t>
            </a:r>
            <a:r>
              <a:rPr sz="1600" b="1" spc="-5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BookDaoImpl.java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60"/>
              </a:spcBef>
            </a:pP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spc="-10" dirty="0">
                <a:latin typeface="Arial"/>
                <a:cs typeface="Arial"/>
              </a:rPr>
              <a:t>@Component</a:t>
            </a:r>
            <a:endParaRPr sz="16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sz="1600" dirty="0">
                <a:latin typeface="Arial"/>
                <a:cs typeface="Arial"/>
              </a:rPr>
              <a:t>public</a:t>
            </a:r>
            <a:r>
              <a:rPr sz="1600" spc="-6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class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BookDaoImpl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implements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BookDao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spc="-50" dirty="0">
                <a:latin typeface="Arial"/>
                <a:cs typeface="Arial"/>
              </a:rPr>
              <a:t>{ </a:t>
            </a:r>
            <a:r>
              <a:rPr sz="1600" spc="-10" dirty="0">
                <a:latin typeface="Arial"/>
                <a:cs typeface="Arial"/>
              </a:rPr>
              <a:t>@PersistenceContext</a:t>
            </a:r>
            <a:endParaRPr sz="1600">
              <a:latin typeface="Arial"/>
              <a:cs typeface="Arial"/>
            </a:endParaRPr>
          </a:p>
          <a:p>
            <a:pPr marL="12700" marR="2067560">
              <a:lnSpc>
                <a:spcPct val="100000"/>
              </a:lnSpc>
            </a:pPr>
            <a:r>
              <a:rPr sz="1600" dirty="0">
                <a:latin typeface="Arial"/>
                <a:cs typeface="Arial"/>
              </a:rPr>
              <a:t>private</a:t>
            </a:r>
            <a:r>
              <a:rPr sz="1600" spc="-9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EntityManager</a:t>
            </a:r>
            <a:r>
              <a:rPr sz="1600" spc="-55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em; </a:t>
            </a:r>
            <a:r>
              <a:rPr sz="1600" spc="-10" dirty="0">
                <a:latin typeface="Arial"/>
                <a:cs typeface="Arial"/>
              </a:rPr>
              <a:t>@Transactional @Override</a:t>
            </a:r>
            <a:endParaRPr sz="1600">
              <a:latin typeface="Arial"/>
              <a:cs typeface="Arial"/>
            </a:endParaRPr>
          </a:p>
          <a:p>
            <a:pPr marL="12700" marR="1437005">
              <a:lnSpc>
                <a:spcPct val="100000"/>
              </a:lnSpc>
            </a:pPr>
            <a:r>
              <a:rPr sz="1600" dirty="0">
                <a:latin typeface="Arial"/>
                <a:cs typeface="Arial"/>
              </a:rPr>
              <a:t>public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int</a:t>
            </a:r>
            <a:r>
              <a:rPr sz="1600" spc="-10" dirty="0">
                <a:latin typeface="Arial"/>
                <a:cs typeface="Arial"/>
              </a:rPr>
              <a:t> insertData(Book</a:t>
            </a:r>
            <a:r>
              <a:rPr sz="1600" spc="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book)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spc="-50" dirty="0">
                <a:latin typeface="Arial"/>
                <a:cs typeface="Arial"/>
              </a:rPr>
              <a:t>{ </a:t>
            </a:r>
            <a:r>
              <a:rPr sz="1600" dirty="0">
                <a:latin typeface="Arial"/>
                <a:cs typeface="Arial"/>
              </a:rPr>
              <a:t>try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spc="-50" dirty="0">
                <a:latin typeface="Arial"/>
                <a:cs typeface="Arial"/>
              </a:rPr>
              <a:t>{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00" spc="-10" dirty="0">
                <a:latin typeface="Arial"/>
                <a:cs typeface="Arial"/>
              </a:rPr>
              <a:t>em.persist(book);</a:t>
            </a:r>
            <a:endParaRPr sz="1600">
              <a:latin typeface="Arial"/>
              <a:cs typeface="Arial"/>
            </a:endParaRPr>
          </a:p>
          <a:p>
            <a:pPr marL="12700" marR="1213485">
              <a:lnSpc>
                <a:spcPct val="100000"/>
              </a:lnSpc>
            </a:pPr>
            <a:r>
              <a:rPr sz="1600" dirty="0">
                <a:latin typeface="Arial"/>
                <a:cs typeface="Arial"/>
              </a:rPr>
              <a:t>}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catch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(Exception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e)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spc="-50" dirty="0">
                <a:latin typeface="Arial"/>
                <a:cs typeface="Arial"/>
              </a:rPr>
              <a:t>{ </a:t>
            </a:r>
            <a:r>
              <a:rPr sz="1600" spc="-10" dirty="0">
                <a:latin typeface="Arial"/>
                <a:cs typeface="Arial"/>
              </a:rPr>
              <a:t>System.out.println(e.getMessage()); </a:t>
            </a:r>
            <a:r>
              <a:rPr sz="1600" dirty="0">
                <a:latin typeface="Arial"/>
                <a:cs typeface="Arial"/>
              </a:rPr>
              <a:t>return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0;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spc="-50" dirty="0">
                <a:latin typeface="Arial"/>
                <a:cs typeface="Arial"/>
              </a:rPr>
              <a:t>}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latin typeface="Arial"/>
                <a:cs typeface="Arial"/>
              </a:rPr>
              <a:t>return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1;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00" spc="-50" dirty="0">
                <a:latin typeface="Arial"/>
                <a:cs typeface="Arial"/>
              </a:rPr>
              <a:t>}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Sample</a:t>
            </a:r>
            <a:r>
              <a:rPr spc="-65" dirty="0"/>
              <a:t> </a:t>
            </a:r>
            <a:r>
              <a:rPr dirty="0"/>
              <a:t>Project</a:t>
            </a:r>
            <a:r>
              <a:rPr spc="-45" dirty="0"/>
              <a:t> </a:t>
            </a:r>
            <a:r>
              <a:rPr dirty="0"/>
              <a:t>with</a:t>
            </a:r>
            <a:r>
              <a:rPr spc="-65" dirty="0"/>
              <a:t> </a:t>
            </a:r>
            <a:r>
              <a:rPr spc="-25" dirty="0"/>
              <a:t>JPA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5"/>
              </a:lnSpc>
            </a:pPr>
            <a:fld id="{81D60167-4931-47E6-BA6A-407CBD079E47}" type="slidenum">
              <a:rPr spc="-25" dirty="0"/>
              <a:t>45</a:t>
            </a:fld>
            <a:endParaRPr spc="-2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5"/>
              </a:lnSpc>
            </a:pPr>
            <a:r>
              <a:rPr dirty="0"/>
              <a:t>ACE</a:t>
            </a:r>
            <a:r>
              <a:rPr spc="-45" dirty="0"/>
              <a:t> </a:t>
            </a:r>
            <a:r>
              <a:rPr dirty="0"/>
              <a:t>Professionals</a:t>
            </a:r>
            <a:r>
              <a:rPr spc="-75" dirty="0"/>
              <a:t> </a:t>
            </a:r>
            <a:r>
              <a:rPr dirty="0"/>
              <a:t>Development</a:t>
            </a:r>
            <a:r>
              <a:rPr spc="-60" dirty="0"/>
              <a:t> </a:t>
            </a:r>
            <a:r>
              <a:rPr spc="-10" dirty="0"/>
              <a:t>Center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456555">
              <a:lnSpc>
                <a:spcPct val="150000"/>
              </a:lnSpc>
              <a:spcBef>
                <a:spcPts val="100"/>
              </a:spcBef>
            </a:pPr>
            <a:r>
              <a:rPr spc="-10" dirty="0"/>
              <a:t>@Transactional @Override</a:t>
            </a:r>
          </a:p>
          <a:p>
            <a:pPr marL="12700" marR="3746500">
              <a:lnSpc>
                <a:spcPct val="150000"/>
              </a:lnSpc>
            </a:pPr>
            <a:r>
              <a:rPr dirty="0"/>
              <a:t>public</a:t>
            </a:r>
            <a:r>
              <a:rPr spc="-70" dirty="0"/>
              <a:t> </a:t>
            </a:r>
            <a:r>
              <a:rPr dirty="0"/>
              <a:t>int</a:t>
            </a:r>
            <a:r>
              <a:rPr spc="-40" dirty="0"/>
              <a:t> </a:t>
            </a:r>
            <a:r>
              <a:rPr dirty="0"/>
              <a:t>updateData(Book</a:t>
            </a:r>
            <a:r>
              <a:rPr spc="-35" dirty="0"/>
              <a:t> </a:t>
            </a:r>
            <a:r>
              <a:rPr dirty="0"/>
              <a:t>book)</a:t>
            </a:r>
            <a:r>
              <a:rPr spc="-40" dirty="0"/>
              <a:t> </a:t>
            </a:r>
            <a:r>
              <a:rPr spc="-50" dirty="0"/>
              <a:t>{ </a:t>
            </a:r>
            <a:r>
              <a:rPr dirty="0"/>
              <a:t>Query</a:t>
            </a:r>
            <a:r>
              <a:rPr spc="-15" dirty="0"/>
              <a:t> </a:t>
            </a:r>
            <a:r>
              <a:rPr dirty="0"/>
              <a:t>query</a:t>
            </a:r>
            <a:r>
              <a:rPr spc="-15" dirty="0"/>
              <a:t> </a:t>
            </a:r>
            <a:r>
              <a:rPr dirty="0"/>
              <a:t>=</a:t>
            </a:r>
            <a:r>
              <a:rPr spc="-35" dirty="0"/>
              <a:t> </a:t>
            </a:r>
            <a:r>
              <a:rPr spc="-10" dirty="0"/>
              <a:t>em.createQuery(</a:t>
            </a:r>
          </a:p>
          <a:p>
            <a:pPr marL="12700" marR="5080">
              <a:lnSpc>
                <a:spcPct val="150000"/>
              </a:lnSpc>
            </a:pPr>
            <a:r>
              <a:rPr spc="-10" dirty="0"/>
              <a:t>"UPDATE</a:t>
            </a:r>
            <a:r>
              <a:rPr spc="-50" dirty="0"/>
              <a:t> </a:t>
            </a:r>
            <a:r>
              <a:rPr dirty="0"/>
              <a:t>Book</a:t>
            </a:r>
            <a:r>
              <a:rPr spc="-25" dirty="0"/>
              <a:t> </a:t>
            </a:r>
            <a:r>
              <a:rPr dirty="0"/>
              <a:t>b</a:t>
            </a:r>
            <a:r>
              <a:rPr spc="-35" dirty="0"/>
              <a:t> </a:t>
            </a:r>
            <a:r>
              <a:rPr dirty="0"/>
              <a:t>SET</a:t>
            </a:r>
            <a:r>
              <a:rPr spc="-55" dirty="0"/>
              <a:t> </a:t>
            </a:r>
            <a:r>
              <a:rPr spc="-10" dirty="0"/>
              <a:t>b.bookTitle</a:t>
            </a:r>
            <a:r>
              <a:rPr spc="-50" dirty="0"/>
              <a:t> </a:t>
            </a:r>
            <a:r>
              <a:rPr dirty="0"/>
              <a:t>=</a:t>
            </a:r>
            <a:r>
              <a:rPr spc="-25" dirty="0"/>
              <a:t> </a:t>
            </a:r>
            <a:r>
              <a:rPr spc="-10" dirty="0"/>
              <a:t>:bookTitle,</a:t>
            </a:r>
            <a:r>
              <a:rPr spc="-30" dirty="0"/>
              <a:t> </a:t>
            </a:r>
            <a:r>
              <a:rPr dirty="0"/>
              <a:t>b.bookAuthor</a:t>
            </a:r>
            <a:r>
              <a:rPr spc="-20" dirty="0"/>
              <a:t> </a:t>
            </a:r>
            <a:r>
              <a:rPr dirty="0"/>
              <a:t>=:bookAuthor</a:t>
            </a:r>
            <a:r>
              <a:rPr spc="-25" dirty="0"/>
              <a:t> </a:t>
            </a:r>
            <a:r>
              <a:rPr spc="-50" dirty="0"/>
              <a:t>, </a:t>
            </a:r>
            <a:r>
              <a:rPr dirty="0"/>
              <a:t>b.bookPrice</a:t>
            </a:r>
            <a:r>
              <a:rPr spc="-50" dirty="0"/>
              <a:t> </a:t>
            </a:r>
            <a:r>
              <a:rPr dirty="0"/>
              <a:t>=:bookPrice</a:t>
            </a:r>
            <a:r>
              <a:rPr spc="-60" dirty="0"/>
              <a:t> </a:t>
            </a:r>
            <a:r>
              <a:rPr dirty="0"/>
              <a:t>WHERE</a:t>
            </a:r>
            <a:r>
              <a:rPr spc="-45" dirty="0"/>
              <a:t> </a:t>
            </a:r>
            <a:r>
              <a:rPr dirty="0"/>
              <a:t>b.bookCode</a:t>
            </a:r>
            <a:r>
              <a:rPr spc="-50" dirty="0"/>
              <a:t> </a:t>
            </a:r>
            <a:r>
              <a:rPr spc="-10" dirty="0"/>
              <a:t>=:bookCode"); query.setParameter("bookTitle",</a:t>
            </a:r>
            <a:r>
              <a:rPr spc="-55" dirty="0"/>
              <a:t> </a:t>
            </a:r>
            <a:r>
              <a:rPr spc="-10" dirty="0"/>
              <a:t>book.getBookTitle()); query.setParameter("bookAuthor",</a:t>
            </a:r>
            <a:r>
              <a:rPr spc="-30" dirty="0"/>
              <a:t> </a:t>
            </a:r>
            <a:r>
              <a:rPr spc="-10" dirty="0"/>
              <a:t>book.getBookAuthor()); query.setParameter("bookPrice", book.getBookPrice()); query.setParameter("bookCode",</a:t>
            </a:r>
            <a:r>
              <a:rPr spc="-15" dirty="0"/>
              <a:t> </a:t>
            </a:r>
            <a:r>
              <a:rPr spc="-10" dirty="0"/>
              <a:t>book.getBookCode());</a:t>
            </a: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/>
              <a:t>int</a:t>
            </a:r>
            <a:r>
              <a:rPr spc="-10" dirty="0"/>
              <a:t> </a:t>
            </a:r>
            <a:r>
              <a:rPr dirty="0"/>
              <a:t>i</a:t>
            </a:r>
            <a:r>
              <a:rPr spc="-5" dirty="0"/>
              <a:t> </a:t>
            </a:r>
            <a:r>
              <a:rPr dirty="0"/>
              <a:t>=</a:t>
            </a:r>
            <a:r>
              <a:rPr spc="-5" dirty="0"/>
              <a:t> </a:t>
            </a:r>
            <a:r>
              <a:rPr spc="-10" dirty="0"/>
              <a:t>query.executeUpdate();</a:t>
            </a:r>
          </a:p>
          <a:p>
            <a:pPr marL="12700">
              <a:lnSpc>
                <a:spcPct val="100000"/>
              </a:lnSpc>
              <a:spcBef>
                <a:spcPts val="965"/>
              </a:spcBef>
            </a:pPr>
            <a:r>
              <a:rPr dirty="0"/>
              <a:t>return</a:t>
            </a:r>
            <a:r>
              <a:rPr spc="-15" dirty="0"/>
              <a:t> </a:t>
            </a:r>
            <a:r>
              <a:rPr spc="-25" dirty="0"/>
              <a:t>i;</a:t>
            </a: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pc="-50" dirty="0"/>
              <a:t>}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Sample</a:t>
            </a:r>
            <a:r>
              <a:rPr spc="-65" dirty="0"/>
              <a:t> </a:t>
            </a:r>
            <a:r>
              <a:rPr dirty="0"/>
              <a:t>Project</a:t>
            </a:r>
            <a:r>
              <a:rPr spc="-45" dirty="0"/>
              <a:t> </a:t>
            </a:r>
            <a:r>
              <a:rPr dirty="0"/>
              <a:t>with</a:t>
            </a:r>
            <a:r>
              <a:rPr spc="-65" dirty="0"/>
              <a:t> </a:t>
            </a:r>
            <a:r>
              <a:rPr spc="-25" dirty="0"/>
              <a:t>JPA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5"/>
              </a:lnSpc>
            </a:pPr>
            <a:fld id="{81D60167-4931-47E6-BA6A-407CBD079E47}" type="slidenum">
              <a:rPr spc="-25" dirty="0"/>
              <a:t>46</a:t>
            </a:fld>
            <a:endParaRPr spc="-2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5"/>
              </a:lnSpc>
            </a:pPr>
            <a:r>
              <a:rPr dirty="0"/>
              <a:t>ACE</a:t>
            </a:r>
            <a:r>
              <a:rPr spc="-45" dirty="0"/>
              <a:t> </a:t>
            </a:r>
            <a:r>
              <a:rPr dirty="0"/>
              <a:t>Professionals</a:t>
            </a:r>
            <a:r>
              <a:rPr spc="-75" dirty="0"/>
              <a:t> </a:t>
            </a:r>
            <a:r>
              <a:rPr dirty="0"/>
              <a:t>Development</a:t>
            </a:r>
            <a:r>
              <a:rPr spc="-60" dirty="0"/>
              <a:t> </a:t>
            </a:r>
            <a:r>
              <a:rPr spc="-10" dirty="0"/>
              <a:t>Center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3864" y="1324102"/>
            <a:ext cx="7552055" cy="36836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6114415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Arial"/>
                <a:cs typeface="Arial"/>
              </a:rPr>
              <a:t>@Transactional @Override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latin typeface="Arial"/>
                <a:cs typeface="Arial"/>
              </a:rPr>
              <a:t>public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int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deleteData(String</a:t>
            </a:r>
            <a:r>
              <a:rPr sz="1600" spc="-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bookCode)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spc="-50" dirty="0">
                <a:latin typeface="Arial"/>
                <a:cs typeface="Arial"/>
              </a:rPr>
              <a:t>{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latin typeface="Arial"/>
                <a:cs typeface="Arial"/>
              </a:rPr>
              <a:t>Query</a:t>
            </a:r>
            <a:r>
              <a:rPr sz="1600" spc="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query =</a:t>
            </a:r>
            <a:r>
              <a:rPr sz="1600" spc="-10" dirty="0">
                <a:latin typeface="Arial"/>
                <a:cs typeface="Arial"/>
              </a:rPr>
              <a:t> em.createQuery("DELETE</a:t>
            </a:r>
            <a:r>
              <a:rPr sz="1600" spc="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FROM</a:t>
            </a:r>
            <a:r>
              <a:rPr sz="1600" spc="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Book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b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WHERE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b.bookCode</a:t>
            </a:r>
            <a:endParaRPr sz="1600">
              <a:latin typeface="Arial"/>
              <a:cs typeface="Arial"/>
            </a:endParaRPr>
          </a:p>
          <a:p>
            <a:pPr marL="12700" marR="3462020">
              <a:lnSpc>
                <a:spcPct val="100000"/>
              </a:lnSpc>
            </a:pPr>
            <a:r>
              <a:rPr sz="1600" spc="-10" dirty="0">
                <a:latin typeface="Arial"/>
                <a:cs typeface="Arial"/>
              </a:rPr>
              <a:t>=:bookCode"); query.setParameter("bookCode",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bookCode); </a:t>
            </a:r>
            <a:r>
              <a:rPr sz="1600" dirty="0">
                <a:latin typeface="Arial"/>
                <a:cs typeface="Arial"/>
              </a:rPr>
              <a:t>int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</a:t>
            </a:r>
            <a:r>
              <a:rPr sz="1600" spc="-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=</a:t>
            </a:r>
            <a:r>
              <a:rPr sz="1600" spc="-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query.executeUpdate();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latin typeface="Arial"/>
                <a:cs typeface="Arial"/>
              </a:rPr>
              <a:t>return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i;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spc="-50" dirty="0">
                <a:latin typeface="Arial"/>
                <a:cs typeface="Arial"/>
              </a:rPr>
              <a:t>}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00" spc="-10" dirty="0">
                <a:latin typeface="Arial"/>
                <a:cs typeface="Arial"/>
              </a:rPr>
              <a:t>@Override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latin typeface="Arial"/>
                <a:cs typeface="Arial"/>
              </a:rPr>
              <a:t>public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Book</a:t>
            </a:r>
            <a:r>
              <a:rPr sz="1600" spc="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selectOne(String</a:t>
            </a:r>
            <a:r>
              <a:rPr sz="1600" spc="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bookCode)</a:t>
            </a:r>
            <a:r>
              <a:rPr sz="1600" spc="-5" dirty="0">
                <a:latin typeface="Arial"/>
                <a:cs typeface="Arial"/>
              </a:rPr>
              <a:t> </a:t>
            </a:r>
            <a:r>
              <a:rPr sz="1600" spc="-50" dirty="0">
                <a:latin typeface="Arial"/>
                <a:cs typeface="Arial"/>
              </a:rPr>
              <a:t>{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latin typeface="Arial"/>
                <a:cs typeface="Arial"/>
              </a:rPr>
              <a:t>Book book</a:t>
            </a:r>
            <a:r>
              <a:rPr sz="1600" spc="-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=</a:t>
            </a:r>
            <a:r>
              <a:rPr sz="1600" spc="-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em.createQuery("SELECT</a:t>
            </a:r>
            <a:r>
              <a:rPr sz="1600" spc="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b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FROM</a:t>
            </a:r>
            <a:r>
              <a:rPr sz="1600" spc="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Book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b</a:t>
            </a:r>
            <a:r>
              <a:rPr sz="1600" spc="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WHERE </a:t>
            </a:r>
            <a:r>
              <a:rPr sz="1600" spc="-10" dirty="0">
                <a:latin typeface="Arial"/>
                <a:cs typeface="Arial"/>
              </a:rPr>
              <a:t>b.bookCode</a:t>
            </a:r>
            <a:endParaRPr sz="16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sz="1600" dirty="0">
                <a:latin typeface="Arial"/>
                <a:cs typeface="Arial"/>
              </a:rPr>
              <a:t>=:bookCode",</a:t>
            </a:r>
            <a:r>
              <a:rPr sz="1600" spc="3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Book.class).setParameter("bookCode",</a:t>
            </a:r>
            <a:r>
              <a:rPr sz="1600" spc="5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bookCode).getSingleResult(); </a:t>
            </a:r>
            <a:r>
              <a:rPr sz="1600" dirty="0">
                <a:latin typeface="Arial"/>
                <a:cs typeface="Arial"/>
              </a:rPr>
              <a:t>return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book;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00" spc="-50" dirty="0">
                <a:latin typeface="Arial"/>
                <a:cs typeface="Arial"/>
              </a:rPr>
              <a:t>}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Sample</a:t>
            </a:r>
            <a:r>
              <a:rPr spc="-65" dirty="0"/>
              <a:t> </a:t>
            </a:r>
            <a:r>
              <a:rPr dirty="0"/>
              <a:t>Project</a:t>
            </a:r>
            <a:r>
              <a:rPr spc="-45" dirty="0"/>
              <a:t> </a:t>
            </a:r>
            <a:r>
              <a:rPr dirty="0"/>
              <a:t>with</a:t>
            </a:r>
            <a:r>
              <a:rPr spc="-65" dirty="0"/>
              <a:t> </a:t>
            </a:r>
            <a:r>
              <a:rPr spc="-25" dirty="0"/>
              <a:t>JPA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5"/>
              </a:lnSpc>
            </a:pPr>
            <a:fld id="{81D60167-4931-47E6-BA6A-407CBD079E47}" type="slidenum">
              <a:rPr spc="-25" dirty="0"/>
              <a:t>47</a:t>
            </a:fld>
            <a:endParaRPr spc="-2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5"/>
              </a:lnSpc>
            </a:pPr>
            <a:r>
              <a:rPr dirty="0"/>
              <a:t>ACE</a:t>
            </a:r>
            <a:r>
              <a:rPr spc="-45" dirty="0"/>
              <a:t> </a:t>
            </a:r>
            <a:r>
              <a:rPr dirty="0"/>
              <a:t>Professionals</a:t>
            </a:r>
            <a:r>
              <a:rPr spc="-75" dirty="0"/>
              <a:t> </a:t>
            </a:r>
            <a:r>
              <a:rPr dirty="0"/>
              <a:t>Development</a:t>
            </a:r>
            <a:r>
              <a:rPr spc="-60" dirty="0"/>
              <a:t> </a:t>
            </a:r>
            <a:r>
              <a:rPr spc="-10" dirty="0"/>
              <a:t>Center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839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@Override</a:t>
            </a:r>
          </a:p>
          <a:p>
            <a:pPr marL="12700">
              <a:lnSpc>
                <a:spcPct val="100000"/>
              </a:lnSpc>
            </a:pPr>
            <a:r>
              <a:rPr dirty="0"/>
              <a:t>public</a:t>
            </a:r>
            <a:r>
              <a:rPr spc="-65" dirty="0"/>
              <a:t> </a:t>
            </a:r>
            <a:r>
              <a:rPr dirty="0"/>
              <a:t>List&lt;Book&gt;</a:t>
            </a:r>
            <a:r>
              <a:rPr spc="-35" dirty="0"/>
              <a:t> </a:t>
            </a:r>
            <a:r>
              <a:rPr dirty="0"/>
              <a:t>selectAll()</a:t>
            </a:r>
            <a:r>
              <a:rPr spc="-60" dirty="0"/>
              <a:t> </a:t>
            </a:r>
            <a:r>
              <a:rPr spc="-50" dirty="0"/>
              <a:t>{</a:t>
            </a:r>
          </a:p>
          <a:p>
            <a:pPr marL="12700">
              <a:lnSpc>
                <a:spcPct val="100000"/>
              </a:lnSpc>
            </a:pPr>
            <a:r>
              <a:rPr dirty="0"/>
              <a:t>List&lt;Book&gt;</a:t>
            </a:r>
            <a:r>
              <a:rPr spc="-25" dirty="0"/>
              <a:t> </a:t>
            </a:r>
            <a:r>
              <a:rPr dirty="0"/>
              <a:t>lstBook</a:t>
            </a:r>
            <a:r>
              <a:rPr spc="-20" dirty="0"/>
              <a:t> </a:t>
            </a:r>
            <a:r>
              <a:rPr dirty="0"/>
              <a:t>=</a:t>
            </a:r>
            <a:r>
              <a:rPr spc="-5" dirty="0"/>
              <a:t> </a:t>
            </a:r>
            <a:r>
              <a:rPr spc="-10" dirty="0"/>
              <a:t>em.createQuery("SELECT</a:t>
            </a:r>
            <a:r>
              <a:rPr spc="-5" dirty="0"/>
              <a:t> </a:t>
            </a:r>
            <a:r>
              <a:rPr dirty="0"/>
              <a:t>b</a:t>
            </a:r>
            <a:r>
              <a:rPr spc="-10" dirty="0"/>
              <a:t> </a:t>
            </a:r>
            <a:r>
              <a:rPr dirty="0"/>
              <a:t>FROM</a:t>
            </a:r>
            <a:r>
              <a:rPr spc="5" dirty="0"/>
              <a:t> </a:t>
            </a:r>
            <a:r>
              <a:rPr dirty="0"/>
              <a:t>Book</a:t>
            </a:r>
            <a:r>
              <a:rPr spc="-15" dirty="0"/>
              <a:t> </a:t>
            </a:r>
            <a:r>
              <a:rPr spc="-25" dirty="0"/>
              <a:t>b",</a:t>
            </a:r>
          </a:p>
          <a:p>
            <a:pPr marL="12700">
              <a:lnSpc>
                <a:spcPct val="100000"/>
              </a:lnSpc>
            </a:pPr>
            <a:r>
              <a:rPr spc="-10" dirty="0"/>
              <a:t>Book.class).getResultList();</a:t>
            </a:r>
          </a:p>
          <a:p>
            <a:pPr marL="12700">
              <a:lnSpc>
                <a:spcPct val="100000"/>
              </a:lnSpc>
            </a:pPr>
            <a:r>
              <a:rPr dirty="0"/>
              <a:t>return</a:t>
            </a:r>
            <a:r>
              <a:rPr spc="-15" dirty="0"/>
              <a:t> </a:t>
            </a:r>
            <a:r>
              <a:rPr spc="-10" dirty="0"/>
              <a:t>lstBook;</a:t>
            </a:r>
          </a:p>
          <a:p>
            <a:pPr marL="12700">
              <a:lnSpc>
                <a:spcPct val="100000"/>
              </a:lnSpc>
            </a:pPr>
            <a:r>
              <a:rPr spc="-50" dirty="0"/>
              <a:t>}</a:t>
            </a: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0" dirty="0"/>
              <a:t>}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Sample</a:t>
            </a:r>
            <a:r>
              <a:rPr spc="-65" dirty="0"/>
              <a:t> </a:t>
            </a:r>
            <a:r>
              <a:rPr dirty="0"/>
              <a:t>Project</a:t>
            </a:r>
            <a:r>
              <a:rPr spc="-45" dirty="0"/>
              <a:t> </a:t>
            </a:r>
            <a:r>
              <a:rPr dirty="0"/>
              <a:t>with</a:t>
            </a:r>
            <a:r>
              <a:rPr spc="-65" dirty="0"/>
              <a:t> </a:t>
            </a:r>
            <a:r>
              <a:rPr spc="-25" dirty="0"/>
              <a:t>JPA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5"/>
              </a:lnSpc>
            </a:pPr>
            <a:fld id="{81D60167-4931-47E6-BA6A-407CBD079E47}" type="slidenum">
              <a:rPr spc="-25" dirty="0"/>
              <a:t>48</a:t>
            </a:fld>
            <a:endParaRPr spc="-2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5"/>
              </a:lnSpc>
            </a:pPr>
            <a:r>
              <a:rPr dirty="0"/>
              <a:t>ACE</a:t>
            </a:r>
            <a:r>
              <a:rPr spc="-45" dirty="0"/>
              <a:t> </a:t>
            </a:r>
            <a:r>
              <a:rPr dirty="0"/>
              <a:t>Professionals</a:t>
            </a:r>
            <a:r>
              <a:rPr spc="-75" dirty="0"/>
              <a:t> </a:t>
            </a:r>
            <a:r>
              <a:rPr dirty="0"/>
              <a:t>Development</a:t>
            </a:r>
            <a:r>
              <a:rPr spc="-60" dirty="0"/>
              <a:t> </a:t>
            </a:r>
            <a:r>
              <a:rPr spc="-10" dirty="0"/>
              <a:t>Center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3864" y="1567942"/>
            <a:ext cx="7025640" cy="41713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Arial"/>
                <a:cs typeface="Arial"/>
              </a:rPr>
              <a:t>6.</a:t>
            </a:r>
            <a:r>
              <a:rPr sz="1600" b="1" spc="-5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BookController.java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00" spc="-10" dirty="0">
                <a:latin typeface="Arial"/>
                <a:cs typeface="Arial"/>
              </a:rPr>
              <a:t>@Controller</a:t>
            </a:r>
            <a:endParaRPr sz="1600">
              <a:latin typeface="Arial"/>
              <a:cs typeface="Arial"/>
            </a:endParaRPr>
          </a:p>
          <a:p>
            <a:pPr marL="12700" marR="4432300">
              <a:lnSpc>
                <a:spcPct val="100000"/>
              </a:lnSpc>
              <a:spcBef>
                <a:spcPts val="5"/>
              </a:spcBef>
            </a:pPr>
            <a:r>
              <a:rPr sz="1600" dirty="0">
                <a:latin typeface="Arial"/>
                <a:cs typeface="Arial"/>
              </a:rPr>
              <a:t>public</a:t>
            </a:r>
            <a:r>
              <a:rPr sz="1600" spc="-6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class</a:t>
            </a:r>
            <a:r>
              <a:rPr sz="1600" spc="-5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BookController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spc="-50" dirty="0">
                <a:latin typeface="Arial"/>
                <a:cs typeface="Arial"/>
              </a:rPr>
              <a:t>{ </a:t>
            </a:r>
            <a:r>
              <a:rPr sz="1600" spc="-10" dirty="0">
                <a:latin typeface="Arial"/>
                <a:cs typeface="Arial"/>
              </a:rPr>
              <a:t>@Autowired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latin typeface="Arial"/>
                <a:cs typeface="Arial"/>
              </a:rPr>
              <a:t>BookDao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bookDao;</a:t>
            </a:r>
            <a:endParaRPr sz="1600">
              <a:latin typeface="Arial"/>
              <a:cs typeface="Arial"/>
            </a:endParaRPr>
          </a:p>
          <a:p>
            <a:pPr marL="12700" marR="1280795">
              <a:lnSpc>
                <a:spcPct val="100000"/>
              </a:lnSpc>
            </a:pPr>
            <a:r>
              <a:rPr sz="1600" spc="-10" dirty="0">
                <a:latin typeface="Arial"/>
                <a:cs typeface="Arial"/>
              </a:rPr>
              <a:t>@RequestMapping(value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=</a:t>
            </a:r>
            <a:r>
              <a:rPr sz="1600" spc="-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"/",</a:t>
            </a:r>
            <a:r>
              <a:rPr sz="1600" spc="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method =</a:t>
            </a:r>
            <a:r>
              <a:rPr sz="1600" spc="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RequestMethod.GET) </a:t>
            </a:r>
            <a:r>
              <a:rPr sz="1600" dirty="0">
                <a:latin typeface="Arial"/>
                <a:cs typeface="Arial"/>
              </a:rPr>
              <a:t>public</a:t>
            </a:r>
            <a:r>
              <a:rPr sz="1600" spc="-5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String</a:t>
            </a:r>
            <a:r>
              <a:rPr sz="1600" spc="-10" dirty="0">
                <a:latin typeface="Arial"/>
                <a:cs typeface="Arial"/>
              </a:rPr>
              <a:t> displayView(ModelMap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model)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spc="-50" dirty="0">
                <a:latin typeface="Arial"/>
                <a:cs typeface="Arial"/>
              </a:rPr>
              <a:t>{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latin typeface="Arial"/>
                <a:cs typeface="Arial"/>
              </a:rPr>
              <a:t>List&lt;Book&gt;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list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=</a:t>
            </a:r>
            <a:r>
              <a:rPr sz="1600" spc="-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bookDao.selectAll();</a:t>
            </a:r>
            <a:endParaRPr sz="1600">
              <a:latin typeface="Arial"/>
              <a:cs typeface="Arial"/>
            </a:endParaRPr>
          </a:p>
          <a:p>
            <a:pPr marL="12700" marR="4353560">
              <a:lnSpc>
                <a:spcPct val="100000"/>
              </a:lnSpc>
            </a:pPr>
            <a:r>
              <a:rPr sz="1600" spc="-10" dirty="0">
                <a:latin typeface="Arial"/>
                <a:cs typeface="Arial"/>
              </a:rPr>
              <a:t>model.addAttribute("list",</a:t>
            </a:r>
            <a:r>
              <a:rPr sz="1600" spc="5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list); </a:t>
            </a:r>
            <a:r>
              <a:rPr sz="1600" dirty="0">
                <a:latin typeface="Arial"/>
                <a:cs typeface="Arial"/>
              </a:rPr>
              <a:t>return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"displaybook";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00" spc="-50" dirty="0">
                <a:latin typeface="Arial"/>
                <a:cs typeface="Arial"/>
              </a:rPr>
              <a:t>}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6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sz="1600" spc="-10" dirty="0">
                <a:latin typeface="Arial"/>
                <a:cs typeface="Arial"/>
              </a:rPr>
              <a:t>@RequestMapping(value </a:t>
            </a:r>
            <a:r>
              <a:rPr sz="1600" dirty="0">
                <a:latin typeface="Arial"/>
                <a:cs typeface="Arial"/>
              </a:rPr>
              <a:t>= </a:t>
            </a:r>
            <a:r>
              <a:rPr sz="1600" spc="-10" dirty="0">
                <a:latin typeface="Arial"/>
                <a:cs typeface="Arial"/>
              </a:rPr>
              <a:t>"/setupaddbook",</a:t>
            </a:r>
            <a:r>
              <a:rPr sz="1600" spc="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method</a:t>
            </a:r>
            <a:r>
              <a:rPr sz="1600" spc="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=</a:t>
            </a:r>
            <a:r>
              <a:rPr sz="1600" spc="2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RequestMethod.GET) </a:t>
            </a:r>
            <a:r>
              <a:rPr sz="1600" dirty="0">
                <a:latin typeface="Arial"/>
                <a:cs typeface="Arial"/>
              </a:rPr>
              <a:t>public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ModelAndView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setupaddBook()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spc="-50" dirty="0">
                <a:latin typeface="Arial"/>
                <a:cs typeface="Arial"/>
              </a:rPr>
              <a:t>{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dirty="0">
                <a:latin typeface="Arial"/>
                <a:cs typeface="Arial"/>
              </a:rPr>
              <a:t>return</a:t>
            </a:r>
            <a:r>
              <a:rPr sz="1600" spc="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new</a:t>
            </a:r>
            <a:r>
              <a:rPr sz="1600" spc="1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ModelAndView("addbook",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"bean",</a:t>
            </a:r>
            <a:r>
              <a:rPr sz="1600" spc="-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new </a:t>
            </a:r>
            <a:r>
              <a:rPr sz="1600" spc="-10" dirty="0">
                <a:latin typeface="Arial"/>
                <a:cs typeface="Arial"/>
              </a:rPr>
              <a:t>Book());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00" spc="-50" dirty="0">
                <a:latin typeface="Arial"/>
                <a:cs typeface="Arial"/>
              </a:rPr>
              <a:t>}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Sample</a:t>
            </a:r>
            <a:r>
              <a:rPr spc="-65" dirty="0"/>
              <a:t> </a:t>
            </a:r>
            <a:r>
              <a:rPr dirty="0"/>
              <a:t>Project</a:t>
            </a:r>
            <a:r>
              <a:rPr spc="-45" dirty="0"/>
              <a:t> </a:t>
            </a:r>
            <a:r>
              <a:rPr dirty="0"/>
              <a:t>with</a:t>
            </a:r>
            <a:r>
              <a:rPr spc="-65" dirty="0"/>
              <a:t> </a:t>
            </a:r>
            <a:r>
              <a:rPr spc="-25" dirty="0"/>
              <a:t>JPA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5"/>
              </a:lnSpc>
            </a:pPr>
            <a:fld id="{81D60167-4931-47E6-BA6A-407CBD079E47}" type="slidenum">
              <a:rPr spc="-25" dirty="0"/>
              <a:t>49</a:t>
            </a:fld>
            <a:endParaRPr spc="-2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5"/>
              </a:lnSpc>
            </a:pPr>
            <a:r>
              <a:rPr dirty="0"/>
              <a:t>ACE</a:t>
            </a:r>
            <a:r>
              <a:rPr spc="-45" dirty="0"/>
              <a:t> </a:t>
            </a:r>
            <a:r>
              <a:rPr dirty="0"/>
              <a:t>Professionals</a:t>
            </a:r>
            <a:r>
              <a:rPr spc="-75" dirty="0"/>
              <a:t> </a:t>
            </a:r>
            <a:r>
              <a:rPr dirty="0"/>
              <a:t>Development</a:t>
            </a:r>
            <a:r>
              <a:rPr spc="-60" dirty="0"/>
              <a:t> </a:t>
            </a:r>
            <a:r>
              <a:rPr spc="-10" dirty="0"/>
              <a:t>Center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3864" y="1324102"/>
            <a:ext cx="6664325" cy="41713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Arial"/>
                <a:cs typeface="Arial"/>
              </a:rPr>
              <a:t>@RequestMapping(value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=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"/addbook",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method</a:t>
            </a:r>
            <a:r>
              <a:rPr sz="1600" spc="-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= </a:t>
            </a:r>
            <a:r>
              <a:rPr sz="1600" spc="-10" dirty="0">
                <a:latin typeface="Arial"/>
                <a:cs typeface="Arial"/>
              </a:rPr>
              <a:t>RequestMethod.POST) </a:t>
            </a:r>
            <a:r>
              <a:rPr sz="1600" dirty="0">
                <a:latin typeface="Arial"/>
                <a:cs typeface="Arial"/>
              </a:rPr>
              <a:t>public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String</a:t>
            </a:r>
            <a:r>
              <a:rPr sz="1600" spc="1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addBook(@ModelAttribute("bean")</a:t>
            </a:r>
            <a:r>
              <a:rPr sz="1600" spc="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Book </a:t>
            </a:r>
            <a:r>
              <a:rPr sz="1600" spc="-10" dirty="0">
                <a:latin typeface="Arial"/>
                <a:cs typeface="Arial"/>
              </a:rPr>
              <a:t>bean,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latin typeface="Arial"/>
                <a:cs typeface="Arial"/>
              </a:rPr>
              <a:t>ModelMap</a:t>
            </a:r>
            <a:r>
              <a:rPr sz="1600" spc="-8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model)</a:t>
            </a:r>
            <a:r>
              <a:rPr sz="1600" spc="-80" dirty="0">
                <a:latin typeface="Arial"/>
                <a:cs typeface="Arial"/>
              </a:rPr>
              <a:t> </a:t>
            </a:r>
            <a:r>
              <a:rPr sz="1600" spc="-50" dirty="0">
                <a:latin typeface="Arial"/>
                <a:cs typeface="Arial"/>
              </a:rPr>
              <a:t>{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latin typeface="Arial"/>
                <a:cs typeface="Arial"/>
              </a:rPr>
              <a:t>int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res =</a:t>
            </a:r>
            <a:r>
              <a:rPr sz="1600" spc="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bookDao.insertData(bean);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latin typeface="Arial"/>
                <a:cs typeface="Arial"/>
              </a:rPr>
              <a:t>if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(res</a:t>
            </a:r>
            <a:r>
              <a:rPr sz="1600" spc="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==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0)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spc="-50" dirty="0">
                <a:latin typeface="Arial"/>
                <a:cs typeface="Arial"/>
              </a:rPr>
              <a:t>{</a:t>
            </a:r>
            <a:endParaRPr sz="1600">
              <a:latin typeface="Arial"/>
              <a:cs typeface="Arial"/>
            </a:endParaRPr>
          </a:p>
          <a:p>
            <a:pPr marL="12700" marR="2797175">
              <a:lnSpc>
                <a:spcPct val="100000"/>
              </a:lnSpc>
            </a:pPr>
            <a:r>
              <a:rPr sz="1600" spc="-10" dirty="0">
                <a:latin typeface="Arial"/>
                <a:cs typeface="Arial"/>
              </a:rPr>
              <a:t>model.addAttribute("error",</a:t>
            </a:r>
            <a:r>
              <a:rPr sz="1600" spc="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"Insert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Failed"); </a:t>
            </a:r>
            <a:r>
              <a:rPr sz="1600" dirty="0">
                <a:latin typeface="Arial"/>
                <a:cs typeface="Arial"/>
              </a:rPr>
              <a:t>return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"addbook";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00" spc="-50" dirty="0">
                <a:latin typeface="Arial"/>
                <a:cs typeface="Arial"/>
              </a:rPr>
              <a:t>}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dirty="0">
                <a:latin typeface="Arial"/>
                <a:cs typeface="Arial"/>
              </a:rPr>
              <a:t>return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"redirect:/";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00" spc="-50" dirty="0">
                <a:latin typeface="Arial"/>
                <a:cs typeface="Arial"/>
              </a:rPr>
              <a:t>}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600">
              <a:latin typeface="Arial"/>
              <a:cs typeface="Arial"/>
            </a:endParaRPr>
          </a:p>
          <a:p>
            <a:pPr marL="12700" marR="309880">
              <a:lnSpc>
                <a:spcPct val="100000"/>
              </a:lnSpc>
            </a:pPr>
            <a:r>
              <a:rPr sz="1600" spc="-10" dirty="0">
                <a:latin typeface="Arial"/>
                <a:cs typeface="Arial"/>
              </a:rPr>
              <a:t>@RequestMapping(value</a:t>
            </a:r>
            <a:r>
              <a:rPr sz="1600" spc="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=</a:t>
            </a:r>
            <a:r>
              <a:rPr sz="1600" spc="2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"setupupdateBook/{bookCode}",</a:t>
            </a:r>
            <a:r>
              <a:rPr sz="1600" spc="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method</a:t>
            </a:r>
            <a:r>
              <a:rPr sz="1600" spc="40" dirty="0">
                <a:latin typeface="Arial"/>
                <a:cs typeface="Arial"/>
              </a:rPr>
              <a:t> </a:t>
            </a:r>
            <a:r>
              <a:rPr sz="1600" spc="-50" dirty="0">
                <a:latin typeface="Arial"/>
                <a:cs typeface="Arial"/>
              </a:rPr>
              <a:t>= </a:t>
            </a:r>
            <a:r>
              <a:rPr sz="1600" spc="-10" dirty="0">
                <a:latin typeface="Arial"/>
                <a:cs typeface="Arial"/>
              </a:rPr>
              <a:t>RequestMethod.GET)</a:t>
            </a:r>
            <a:endParaRPr sz="1600">
              <a:latin typeface="Arial"/>
              <a:cs typeface="Arial"/>
            </a:endParaRPr>
          </a:p>
          <a:p>
            <a:pPr marL="12700" marR="320040">
              <a:lnSpc>
                <a:spcPct val="100000"/>
              </a:lnSpc>
            </a:pPr>
            <a:r>
              <a:rPr sz="1600" dirty="0">
                <a:latin typeface="Arial"/>
                <a:cs typeface="Arial"/>
              </a:rPr>
              <a:t>public</a:t>
            </a:r>
            <a:r>
              <a:rPr sz="1600" spc="-7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ModelAndView</a:t>
            </a:r>
            <a:r>
              <a:rPr sz="1600" spc="-8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setupUpdate(@PathVariable</a:t>
            </a:r>
            <a:r>
              <a:rPr sz="1600" spc="-5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String</a:t>
            </a:r>
            <a:r>
              <a:rPr sz="1600" spc="-5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bookCode)</a:t>
            </a:r>
            <a:r>
              <a:rPr sz="1600" spc="-60" dirty="0">
                <a:latin typeface="Arial"/>
                <a:cs typeface="Arial"/>
              </a:rPr>
              <a:t> </a:t>
            </a:r>
            <a:r>
              <a:rPr sz="1600" spc="-50" dirty="0">
                <a:latin typeface="Arial"/>
                <a:cs typeface="Arial"/>
              </a:rPr>
              <a:t>{ </a:t>
            </a:r>
            <a:r>
              <a:rPr sz="1600" dirty="0">
                <a:latin typeface="Arial"/>
                <a:cs typeface="Arial"/>
              </a:rPr>
              <a:t>return</a:t>
            </a:r>
            <a:r>
              <a:rPr sz="1600" spc="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new</a:t>
            </a:r>
            <a:r>
              <a:rPr sz="1600" spc="2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ModelAndView("updatebook",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"bean", bookDao.selectOne(bookCode));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spc="-50" dirty="0">
                <a:latin typeface="Arial"/>
                <a:cs typeface="Arial"/>
              </a:rPr>
              <a:t>}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Sample</a:t>
            </a:r>
            <a:r>
              <a:rPr spc="-65" dirty="0"/>
              <a:t> </a:t>
            </a:r>
            <a:r>
              <a:rPr dirty="0"/>
              <a:t>Project</a:t>
            </a:r>
            <a:r>
              <a:rPr spc="-45" dirty="0"/>
              <a:t> </a:t>
            </a:r>
            <a:r>
              <a:rPr dirty="0"/>
              <a:t>with</a:t>
            </a:r>
            <a:r>
              <a:rPr spc="-65" dirty="0"/>
              <a:t> </a:t>
            </a:r>
            <a:r>
              <a:rPr spc="-25" dirty="0"/>
              <a:t>JPA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5"/>
              </a:lnSpc>
            </a:pPr>
            <a:fld id="{81D60167-4931-47E6-BA6A-407CBD079E47}" type="slidenum">
              <a:rPr spc="-25" dirty="0"/>
              <a:t>50</a:t>
            </a:fld>
            <a:endParaRPr spc="-2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5"/>
              </a:lnSpc>
            </a:pPr>
            <a:r>
              <a:rPr dirty="0"/>
              <a:t>ACE</a:t>
            </a:r>
            <a:r>
              <a:rPr spc="-45" dirty="0"/>
              <a:t> </a:t>
            </a:r>
            <a:r>
              <a:rPr dirty="0"/>
              <a:t>Professionals</a:t>
            </a:r>
            <a:r>
              <a:rPr spc="-75" dirty="0"/>
              <a:t> </a:t>
            </a:r>
            <a:r>
              <a:rPr dirty="0"/>
              <a:t>Development</a:t>
            </a:r>
            <a:r>
              <a:rPr spc="-60" dirty="0"/>
              <a:t> </a:t>
            </a:r>
            <a:r>
              <a:rPr spc="-10" dirty="0"/>
              <a:t>Center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3864" y="1324102"/>
            <a:ext cx="7068820" cy="49028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270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Arial"/>
                <a:cs typeface="Arial"/>
              </a:rPr>
              <a:t>@RequestMapping(value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=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"/updatebook",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method</a:t>
            </a:r>
            <a:r>
              <a:rPr sz="1600" spc="-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=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RequestMethod.POST) </a:t>
            </a:r>
            <a:r>
              <a:rPr sz="1600" dirty="0">
                <a:latin typeface="Arial"/>
                <a:cs typeface="Arial"/>
              </a:rPr>
              <a:t>public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String</a:t>
            </a:r>
            <a:r>
              <a:rPr sz="1600" spc="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updateBook(@ModelAttribute("bean")</a:t>
            </a:r>
            <a:r>
              <a:rPr sz="1600" dirty="0">
                <a:latin typeface="Arial"/>
                <a:cs typeface="Arial"/>
              </a:rPr>
              <a:t> Book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bean,</a:t>
            </a:r>
            <a:r>
              <a:rPr sz="1600" spc="-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ModelMap </a:t>
            </a:r>
            <a:r>
              <a:rPr sz="1600" dirty="0">
                <a:latin typeface="Arial"/>
                <a:cs typeface="Arial"/>
              </a:rPr>
              <a:t>model)</a:t>
            </a:r>
            <a:r>
              <a:rPr sz="1600" spc="-65" dirty="0">
                <a:latin typeface="Arial"/>
                <a:cs typeface="Arial"/>
              </a:rPr>
              <a:t> </a:t>
            </a:r>
            <a:r>
              <a:rPr sz="1600" spc="-50" dirty="0">
                <a:latin typeface="Arial"/>
                <a:cs typeface="Arial"/>
              </a:rPr>
              <a:t>{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latin typeface="Arial"/>
                <a:cs typeface="Arial"/>
              </a:rPr>
              <a:t>int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res =</a:t>
            </a:r>
            <a:r>
              <a:rPr sz="1600" spc="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bookDao.updateData(bean);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latin typeface="Arial"/>
                <a:cs typeface="Arial"/>
              </a:rPr>
              <a:t>if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(res</a:t>
            </a:r>
            <a:r>
              <a:rPr sz="1600" spc="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==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0)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spc="-50" dirty="0">
                <a:latin typeface="Arial"/>
                <a:cs typeface="Arial"/>
              </a:rPr>
              <a:t>{</a:t>
            </a:r>
            <a:endParaRPr sz="1600">
              <a:latin typeface="Arial"/>
              <a:cs typeface="Arial"/>
            </a:endParaRPr>
          </a:p>
          <a:p>
            <a:pPr marL="12700" marR="3056890">
              <a:lnSpc>
                <a:spcPct val="100000"/>
              </a:lnSpc>
            </a:pPr>
            <a:r>
              <a:rPr sz="1600" spc="-10" dirty="0">
                <a:latin typeface="Arial"/>
                <a:cs typeface="Arial"/>
              </a:rPr>
              <a:t>model.addAttribute("error",</a:t>
            </a:r>
            <a:r>
              <a:rPr sz="1600" spc="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"Update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Failed"); </a:t>
            </a:r>
            <a:r>
              <a:rPr sz="1600" dirty="0">
                <a:latin typeface="Arial"/>
                <a:cs typeface="Arial"/>
              </a:rPr>
              <a:t>return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"updatebook";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00" spc="-50" dirty="0">
                <a:latin typeface="Arial"/>
                <a:cs typeface="Arial"/>
              </a:rPr>
              <a:t>}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dirty="0">
                <a:latin typeface="Arial"/>
                <a:cs typeface="Arial"/>
              </a:rPr>
              <a:t>return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"redirect:/";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00" spc="-50" dirty="0">
                <a:latin typeface="Arial"/>
                <a:cs typeface="Arial"/>
              </a:rPr>
              <a:t>}</a:t>
            </a:r>
            <a:endParaRPr sz="1600">
              <a:latin typeface="Arial"/>
              <a:cs typeface="Arial"/>
            </a:endParaRPr>
          </a:p>
          <a:p>
            <a:pPr marL="12700" marR="1279525">
              <a:lnSpc>
                <a:spcPct val="100000"/>
              </a:lnSpc>
            </a:pPr>
            <a:r>
              <a:rPr sz="1600" spc="-10" dirty="0">
                <a:latin typeface="Arial"/>
                <a:cs typeface="Arial"/>
              </a:rPr>
              <a:t>@RequestMapping(value</a:t>
            </a:r>
            <a:r>
              <a:rPr sz="1600" spc="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=</a:t>
            </a:r>
            <a:r>
              <a:rPr sz="1600" spc="2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"deleteBook/{bookCode}",</a:t>
            </a:r>
            <a:r>
              <a:rPr sz="1600" spc="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method</a:t>
            </a:r>
            <a:r>
              <a:rPr sz="1600" spc="30" dirty="0">
                <a:latin typeface="Arial"/>
                <a:cs typeface="Arial"/>
              </a:rPr>
              <a:t> </a:t>
            </a:r>
            <a:r>
              <a:rPr sz="1600" spc="-50" dirty="0">
                <a:latin typeface="Arial"/>
                <a:cs typeface="Arial"/>
              </a:rPr>
              <a:t>= </a:t>
            </a:r>
            <a:r>
              <a:rPr sz="1600" spc="-10" dirty="0">
                <a:latin typeface="Arial"/>
                <a:cs typeface="Arial"/>
              </a:rPr>
              <a:t>RequestMethod.GET)</a:t>
            </a:r>
            <a:endParaRPr sz="16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sz="1600" dirty="0">
                <a:latin typeface="Arial"/>
                <a:cs typeface="Arial"/>
              </a:rPr>
              <a:t>public</a:t>
            </a:r>
            <a:r>
              <a:rPr sz="1600" spc="-6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String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deleteBook(@PathVariable</a:t>
            </a:r>
            <a:r>
              <a:rPr sz="1600" spc="-5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String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bookCode,</a:t>
            </a:r>
            <a:r>
              <a:rPr sz="1600" spc="-5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ModelMap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model)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spc="-50" dirty="0">
                <a:latin typeface="Arial"/>
                <a:cs typeface="Arial"/>
              </a:rPr>
              <a:t>{ </a:t>
            </a:r>
            <a:r>
              <a:rPr sz="1600" dirty="0">
                <a:latin typeface="Arial"/>
                <a:cs typeface="Arial"/>
              </a:rPr>
              <a:t>int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res</a:t>
            </a:r>
            <a:r>
              <a:rPr sz="1600" spc="-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=</a:t>
            </a:r>
            <a:r>
              <a:rPr sz="1600" spc="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bookDao.deleteData(bookCode);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latin typeface="Arial"/>
                <a:cs typeface="Arial"/>
              </a:rPr>
              <a:t>if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(res</a:t>
            </a:r>
            <a:r>
              <a:rPr sz="1600" spc="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==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0)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spc="-50" dirty="0">
                <a:latin typeface="Arial"/>
                <a:cs typeface="Arial"/>
              </a:rPr>
              <a:t>{</a:t>
            </a:r>
            <a:endParaRPr sz="1600">
              <a:latin typeface="Arial"/>
              <a:cs typeface="Arial"/>
            </a:endParaRPr>
          </a:p>
          <a:p>
            <a:pPr marL="12700" marR="3125470">
              <a:lnSpc>
                <a:spcPct val="100000"/>
              </a:lnSpc>
            </a:pPr>
            <a:r>
              <a:rPr sz="1600" spc="-10" dirty="0">
                <a:latin typeface="Arial"/>
                <a:cs typeface="Arial"/>
              </a:rPr>
              <a:t>model.addAttribute("error",</a:t>
            </a:r>
            <a:r>
              <a:rPr sz="1600" spc="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"Delete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Failed"); </a:t>
            </a:r>
            <a:r>
              <a:rPr sz="1600" dirty="0">
                <a:latin typeface="Arial"/>
                <a:cs typeface="Arial"/>
              </a:rPr>
              <a:t>return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"redirect:/";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00" spc="-50" dirty="0">
                <a:latin typeface="Arial"/>
                <a:cs typeface="Arial"/>
              </a:rPr>
              <a:t>}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latin typeface="Arial"/>
                <a:cs typeface="Arial"/>
              </a:rPr>
              <a:t>return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"redirect:/";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latin typeface="Arial"/>
                <a:cs typeface="Arial"/>
              </a:rPr>
              <a:t>}</a:t>
            </a:r>
            <a:r>
              <a:rPr sz="1600" spc="455" dirty="0">
                <a:latin typeface="Arial"/>
                <a:cs typeface="Arial"/>
              </a:rPr>
              <a:t> </a:t>
            </a:r>
            <a:r>
              <a:rPr sz="1600" spc="-50" dirty="0">
                <a:latin typeface="Arial"/>
                <a:cs typeface="Arial"/>
              </a:rPr>
              <a:t>}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Sample</a:t>
            </a:r>
            <a:r>
              <a:rPr spc="-65" dirty="0"/>
              <a:t> </a:t>
            </a:r>
            <a:r>
              <a:rPr dirty="0"/>
              <a:t>Project</a:t>
            </a:r>
            <a:r>
              <a:rPr spc="-45" dirty="0"/>
              <a:t> </a:t>
            </a:r>
            <a:r>
              <a:rPr dirty="0"/>
              <a:t>with</a:t>
            </a:r>
            <a:r>
              <a:rPr spc="-65" dirty="0"/>
              <a:t> </a:t>
            </a:r>
            <a:r>
              <a:rPr spc="-25" dirty="0"/>
              <a:t>JPA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5"/>
              </a:lnSpc>
            </a:pPr>
            <a:fld id="{81D60167-4931-47E6-BA6A-407CBD079E47}" type="slidenum">
              <a:rPr spc="-25" dirty="0"/>
              <a:t>51</a:t>
            </a:fld>
            <a:endParaRPr spc="-2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5"/>
              </a:lnSpc>
            </a:pPr>
            <a:r>
              <a:rPr dirty="0"/>
              <a:t>ACE</a:t>
            </a:r>
            <a:r>
              <a:rPr spc="-45" dirty="0"/>
              <a:t> </a:t>
            </a:r>
            <a:r>
              <a:rPr dirty="0"/>
              <a:t>Professionals</a:t>
            </a:r>
            <a:r>
              <a:rPr spc="-75" dirty="0"/>
              <a:t> </a:t>
            </a:r>
            <a:r>
              <a:rPr dirty="0"/>
              <a:t>Development</a:t>
            </a:r>
            <a:r>
              <a:rPr spc="-60" dirty="0"/>
              <a:t> </a:t>
            </a:r>
            <a:r>
              <a:rPr spc="-10" dirty="0"/>
              <a:t>Center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3864" y="1324102"/>
            <a:ext cx="4857115" cy="27082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Arial"/>
                <a:cs typeface="Arial"/>
              </a:rPr>
              <a:t>7.</a:t>
            </a:r>
            <a:r>
              <a:rPr sz="1600" b="1" spc="-5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header.jsp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00" spc="-10" dirty="0">
                <a:latin typeface="Arial"/>
                <a:cs typeface="Arial"/>
              </a:rPr>
              <a:t>&lt;body&gt;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latin typeface="Arial"/>
                <a:cs typeface="Arial"/>
              </a:rPr>
              <a:t>&lt;h3&gt;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Book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Management&lt;/h3&gt;</a:t>
            </a:r>
            <a:endParaRPr sz="16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sz="1600" dirty="0">
                <a:latin typeface="Arial"/>
                <a:cs typeface="Arial"/>
              </a:rPr>
              <a:t>&lt;a</a:t>
            </a:r>
            <a:r>
              <a:rPr sz="1600" spc="-10" dirty="0">
                <a:latin typeface="Arial"/>
                <a:cs typeface="Arial"/>
              </a:rPr>
              <a:t> href="/JPASpringBook_20200916/setupaddbook"&gt; </a:t>
            </a:r>
            <a:r>
              <a:rPr sz="1600" dirty="0">
                <a:latin typeface="Arial"/>
                <a:cs typeface="Arial"/>
              </a:rPr>
              <a:t>Add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New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spc="-20" dirty="0">
                <a:latin typeface="Arial"/>
                <a:cs typeface="Arial"/>
              </a:rPr>
              <a:t>Book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00" spc="-10" dirty="0">
                <a:latin typeface="Arial"/>
                <a:cs typeface="Arial"/>
              </a:rPr>
              <a:t>&lt;/a&gt;&amp;nbsp;&amp;nbsp;&amp;nbsp;</a:t>
            </a:r>
            <a:endParaRPr sz="1600">
              <a:latin typeface="Arial"/>
              <a:cs typeface="Arial"/>
            </a:endParaRPr>
          </a:p>
          <a:p>
            <a:pPr marL="12700" marR="1281430">
              <a:lnSpc>
                <a:spcPct val="100000"/>
              </a:lnSpc>
            </a:pPr>
            <a:r>
              <a:rPr sz="1600" dirty="0">
                <a:latin typeface="Arial"/>
                <a:cs typeface="Arial"/>
              </a:rPr>
              <a:t>&lt;a</a:t>
            </a:r>
            <a:r>
              <a:rPr sz="1600" spc="-10" dirty="0">
                <a:latin typeface="Arial"/>
                <a:cs typeface="Arial"/>
              </a:rPr>
              <a:t> href="/JPASpringBook_20200916/"&gt; </a:t>
            </a:r>
            <a:r>
              <a:rPr sz="1600" dirty="0">
                <a:latin typeface="Arial"/>
                <a:cs typeface="Arial"/>
              </a:rPr>
              <a:t>Show</a:t>
            </a:r>
            <a:r>
              <a:rPr sz="1600" spc="-10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All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spc="-20" dirty="0">
                <a:latin typeface="Arial"/>
                <a:cs typeface="Arial"/>
              </a:rPr>
              <a:t>Book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00" spc="-20" dirty="0">
                <a:latin typeface="Arial"/>
                <a:cs typeface="Arial"/>
              </a:rPr>
              <a:t>&lt;/a&gt;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00" spc="-10" dirty="0">
                <a:latin typeface="Arial"/>
                <a:cs typeface="Arial"/>
              </a:rPr>
              <a:t>&lt;/body&gt;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Sample</a:t>
            </a:r>
            <a:r>
              <a:rPr spc="-65" dirty="0"/>
              <a:t> </a:t>
            </a:r>
            <a:r>
              <a:rPr dirty="0"/>
              <a:t>Project</a:t>
            </a:r>
            <a:r>
              <a:rPr spc="-45" dirty="0"/>
              <a:t> </a:t>
            </a:r>
            <a:r>
              <a:rPr dirty="0"/>
              <a:t>with</a:t>
            </a:r>
            <a:r>
              <a:rPr spc="-65" dirty="0"/>
              <a:t> </a:t>
            </a:r>
            <a:r>
              <a:rPr spc="-25" dirty="0"/>
              <a:t>JPA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5"/>
              </a:lnSpc>
            </a:pPr>
            <a:fld id="{81D60167-4931-47E6-BA6A-407CBD079E47}" type="slidenum">
              <a:rPr spc="-25" dirty="0"/>
              <a:t>52</a:t>
            </a:fld>
            <a:endParaRPr spc="-2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5"/>
              </a:lnSpc>
            </a:pPr>
            <a:r>
              <a:rPr dirty="0"/>
              <a:t>ACE</a:t>
            </a:r>
            <a:r>
              <a:rPr spc="-45" dirty="0"/>
              <a:t> </a:t>
            </a:r>
            <a:r>
              <a:rPr dirty="0"/>
              <a:t>Professionals</a:t>
            </a:r>
            <a:r>
              <a:rPr spc="-75" dirty="0"/>
              <a:t> </a:t>
            </a:r>
            <a:r>
              <a:rPr dirty="0"/>
              <a:t>Development</a:t>
            </a:r>
            <a:r>
              <a:rPr spc="-60" dirty="0"/>
              <a:t> </a:t>
            </a:r>
            <a:r>
              <a:rPr spc="-10" dirty="0"/>
              <a:t>Center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3864" y="1324102"/>
            <a:ext cx="4184650" cy="39274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Arial"/>
                <a:cs typeface="Arial"/>
              </a:rPr>
              <a:t>8.</a:t>
            </a:r>
            <a:r>
              <a:rPr sz="1600" b="1" spc="-5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displaybook.jsp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00" spc="-10" dirty="0">
                <a:latin typeface="Arial"/>
                <a:cs typeface="Arial"/>
              </a:rPr>
              <a:t>&lt;style&gt;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latin typeface="Arial"/>
                <a:cs typeface="Arial"/>
              </a:rPr>
              <a:t>table,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th,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td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spc="-50" dirty="0">
                <a:latin typeface="Arial"/>
                <a:cs typeface="Arial"/>
              </a:rPr>
              <a:t>{</a:t>
            </a:r>
            <a:endParaRPr sz="1600">
              <a:latin typeface="Arial"/>
              <a:cs typeface="Arial"/>
            </a:endParaRPr>
          </a:p>
          <a:p>
            <a:pPr marL="12700" marR="1848485">
              <a:lnSpc>
                <a:spcPct val="100000"/>
              </a:lnSpc>
              <a:spcBef>
                <a:spcPts val="5"/>
              </a:spcBef>
            </a:pPr>
            <a:r>
              <a:rPr sz="1600" dirty="0">
                <a:latin typeface="Arial"/>
                <a:cs typeface="Arial"/>
              </a:rPr>
              <a:t>border: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1px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solid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blue; border-</a:t>
            </a:r>
            <a:r>
              <a:rPr sz="1600" dirty="0">
                <a:latin typeface="Arial"/>
                <a:cs typeface="Arial"/>
              </a:rPr>
              <a:t>collapse: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collapse;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00" spc="-50" dirty="0">
                <a:latin typeface="Arial"/>
                <a:cs typeface="Arial"/>
              </a:rPr>
              <a:t>}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00" spc="-10" dirty="0">
                <a:latin typeface="Arial"/>
                <a:cs typeface="Arial"/>
              </a:rPr>
              <a:t>&lt;/style&gt;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00" spc="-10" dirty="0">
                <a:latin typeface="Arial"/>
                <a:cs typeface="Arial"/>
              </a:rPr>
              <a:t>&lt;/head&gt;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00" spc="-10" dirty="0">
                <a:latin typeface="Arial"/>
                <a:cs typeface="Arial"/>
              </a:rPr>
              <a:t>&lt;body&gt;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00" spc="-10" dirty="0">
                <a:latin typeface="Arial"/>
                <a:cs typeface="Arial"/>
              </a:rPr>
              <a:t>&lt;center&gt;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latin typeface="Arial"/>
                <a:cs typeface="Arial"/>
              </a:rPr>
              <a:t>&lt;jsp:include</a:t>
            </a:r>
            <a:r>
              <a:rPr sz="1600" spc="-7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page="header.jsp"&gt;&lt;/jsp:include&gt;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latin typeface="Arial"/>
                <a:cs typeface="Arial"/>
              </a:rPr>
              <a:t>&lt;br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/&gt;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latin typeface="Arial"/>
                <a:cs typeface="Arial"/>
              </a:rPr>
              <a:t>&lt;div</a:t>
            </a:r>
            <a:r>
              <a:rPr sz="1600" spc="-7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style="color:</a:t>
            </a:r>
            <a:r>
              <a:rPr sz="1600" spc="-5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blue;"&gt;${msg}&lt;/div&gt;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latin typeface="Arial"/>
                <a:cs typeface="Arial"/>
              </a:rPr>
              <a:t>&lt;div</a:t>
            </a:r>
            <a:r>
              <a:rPr sz="1600" spc="-7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style="color:</a:t>
            </a:r>
            <a:r>
              <a:rPr sz="1600" spc="-5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red;"&gt;${error}&lt;/div&gt;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latin typeface="Arial"/>
                <a:cs typeface="Arial"/>
              </a:rPr>
              <a:t>&lt;br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/&gt;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Sample</a:t>
            </a:r>
            <a:r>
              <a:rPr spc="-65" dirty="0"/>
              <a:t> </a:t>
            </a:r>
            <a:r>
              <a:rPr dirty="0"/>
              <a:t>Project</a:t>
            </a:r>
            <a:r>
              <a:rPr spc="-45" dirty="0"/>
              <a:t> </a:t>
            </a:r>
            <a:r>
              <a:rPr dirty="0"/>
              <a:t>with</a:t>
            </a:r>
            <a:r>
              <a:rPr spc="-65" dirty="0"/>
              <a:t> </a:t>
            </a:r>
            <a:r>
              <a:rPr spc="-25" dirty="0"/>
              <a:t>JPA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5"/>
              </a:lnSpc>
            </a:pPr>
            <a:fld id="{81D60167-4931-47E6-BA6A-407CBD079E47}" type="slidenum">
              <a:rPr spc="-25" dirty="0"/>
              <a:t>53</a:t>
            </a:fld>
            <a:endParaRPr spc="-2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5"/>
              </a:lnSpc>
            </a:pPr>
            <a:r>
              <a:rPr dirty="0"/>
              <a:t>ACE</a:t>
            </a:r>
            <a:r>
              <a:rPr spc="-45" dirty="0"/>
              <a:t> </a:t>
            </a:r>
            <a:r>
              <a:rPr dirty="0"/>
              <a:t>Professionals</a:t>
            </a:r>
            <a:r>
              <a:rPr spc="-75" dirty="0"/>
              <a:t> </a:t>
            </a:r>
            <a:r>
              <a:rPr dirty="0"/>
              <a:t>Development</a:t>
            </a:r>
            <a:r>
              <a:rPr spc="-60" dirty="0"/>
              <a:t> </a:t>
            </a:r>
            <a:r>
              <a:rPr spc="-10" dirty="0"/>
              <a:t>Center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3864" y="1324102"/>
            <a:ext cx="5369560" cy="49028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Arial"/>
                <a:cs typeface="Arial"/>
              </a:rPr>
              <a:t>&lt;table&gt;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00" spc="-20" dirty="0">
                <a:latin typeface="Arial"/>
                <a:cs typeface="Arial"/>
              </a:rPr>
              <a:t>&lt;tr&gt;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latin typeface="Arial"/>
                <a:cs typeface="Arial"/>
              </a:rPr>
              <a:t>&lt;th&gt;Book</a:t>
            </a:r>
            <a:r>
              <a:rPr sz="1600" spc="-6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Code&lt;/th&gt;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latin typeface="Arial"/>
                <a:cs typeface="Arial"/>
              </a:rPr>
              <a:t>&lt;th&gt;Book</a:t>
            </a:r>
            <a:r>
              <a:rPr sz="1600" spc="-5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Title&lt;/th&gt;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00" spc="-10" dirty="0">
                <a:latin typeface="Arial"/>
                <a:cs typeface="Arial"/>
              </a:rPr>
              <a:t>&lt;th&gt;Book</a:t>
            </a:r>
            <a:r>
              <a:rPr sz="1600" spc="-6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Author&lt;/th&gt;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latin typeface="Arial"/>
                <a:cs typeface="Arial"/>
              </a:rPr>
              <a:t>&lt;th&gt;Book</a:t>
            </a:r>
            <a:r>
              <a:rPr sz="1600" spc="-6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Price&lt;/th&gt;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spc="-10" dirty="0">
                <a:latin typeface="Arial"/>
                <a:cs typeface="Arial"/>
              </a:rPr>
              <a:t>&lt;th&gt;Action&lt;/th&gt;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00" spc="-10" dirty="0">
                <a:latin typeface="Arial"/>
                <a:cs typeface="Arial"/>
              </a:rPr>
              <a:t>&lt;/tr&gt;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latin typeface="Arial"/>
                <a:cs typeface="Arial"/>
              </a:rPr>
              <a:t>&lt;c:forEach</a:t>
            </a:r>
            <a:r>
              <a:rPr sz="1600" spc="-6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items="${list}"</a:t>
            </a:r>
            <a:r>
              <a:rPr sz="1600" spc="-7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var="data"&gt;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00" spc="-20" dirty="0">
                <a:latin typeface="Arial"/>
                <a:cs typeface="Arial"/>
              </a:rPr>
              <a:t>&lt;tr&gt;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00" spc="-10" dirty="0">
                <a:latin typeface="Arial"/>
                <a:cs typeface="Arial"/>
              </a:rPr>
              <a:t>&lt;td&gt;${data.bookCode}&lt;/td&gt;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00" spc="-10" dirty="0">
                <a:latin typeface="Arial"/>
                <a:cs typeface="Arial"/>
              </a:rPr>
              <a:t>&lt;td&gt;${data.bookTitle}&lt;/td&gt;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00" spc="-10" dirty="0">
                <a:latin typeface="Arial"/>
                <a:cs typeface="Arial"/>
              </a:rPr>
              <a:t>&lt;td&gt;${data.bookAuthor}&lt;/td&gt;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00" spc="-10" dirty="0">
                <a:latin typeface="Arial"/>
                <a:cs typeface="Arial"/>
              </a:rPr>
              <a:t>&lt;td&gt;${data.bookPrice}&lt;/td&gt;</a:t>
            </a:r>
            <a:endParaRPr sz="16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sz="1600" spc="-10" dirty="0">
                <a:latin typeface="Arial"/>
                <a:cs typeface="Arial"/>
              </a:rPr>
              <a:t>&lt;td&gt;&lt;a href="setupupdateBook/${data.bookCode}"&gt;Update&lt;/a&gt;</a:t>
            </a:r>
            <a:r>
              <a:rPr sz="1600" spc="160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&lt;a </a:t>
            </a:r>
            <a:r>
              <a:rPr sz="1600" spc="-10" dirty="0">
                <a:latin typeface="Arial"/>
                <a:cs typeface="Arial"/>
              </a:rPr>
              <a:t>href="deleteBook/${data.bookCode}"&gt;Delete&lt;/a&gt;&lt;/td&gt;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00" spc="-10" dirty="0">
                <a:latin typeface="Arial"/>
                <a:cs typeface="Arial"/>
              </a:rPr>
              <a:t>&lt;/tr&gt;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00" spc="-10" dirty="0">
                <a:latin typeface="Arial"/>
                <a:cs typeface="Arial"/>
              </a:rPr>
              <a:t>&lt;/c:forEach&gt;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latin typeface="Arial"/>
                <a:cs typeface="Arial"/>
              </a:rPr>
              <a:t>&lt;/table&gt;</a:t>
            </a:r>
            <a:r>
              <a:rPr sz="1600" spc="-5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&lt;/center&gt;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&lt;/body&gt;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Sample</a:t>
            </a:r>
            <a:r>
              <a:rPr spc="-65" dirty="0"/>
              <a:t> </a:t>
            </a:r>
            <a:r>
              <a:rPr dirty="0"/>
              <a:t>Project</a:t>
            </a:r>
            <a:r>
              <a:rPr spc="-45" dirty="0"/>
              <a:t> </a:t>
            </a:r>
            <a:r>
              <a:rPr dirty="0"/>
              <a:t>with</a:t>
            </a:r>
            <a:r>
              <a:rPr spc="-65" dirty="0"/>
              <a:t> </a:t>
            </a:r>
            <a:r>
              <a:rPr spc="-25" dirty="0"/>
              <a:t>JPA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5"/>
              </a:lnSpc>
            </a:pPr>
            <a:fld id="{81D60167-4931-47E6-BA6A-407CBD079E47}" type="slidenum">
              <a:rPr spc="-25" dirty="0"/>
              <a:t>54</a:t>
            </a:fld>
            <a:endParaRPr spc="-2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5"/>
              </a:lnSpc>
            </a:pPr>
            <a:r>
              <a:rPr dirty="0"/>
              <a:t>ACE</a:t>
            </a:r>
            <a:r>
              <a:rPr spc="-45" dirty="0"/>
              <a:t> </a:t>
            </a:r>
            <a:r>
              <a:rPr dirty="0"/>
              <a:t>Professionals</a:t>
            </a:r>
            <a:r>
              <a:rPr spc="-75" dirty="0"/>
              <a:t> </a:t>
            </a:r>
            <a:r>
              <a:rPr dirty="0"/>
              <a:t>Development</a:t>
            </a:r>
            <a:r>
              <a:rPr spc="-60" dirty="0"/>
              <a:t> </a:t>
            </a:r>
            <a:r>
              <a:rPr spc="-10" dirty="0"/>
              <a:t>Center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3864" y="1324102"/>
            <a:ext cx="5194935" cy="44151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Arial"/>
                <a:cs typeface="Arial"/>
              </a:rPr>
              <a:t>9.</a:t>
            </a:r>
            <a:r>
              <a:rPr sz="1600" b="1" spc="-5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addbook.jsp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00" spc="-10" dirty="0">
                <a:latin typeface="Arial"/>
                <a:cs typeface="Arial"/>
              </a:rPr>
              <a:t>&lt;body&gt;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00" spc="-10" dirty="0">
                <a:latin typeface="Arial"/>
                <a:cs typeface="Arial"/>
              </a:rPr>
              <a:t>&lt;center&gt;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dirty="0">
                <a:latin typeface="Arial"/>
                <a:cs typeface="Arial"/>
              </a:rPr>
              <a:t>&lt;jsp:include</a:t>
            </a:r>
            <a:r>
              <a:rPr sz="1600" spc="-7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page="header.jsp"&gt;&lt;/jsp:include&gt;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latin typeface="Arial"/>
                <a:cs typeface="Arial"/>
              </a:rPr>
              <a:t>&lt;br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/&gt;</a:t>
            </a:r>
            <a:endParaRPr sz="16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sz="1600" dirty="0">
                <a:latin typeface="Arial"/>
                <a:cs typeface="Arial"/>
              </a:rPr>
              <a:t>&lt;form:form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action="/JPASpringBook_20200916/addbook" method="post"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00" spc="-10" dirty="0">
                <a:latin typeface="Arial"/>
                <a:cs typeface="Arial"/>
              </a:rPr>
              <a:t>modelAttribute="bean"&gt;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00" spc="-10" dirty="0">
                <a:latin typeface="Arial"/>
                <a:cs typeface="Arial"/>
              </a:rPr>
              <a:t>&lt;table&gt;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00" spc="-20" dirty="0">
                <a:latin typeface="Arial"/>
                <a:cs typeface="Arial"/>
              </a:rPr>
              <a:t>&lt;tr&gt;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latin typeface="Arial"/>
                <a:cs typeface="Arial"/>
              </a:rPr>
              <a:t>&lt;td&gt;Book</a:t>
            </a:r>
            <a:r>
              <a:rPr sz="1600" spc="-7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Code&lt;/td&gt;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latin typeface="Arial"/>
                <a:cs typeface="Arial"/>
              </a:rPr>
              <a:t>&lt;td&gt;&lt;form:input</a:t>
            </a:r>
            <a:r>
              <a:rPr sz="1600" spc="-8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type="text"</a:t>
            </a:r>
            <a:r>
              <a:rPr sz="1600" spc="-7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path="bookCode"</a:t>
            </a:r>
            <a:r>
              <a:rPr sz="1600" spc="-10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/&gt;&lt;/td&gt;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00" spc="-10" dirty="0">
                <a:latin typeface="Arial"/>
                <a:cs typeface="Arial"/>
              </a:rPr>
              <a:t>&lt;/tr&gt;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00" spc="-20" dirty="0">
                <a:latin typeface="Arial"/>
                <a:cs typeface="Arial"/>
              </a:rPr>
              <a:t>&lt;tr&gt;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latin typeface="Arial"/>
                <a:cs typeface="Arial"/>
              </a:rPr>
              <a:t>&lt;td&gt;Book</a:t>
            </a:r>
            <a:r>
              <a:rPr sz="1600" spc="-9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Title&lt;/td&gt;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dirty="0">
                <a:latin typeface="Arial"/>
                <a:cs typeface="Arial"/>
              </a:rPr>
              <a:t>&lt;td&gt;&lt;form:input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type="text"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path="bookTitle"</a:t>
            </a:r>
            <a:r>
              <a:rPr sz="1600" spc="-7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/&gt;&lt;/td&gt;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00" spc="-10" dirty="0">
                <a:latin typeface="Arial"/>
                <a:cs typeface="Arial"/>
              </a:rPr>
              <a:t>&lt;/tr&gt;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Sample</a:t>
            </a:r>
            <a:r>
              <a:rPr spc="-65" dirty="0"/>
              <a:t> </a:t>
            </a:r>
            <a:r>
              <a:rPr dirty="0"/>
              <a:t>Project</a:t>
            </a:r>
            <a:r>
              <a:rPr spc="-45" dirty="0"/>
              <a:t> </a:t>
            </a:r>
            <a:r>
              <a:rPr dirty="0"/>
              <a:t>with</a:t>
            </a:r>
            <a:r>
              <a:rPr spc="-65" dirty="0"/>
              <a:t> </a:t>
            </a:r>
            <a:r>
              <a:rPr spc="-25" dirty="0"/>
              <a:t>JPA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5"/>
              </a:lnSpc>
            </a:pPr>
            <a:fld id="{81D60167-4931-47E6-BA6A-407CBD079E47}" type="slidenum">
              <a:rPr spc="-25" dirty="0"/>
              <a:t>55</a:t>
            </a:fld>
            <a:endParaRPr spc="-2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5"/>
              </a:lnSpc>
            </a:pPr>
            <a:r>
              <a:rPr dirty="0"/>
              <a:t>ACE</a:t>
            </a:r>
            <a:r>
              <a:rPr spc="-45" dirty="0"/>
              <a:t> </a:t>
            </a:r>
            <a:r>
              <a:rPr dirty="0"/>
              <a:t>Professionals</a:t>
            </a:r>
            <a:r>
              <a:rPr spc="-75" dirty="0"/>
              <a:t> </a:t>
            </a:r>
            <a:r>
              <a:rPr dirty="0"/>
              <a:t>Development</a:t>
            </a:r>
            <a:r>
              <a:rPr spc="-60" dirty="0"/>
              <a:t> </a:t>
            </a:r>
            <a:r>
              <a:rPr spc="-10" dirty="0"/>
              <a:t>Center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839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&lt;tr&gt;</a:t>
            </a:r>
          </a:p>
          <a:p>
            <a:pPr marL="12700">
              <a:lnSpc>
                <a:spcPct val="100000"/>
              </a:lnSpc>
            </a:pPr>
            <a:r>
              <a:rPr spc="-10" dirty="0"/>
              <a:t>&lt;td&gt;Book</a:t>
            </a:r>
            <a:r>
              <a:rPr spc="-75" dirty="0"/>
              <a:t> </a:t>
            </a:r>
            <a:r>
              <a:rPr spc="-10" dirty="0"/>
              <a:t>Author&lt;/td&gt;</a:t>
            </a:r>
          </a:p>
          <a:p>
            <a:pPr marL="12700">
              <a:lnSpc>
                <a:spcPct val="100000"/>
              </a:lnSpc>
            </a:pPr>
            <a:r>
              <a:rPr dirty="0"/>
              <a:t>&lt;td&gt;&lt;form:input</a:t>
            </a:r>
            <a:r>
              <a:rPr spc="-35" dirty="0"/>
              <a:t> </a:t>
            </a:r>
            <a:r>
              <a:rPr dirty="0"/>
              <a:t>type="text"</a:t>
            </a:r>
            <a:r>
              <a:rPr spc="-35" dirty="0"/>
              <a:t> </a:t>
            </a:r>
            <a:r>
              <a:rPr spc="-10" dirty="0"/>
              <a:t>path="bookAuthor"</a:t>
            </a:r>
            <a:r>
              <a:rPr spc="-55" dirty="0"/>
              <a:t> </a:t>
            </a:r>
            <a:r>
              <a:rPr spc="-10" dirty="0"/>
              <a:t>/&gt;&lt;/td&gt;</a:t>
            </a:r>
          </a:p>
          <a:p>
            <a:pPr marL="12700">
              <a:lnSpc>
                <a:spcPct val="100000"/>
              </a:lnSpc>
            </a:pPr>
            <a:r>
              <a:rPr spc="-10" dirty="0"/>
              <a:t>&lt;/tr&gt;</a:t>
            </a:r>
          </a:p>
          <a:p>
            <a:pPr marL="12700">
              <a:lnSpc>
                <a:spcPct val="100000"/>
              </a:lnSpc>
            </a:pPr>
            <a:r>
              <a:rPr spc="-20" dirty="0"/>
              <a:t>&lt;tr&gt;</a:t>
            </a:r>
          </a:p>
          <a:p>
            <a:pPr marL="12700">
              <a:lnSpc>
                <a:spcPct val="100000"/>
              </a:lnSpc>
            </a:pPr>
            <a:r>
              <a:rPr dirty="0"/>
              <a:t>&lt;td&gt;Book</a:t>
            </a:r>
            <a:r>
              <a:rPr spc="-70" dirty="0"/>
              <a:t> </a:t>
            </a:r>
            <a:r>
              <a:rPr spc="-10" dirty="0"/>
              <a:t>Price&lt;/td&gt;</a:t>
            </a: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&lt;td&gt;&lt;form:input</a:t>
            </a:r>
            <a:r>
              <a:rPr spc="-80" dirty="0"/>
              <a:t> </a:t>
            </a:r>
            <a:r>
              <a:rPr dirty="0"/>
              <a:t>type="text"</a:t>
            </a:r>
            <a:r>
              <a:rPr spc="-75" dirty="0"/>
              <a:t> </a:t>
            </a:r>
            <a:r>
              <a:rPr dirty="0"/>
              <a:t>path="bookPrice"</a:t>
            </a:r>
            <a:r>
              <a:rPr spc="-110" dirty="0"/>
              <a:t> </a:t>
            </a:r>
            <a:r>
              <a:rPr spc="-10" dirty="0"/>
              <a:t>/&gt;&lt;/td&gt;</a:t>
            </a:r>
          </a:p>
          <a:p>
            <a:pPr marL="12700">
              <a:lnSpc>
                <a:spcPct val="100000"/>
              </a:lnSpc>
            </a:pPr>
            <a:r>
              <a:rPr spc="-10" dirty="0"/>
              <a:t>&lt;/tr&gt;</a:t>
            </a:r>
          </a:p>
          <a:p>
            <a:pPr marL="12700">
              <a:lnSpc>
                <a:spcPct val="100000"/>
              </a:lnSpc>
            </a:pPr>
            <a:r>
              <a:rPr spc="-20" dirty="0"/>
              <a:t>&lt;tr&gt;</a:t>
            </a:r>
          </a:p>
          <a:p>
            <a:pPr marL="12700">
              <a:lnSpc>
                <a:spcPct val="100000"/>
              </a:lnSpc>
            </a:pPr>
            <a:r>
              <a:rPr spc="-10" dirty="0"/>
              <a:t>&lt;td&gt;&lt;/td&gt;</a:t>
            </a:r>
          </a:p>
          <a:p>
            <a:pPr marL="12700">
              <a:lnSpc>
                <a:spcPct val="100000"/>
              </a:lnSpc>
            </a:pPr>
            <a:r>
              <a:rPr dirty="0"/>
              <a:t>&lt;td&gt;&lt;input</a:t>
            </a:r>
            <a:r>
              <a:rPr spc="-65" dirty="0"/>
              <a:t> </a:t>
            </a:r>
            <a:r>
              <a:rPr dirty="0"/>
              <a:t>type="submit"</a:t>
            </a:r>
            <a:r>
              <a:rPr spc="-60" dirty="0"/>
              <a:t> </a:t>
            </a:r>
            <a:r>
              <a:rPr dirty="0"/>
              <a:t>value="Save"</a:t>
            </a:r>
            <a:r>
              <a:rPr spc="-100" dirty="0"/>
              <a:t> </a:t>
            </a:r>
            <a:r>
              <a:rPr spc="-10" dirty="0"/>
              <a:t>/&gt;&lt;/td&gt;</a:t>
            </a:r>
          </a:p>
          <a:p>
            <a:pPr marL="12700">
              <a:lnSpc>
                <a:spcPct val="100000"/>
              </a:lnSpc>
            </a:pPr>
            <a:r>
              <a:rPr spc="-10" dirty="0"/>
              <a:t>&lt;/tr&gt;</a:t>
            </a:r>
          </a:p>
          <a:p>
            <a:pPr marL="12700">
              <a:lnSpc>
                <a:spcPct val="100000"/>
              </a:lnSpc>
            </a:pPr>
            <a:r>
              <a:rPr spc="-10" dirty="0"/>
              <a:t>&lt;/table&gt;</a:t>
            </a:r>
          </a:p>
          <a:p>
            <a:pPr marL="12700">
              <a:lnSpc>
                <a:spcPct val="100000"/>
              </a:lnSpc>
            </a:pPr>
            <a:r>
              <a:rPr spc="-10" dirty="0"/>
              <a:t>&lt;/form:form&gt;</a:t>
            </a:r>
          </a:p>
          <a:p>
            <a:pPr marL="12700">
              <a:lnSpc>
                <a:spcPct val="100000"/>
              </a:lnSpc>
            </a:pPr>
            <a:r>
              <a:rPr spc="-10" dirty="0"/>
              <a:t>&lt;/center&gt;</a:t>
            </a:r>
          </a:p>
          <a:p>
            <a:pPr marL="12700">
              <a:lnSpc>
                <a:spcPct val="100000"/>
              </a:lnSpc>
            </a:pPr>
            <a:r>
              <a:rPr spc="-10" dirty="0"/>
              <a:t>&lt;/body&gt;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Sample</a:t>
            </a:r>
            <a:r>
              <a:rPr spc="-65" dirty="0"/>
              <a:t> </a:t>
            </a:r>
            <a:r>
              <a:rPr dirty="0"/>
              <a:t>Project</a:t>
            </a:r>
            <a:r>
              <a:rPr spc="-45" dirty="0"/>
              <a:t> </a:t>
            </a:r>
            <a:r>
              <a:rPr dirty="0"/>
              <a:t>with</a:t>
            </a:r>
            <a:r>
              <a:rPr spc="-65" dirty="0"/>
              <a:t> </a:t>
            </a:r>
            <a:r>
              <a:rPr spc="-25" dirty="0"/>
              <a:t>JPA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5"/>
              </a:lnSpc>
            </a:pPr>
            <a:fld id="{81D60167-4931-47E6-BA6A-407CBD079E47}" type="slidenum">
              <a:rPr spc="-25" dirty="0"/>
              <a:t>56</a:t>
            </a:fld>
            <a:endParaRPr spc="-2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5"/>
              </a:lnSpc>
            </a:pPr>
            <a:r>
              <a:rPr dirty="0"/>
              <a:t>ACE</a:t>
            </a:r>
            <a:r>
              <a:rPr spc="-45" dirty="0"/>
              <a:t> </a:t>
            </a:r>
            <a:r>
              <a:rPr dirty="0"/>
              <a:t>Professionals</a:t>
            </a:r>
            <a:r>
              <a:rPr spc="-75" dirty="0"/>
              <a:t> </a:t>
            </a:r>
            <a:r>
              <a:rPr dirty="0"/>
              <a:t>Development</a:t>
            </a:r>
            <a:r>
              <a:rPr spc="-60" dirty="0"/>
              <a:t> </a:t>
            </a:r>
            <a:r>
              <a:rPr spc="-10" dirty="0"/>
              <a:t>Center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3864" y="1567942"/>
            <a:ext cx="5476875" cy="44151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Arial"/>
                <a:cs typeface="Arial"/>
              </a:rPr>
              <a:t>10.</a:t>
            </a:r>
            <a:r>
              <a:rPr sz="1600" b="1" spc="-15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updatebook.jsp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00" spc="-10" dirty="0">
                <a:latin typeface="Arial"/>
                <a:cs typeface="Arial"/>
              </a:rPr>
              <a:t>&lt;body&gt;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spc="-10" dirty="0">
                <a:latin typeface="Arial"/>
                <a:cs typeface="Arial"/>
              </a:rPr>
              <a:t>&lt;center&gt;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latin typeface="Arial"/>
                <a:cs typeface="Arial"/>
              </a:rPr>
              <a:t>&lt;jsp:include</a:t>
            </a:r>
            <a:r>
              <a:rPr sz="1600" spc="-7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page="header.jsp"&gt;&lt;/jsp:include&gt;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latin typeface="Arial"/>
                <a:cs typeface="Arial"/>
              </a:rPr>
              <a:t>&lt;br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/&gt;</a:t>
            </a:r>
            <a:endParaRPr sz="16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sz="1600" dirty="0">
                <a:latin typeface="Arial"/>
                <a:cs typeface="Arial"/>
              </a:rPr>
              <a:t>&lt;form:form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action="/JPASpringBook_20200916/updatebook" method="post"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00" spc="-10" dirty="0">
                <a:latin typeface="Arial"/>
                <a:cs typeface="Arial"/>
              </a:rPr>
              <a:t>modelAttribute="bean"&gt;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00" spc="-10" dirty="0">
                <a:latin typeface="Arial"/>
                <a:cs typeface="Arial"/>
              </a:rPr>
              <a:t>&lt;table&gt;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00" spc="-20" dirty="0">
                <a:latin typeface="Arial"/>
                <a:cs typeface="Arial"/>
              </a:rPr>
              <a:t>&lt;tr&gt;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latin typeface="Arial"/>
                <a:cs typeface="Arial"/>
              </a:rPr>
              <a:t>&lt;td&gt;Book</a:t>
            </a:r>
            <a:r>
              <a:rPr sz="1600" spc="-7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Code&lt;/td&gt;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latin typeface="Arial"/>
                <a:cs typeface="Arial"/>
              </a:rPr>
              <a:t>&lt;td&gt;&lt;form:input</a:t>
            </a:r>
            <a:r>
              <a:rPr sz="1600" spc="-8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type="text"</a:t>
            </a:r>
            <a:r>
              <a:rPr sz="1600" spc="-7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path="bookCode"</a:t>
            </a:r>
            <a:r>
              <a:rPr sz="1600" spc="-10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/&gt;&lt;/td&gt;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00" spc="-10" dirty="0">
                <a:latin typeface="Arial"/>
                <a:cs typeface="Arial"/>
              </a:rPr>
              <a:t>&lt;/tr&gt;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00" spc="-20" dirty="0">
                <a:latin typeface="Arial"/>
                <a:cs typeface="Arial"/>
              </a:rPr>
              <a:t>&lt;tr&gt;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dirty="0">
                <a:latin typeface="Arial"/>
                <a:cs typeface="Arial"/>
              </a:rPr>
              <a:t>&lt;td&gt;Book</a:t>
            </a:r>
            <a:r>
              <a:rPr sz="1600" spc="-9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Title&lt;/td&gt;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latin typeface="Arial"/>
                <a:cs typeface="Arial"/>
              </a:rPr>
              <a:t>&lt;td&gt;&lt;form:input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type="text"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path="bookTitle"</a:t>
            </a:r>
            <a:r>
              <a:rPr sz="1600" spc="-7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/&gt;&lt;/td&gt;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00" spc="-10" dirty="0">
                <a:latin typeface="Arial"/>
                <a:cs typeface="Arial"/>
              </a:rPr>
              <a:t>&lt;/tr&gt;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Sample</a:t>
            </a:r>
            <a:r>
              <a:rPr spc="-65" dirty="0"/>
              <a:t> </a:t>
            </a:r>
            <a:r>
              <a:rPr dirty="0"/>
              <a:t>Project</a:t>
            </a:r>
            <a:r>
              <a:rPr spc="-45" dirty="0"/>
              <a:t> </a:t>
            </a:r>
            <a:r>
              <a:rPr dirty="0"/>
              <a:t>with</a:t>
            </a:r>
            <a:r>
              <a:rPr spc="-65" dirty="0"/>
              <a:t> </a:t>
            </a:r>
            <a:r>
              <a:rPr spc="-25" dirty="0"/>
              <a:t>JPA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5"/>
              </a:lnSpc>
            </a:pPr>
            <a:fld id="{81D60167-4931-47E6-BA6A-407CBD079E47}" type="slidenum">
              <a:rPr spc="-25" dirty="0"/>
              <a:t>57</a:t>
            </a:fld>
            <a:endParaRPr spc="-2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5"/>
              </a:lnSpc>
            </a:pPr>
            <a:r>
              <a:rPr dirty="0"/>
              <a:t>ACE</a:t>
            </a:r>
            <a:r>
              <a:rPr spc="-45" dirty="0"/>
              <a:t> </a:t>
            </a:r>
            <a:r>
              <a:rPr dirty="0"/>
              <a:t>Professionals</a:t>
            </a:r>
            <a:r>
              <a:rPr spc="-75" dirty="0"/>
              <a:t> </a:t>
            </a:r>
            <a:r>
              <a:rPr dirty="0"/>
              <a:t>Development</a:t>
            </a:r>
            <a:r>
              <a:rPr spc="-60" dirty="0"/>
              <a:t> </a:t>
            </a:r>
            <a:r>
              <a:rPr spc="-10" dirty="0"/>
              <a:t>Center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839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&lt;tr&gt;</a:t>
            </a:r>
          </a:p>
          <a:p>
            <a:pPr marL="12700">
              <a:lnSpc>
                <a:spcPct val="100000"/>
              </a:lnSpc>
            </a:pPr>
            <a:r>
              <a:rPr spc="-10" dirty="0"/>
              <a:t>&lt;td&gt;Book</a:t>
            </a:r>
            <a:r>
              <a:rPr spc="-75" dirty="0"/>
              <a:t> </a:t>
            </a:r>
            <a:r>
              <a:rPr spc="-10" dirty="0"/>
              <a:t>Author&lt;/td&gt;</a:t>
            </a:r>
          </a:p>
          <a:p>
            <a:pPr marL="12700">
              <a:lnSpc>
                <a:spcPct val="100000"/>
              </a:lnSpc>
            </a:pPr>
            <a:r>
              <a:rPr dirty="0"/>
              <a:t>&lt;td&gt;&lt;form:input</a:t>
            </a:r>
            <a:r>
              <a:rPr spc="-35" dirty="0"/>
              <a:t> </a:t>
            </a:r>
            <a:r>
              <a:rPr dirty="0"/>
              <a:t>type="text"</a:t>
            </a:r>
            <a:r>
              <a:rPr spc="-35" dirty="0"/>
              <a:t> </a:t>
            </a:r>
            <a:r>
              <a:rPr spc="-10" dirty="0"/>
              <a:t>path="bookAuthor"</a:t>
            </a:r>
            <a:r>
              <a:rPr spc="-55" dirty="0"/>
              <a:t> </a:t>
            </a:r>
            <a:r>
              <a:rPr spc="-10" dirty="0"/>
              <a:t>/&gt;&lt;/td&gt;</a:t>
            </a:r>
          </a:p>
          <a:p>
            <a:pPr marL="12700">
              <a:lnSpc>
                <a:spcPct val="100000"/>
              </a:lnSpc>
            </a:pPr>
            <a:r>
              <a:rPr spc="-10" dirty="0"/>
              <a:t>&lt;/tr&gt;</a:t>
            </a:r>
          </a:p>
          <a:p>
            <a:pPr marL="12700">
              <a:lnSpc>
                <a:spcPct val="100000"/>
              </a:lnSpc>
            </a:pPr>
            <a:r>
              <a:rPr spc="-20" dirty="0"/>
              <a:t>&lt;tr&gt;</a:t>
            </a:r>
          </a:p>
          <a:p>
            <a:pPr marL="12700">
              <a:lnSpc>
                <a:spcPct val="100000"/>
              </a:lnSpc>
            </a:pPr>
            <a:r>
              <a:rPr dirty="0"/>
              <a:t>&lt;td&gt;Book</a:t>
            </a:r>
            <a:r>
              <a:rPr spc="-70" dirty="0"/>
              <a:t> </a:t>
            </a:r>
            <a:r>
              <a:rPr spc="-10" dirty="0"/>
              <a:t>Price&lt;/td&gt;</a:t>
            </a: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&lt;td&gt;&lt;form:input</a:t>
            </a:r>
            <a:r>
              <a:rPr spc="-80" dirty="0"/>
              <a:t> </a:t>
            </a:r>
            <a:r>
              <a:rPr dirty="0"/>
              <a:t>type="text"</a:t>
            </a:r>
            <a:r>
              <a:rPr spc="-75" dirty="0"/>
              <a:t> </a:t>
            </a:r>
            <a:r>
              <a:rPr dirty="0"/>
              <a:t>path="bookPrice"</a:t>
            </a:r>
            <a:r>
              <a:rPr spc="-110" dirty="0"/>
              <a:t> </a:t>
            </a:r>
            <a:r>
              <a:rPr spc="-10" dirty="0"/>
              <a:t>/&gt;&lt;/td&gt;</a:t>
            </a:r>
          </a:p>
          <a:p>
            <a:pPr marL="12700">
              <a:lnSpc>
                <a:spcPct val="100000"/>
              </a:lnSpc>
            </a:pPr>
            <a:r>
              <a:rPr spc="-10" dirty="0"/>
              <a:t>&lt;/tr&gt;</a:t>
            </a:r>
          </a:p>
          <a:p>
            <a:pPr marL="12700">
              <a:lnSpc>
                <a:spcPct val="100000"/>
              </a:lnSpc>
            </a:pPr>
            <a:r>
              <a:rPr spc="-20" dirty="0"/>
              <a:t>&lt;tr&gt;</a:t>
            </a:r>
          </a:p>
          <a:p>
            <a:pPr marL="12700">
              <a:lnSpc>
                <a:spcPct val="100000"/>
              </a:lnSpc>
            </a:pPr>
            <a:r>
              <a:rPr spc="-10" dirty="0"/>
              <a:t>&lt;td&gt;&lt;/td&gt;</a:t>
            </a:r>
          </a:p>
          <a:p>
            <a:pPr marL="12700">
              <a:lnSpc>
                <a:spcPct val="100000"/>
              </a:lnSpc>
            </a:pPr>
            <a:r>
              <a:rPr dirty="0"/>
              <a:t>&lt;td&gt;&lt;input</a:t>
            </a:r>
            <a:r>
              <a:rPr spc="-30" dirty="0"/>
              <a:t> </a:t>
            </a:r>
            <a:r>
              <a:rPr dirty="0"/>
              <a:t>type="submit"</a:t>
            </a:r>
            <a:r>
              <a:rPr spc="-20" dirty="0"/>
              <a:t> </a:t>
            </a:r>
            <a:r>
              <a:rPr spc="-10" dirty="0"/>
              <a:t>value="UpdateBook"</a:t>
            </a:r>
            <a:r>
              <a:rPr spc="-65" dirty="0"/>
              <a:t> </a:t>
            </a:r>
            <a:r>
              <a:rPr spc="-10" dirty="0"/>
              <a:t>/&gt;&lt;/td&gt;</a:t>
            </a:r>
          </a:p>
          <a:p>
            <a:pPr marL="12700">
              <a:lnSpc>
                <a:spcPct val="100000"/>
              </a:lnSpc>
            </a:pPr>
            <a:r>
              <a:rPr spc="-10" dirty="0"/>
              <a:t>&lt;/tr&gt;</a:t>
            </a:r>
          </a:p>
          <a:p>
            <a:pPr marL="12700">
              <a:lnSpc>
                <a:spcPct val="100000"/>
              </a:lnSpc>
            </a:pPr>
            <a:r>
              <a:rPr spc="-10" dirty="0"/>
              <a:t>&lt;/table&gt;</a:t>
            </a:r>
          </a:p>
          <a:p>
            <a:pPr marL="12700">
              <a:lnSpc>
                <a:spcPct val="100000"/>
              </a:lnSpc>
            </a:pPr>
            <a:r>
              <a:rPr spc="-10" dirty="0"/>
              <a:t>&lt;/form:form&gt;</a:t>
            </a:r>
          </a:p>
          <a:p>
            <a:pPr marL="12700">
              <a:lnSpc>
                <a:spcPct val="100000"/>
              </a:lnSpc>
            </a:pPr>
            <a:r>
              <a:rPr spc="-10" dirty="0"/>
              <a:t>&lt;/center&gt;</a:t>
            </a:r>
          </a:p>
          <a:p>
            <a:pPr marL="12700">
              <a:lnSpc>
                <a:spcPct val="100000"/>
              </a:lnSpc>
            </a:pPr>
            <a:r>
              <a:rPr spc="-10" dirty="0"/>
              <a:t>&lt;/body&gt;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Sample</a:t>
            </a:r>
            <a:r>
              <a:rPr spc="-65" dirty="0"/>
              <a:t> </a:t>
            </a:r>
            <a:r>
              <a:rPr dirty="0"/>
              <a:t>Project</a:t>
            </a:r>
            <a:r>
              <a:rPr spc="-45" dirty="0"/>
              <a:t> </a:t>
            </a:r>
            <a:r>
              <a:rPr dirty="0"/>
              <a:t>with</a:t>
            </a:r>
            <a:r>
              <a:rPr spc="-65" dirty="0"/>
              <a:t> </a:t>
            </a:r>
            <a:r>
              <a:rPr spc="-25" dirty="0"/>
              <a:t>JPA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05027" y="1251203"/>
            <a:ext cx="5454650" cy="4988560"/>
            <a:chOff x="605027" y="1251203"/>
            <a:chExt cx="5454650" cy="498856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4750" y="1349509"/>
              <a:ext cx="5229225" cy="470570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06551" y="1252727"/>
              <a:ext cx="5451475" cy="4985385"/>
            </a:xfrm>
            <a:custGeom>
              <a:avLst/>
              <a:gdLst/>
              <a:ahLst/>
              <a:cxnLst/>
              <a:rect l="l" t="t" r="r" b="b"/>
              <a:pathLst>
                <a:path w="5451475" h="4985385">
                  <a:moveTo>
                    <a:pt x="0" y="4985004"/>
                  </a:moveTo>
                  <a:lnTo>
                    <a:pt x="5451348" y="4985004"/>
                  </a:lnTo>
                  <a:lnTo>
                    <a:pt x="5451348" y="0"/>
                  </a:lnTo>
                  <a:lnTo>
                    <a:pt x="0" y="0"/>
                  </a:lnTo>
                  <a:lnTo>
                    <a:pt x="0" y="4985004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5"/>
              </a:lnSpc>
            </a:pPr>
            <a:fld id="{81D60167-4931-47E6-BA6A-407CBD079E47}" type="slidenum">
              <a:rPr spc="-25" dirty="0"/>
              <a:t>58</a:t>
            </a:fld>
            <a:endParaRPr spc="-25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5"/>
              </a:lnSpc>
            </a:pPr>
            <a:r>
              <a:rPr dirty="0"/>
              <a:t>ACE</a:t>
            </a:r>
            <a:r>
              <a:rPr spc="-45" dirty="0"/>
              <a:t> </a:t>
            </a:r>
            <a:r>
              <a:rPr dirty="0"/>
              <a:t>Professionals</a:t>
            </a:r>
            <a:r>
              <a:rPr spc="-75" dirty="0"/>
              <a:t> </a:t>
            </a:r>
            <a:r>
              <a:rPr dirty="0"/>
              <a:t>Development</a:t>
            </a:r>
            <a:r>
              <a:rPr spc="-60" dirty="0"/>
              <a:t> </a:t>
            </a:r>
            <a:r>
              <a:rPr spc="-10" dirty="0"/>
              <a:t>Center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Sample</a:t>
            </a:r>
            <a:r>
              <a:rPr spc="-65" dirty="0"/>
              <a:t> </a:t>
            </a:r>
            <a:r>
              <a:rPr dirty="0"/>
              <a:t>Project</a:t>
            </a:r>
            <a:r>
              <a:rPr spc="-45" dirty="0"/>
              <a:t> </a:t>
            </a:r>
            <a:r>
              <a:rPr dirty="0"/>
              <a:t>with</a:t>
            </a:r>
            <a:r>
              <a:rPr spc="-65" dirty="0"/>
              <a:t> </a:t>
            </a:r>
            <a:r>
              <a:rPr spc="-25" dirty="0"/>
              <a:t>JPA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05027" y="1642872"/>
            <a:ext cx="5880100" cy="4532630"/>
            <a:chOff x="605027" y="1642872"/>
            <a:chExt cx="5880100" cy="453263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8075" y="1645920"/>
              <a:ext cx="5712578" cy="450616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06551" y="1644396"/>
              <a:ext cx="5876925" cy="4529455"/>
            </a:xfrm>
            <a:custGeom>
              <a:avLst/>
              <a:gdLst/>
              <a:ahLst/>
              <a:cxnLst/>
              <a:rect l="l" t="t" r="r" b="b"/>
              <a:pathLst>
                <a:path w="5876925" h="4529455">
                  <a:moveTo>
                    <a:pt x="0" y="4529328"/>
                  </a:moveTo>
                  <a:lnTo>
                    <a:pt x="5876544" y="4529328"/>
                  </a:lnTo>
                  <a:lnTo>
                    <a:pt x="5876544" y="0"/>
                  </a:lnTo>
                  <a:lnTo>
                    <a:pt x="0" y="0"/>
                  </a:lnTo>
                  <a:lnTo>
                    <a:pt x="0" y="4529328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5"/>
              </a:lnSpc>
            </a:pPr>
            <a:fld id="{81D60167-4931-47E6-BA6A-407CBD079E47}" type="slidenum">
              <a:rPr spc="-25" dirty="0"/>
              <a:t>59</a:t>
            </a:fld>
            <a:endParaRPr spc="-25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5"/>
              </a:lnSpc>
            </a:pPr>
            <a:r>
              <a:rPr dirty="0"/>
              <a:t>ACE</a:t>
            </a:r>
            <a:r>
              <a:rPr spc="-45" dirty="0"/>
              <a:t> </a:t>
            </a:r>
            <a:r>
              <a:rPr dirty="0"/>
              <a:t>Professionals</a:t>
            </a:r>
            <a:r>
              <a:rPr spc="-75" dirty="0"/>
              <a:t> </a:t>
            </a:r>
            <a:r>
              <a:rPr dirty="0"/>
              <a:t>Development</a:t>
            </a:r>
            <a:r>
              <a:rPr spc="-60" dirty="0"/>
              <a:t> </a:t>
            </a:r>
            <a:r>
              <a:rPr spc="-10" dirty="0"/>
              <a:t>Center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Sample</a:t>
            </a:r>
            <a:r>
              <a:rPr spc="-65" dirty="0"/>
              <a:t> </a:t>
            </a:r>
            <a:r>
              <a:rPr dirty="0"/>
              <a:t>Project</a:t>
            </a:r>
            <a:r>
              <a:rPr spc="-45" dirty="0"/>
              <a:t> </a:t>
            </a:r>
            <a:r>
              <a:rPr dirty="0"/>
              <a:t>with</a:t>
            </a:r>
            <a:r>
              <a:rPr spc="-65" dirty="0"/>
              <a:t> </a:t>
            </a:r>
            <a:r>
              <a:rPr spc="-25" dirty="0"/>
              <a:t>JPA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03504" y="1292352"/>
            <a:ext cx="5981700" cy="4883150"/>
            <a:chOff x="603504" y="1292352"/>
            <a:chExt cx="5981700" cy="48831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8958" y="1367268"/>
              <a:ext cx="5739454" cy="470226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05028" y="1293876"/>
              <a:ext cx="5979160" cy="4879975"/>
            </a:xfrm>
            <a:custGeom>
              <a:avLst/>
              <a:gdLst/>
              <a:ahLst/>
              <a:cxnLst/>
              <a:rect l="l" t="t" r="r" b="b"/>
              <a:pathLst>
                <a:path w="5979159" h="4879975">
                  <a:moveTo>
                    <a:pt x="0" y="4879848"/>
                  </a:moveTo>
                  <a:lnTo>
                    <a:pt x="5978652" y="4879848"/>
                  </a:lnTo>
                  <a:lnTo>
                    <a:pt x="5978652" y="0"/>
                  </a:lnTo>
                  <a:lnTo>
                    <a:pt x="0" y="0"/>
                  </a:lnTo>
                  <a:lnTo>
                    <a:pt x="0" y="4879848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5"/>
              </a:lnSpc>
            </a:pPr>
            <a:fld id="{81D60167-4931-47E6-BA6A-407CBD079E47}" type="slidenum">
              <a:rPr spc="-25" dirty="0"/>
              <a:t>60</a:t>
            </a:fld>
            <a:endParaRPr spc="-25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5"/>
              </a:lnSpc>
            </a:pPr>
            <a:r>
              <a:rPr dirty="0"/>
              <a:t>ACE</a:t>
            </a:r>
            <a:r>
              <a:rPr spc="-45" dirty="0"/>
              <a:t> </a:t>
            </a:r>
            <a:r>
              <a:rPr dirty="0"/>
              <a:t>Professionals</a:t>
            </a:r>
            <a:r>
              <a:rPr spc="-75" dirty="0"/>
              <a:t> </a:t>
            </a:r>
            <a:r>
              <a:rPr dirty="0"/>
              <a:t>Development</a:t>
            </a:r>
            <a:r>
              <a:rPr spc="-60" dirty="0"/>
              <a:t> </a:t>
            </a:r>
            <a:r>
              <a:rPr spc="-10" dirty="0"/>
              <a:t>Center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Sample</a:t>
            </a:r>
            <a:r>
              <a:rPr spc="-65" dirty="0"/>
              <a:t> </a:t>
            </a:r>
            <a:r>
              <a:rPr dirty="0"/>
              <a:t>Project</a:t>
            </a:r>
            <a:r>
              <a:rPr spc="-45" dirty="0"/>
              <a:t> </a:t>
            </a:r>
            <a:r>
              <a:rPr dirty="0"/>
              <a:t>with</a:t>
            </a:r>
            <a:r>
              <a:rPr spc="-65" dirty="0"/>
              <a:t> </a:t>
            </a:r>
            <a:r>
              <a:rPr spc="-25" dirty="0"/>
              <a:t>JPA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58951" y="1447800"/>
            <a:ext cx="5981700" cy="1984375"/>
            <a:chOff x="758951" y="1447800"/>
            <a:chExt cx="5981700" cy="19843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1889" y="1450847"/>
              <a:ext cx="5825714" cy="191820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60475" y="1449323"/>
              <a:ext cx="5979160" cy="1981200"/>
            </a:xfrm>
            <a:custGeom>
              <a:avLst/>
              <a:gdLst/>
              <a:ahLst/>
              <a:cxnLst/>
              <a:rect l="l" t="t" r="r" b="b"/>
              <a:pathLst>
                <a:path w="5979159" h="1981200">
                  <a:moveTo>
                    <a:pt x="0" y="1981200"/>
                  </a:moveTo>
                  <a:lnTo>
                    <a:pt x="5978652" y="1981200"/>
                  </a:lnTo>
                  <a:lnTo>
                    <a:pt x="5978652" y="0"/>
                  </a:lnTo>
                  <a:lnTo>
                    <a:pt x="0" y="0"/>
                  </a:lnTo>
                  <a:lnTo>
                    <a:pt x="0" y="198120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5"/>
              </a:lnSpc>
            </a:pPr>
            <a:fld id="{81D60167-4931-47E6-BA6A-407CBD079E47}" type="slidenum">
              <a:rPr spc="-25" dirty="0"/>
              <a:t>61</a:t>
            </a:fld>
            <a:endParaRPr spc="-25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5"/>
              </a:lnSpc>
            </a:pPr>
            <a:r>
              <a:rPr dirty="0"/>
              <a:t>ACE</a:t>
            </a:r>
            <a:r>
              <a:rPr spc="-45" dirty="0"/>
              <a:t> </a:t>
            </a:r>
            <a:r>
              <a:rPr dirty="0"/>
              <a:t>Professionals</a:t>
            </a:r>
            <a:r>
              <a:rPr spc="-75" dirty="0"/>
              <a:t> </a:t>
            </a:r>
            <a:r>
              <a:rPr dirty="0"/>
              <a:t>Development</a:t>
            </a:r>
            <a:r>
              <a:rPr spc="-60" dirty="0"/>
              <a:t> </a:t>
            </a:r>
            <a:r>
              <a:rPr spc="-10" dirty="0"/>
              <a:t>Center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2514600"/>
            <a:ext cx="8229600" cy="1219200"/>
          </a:xfrm>
        </p:spPr>
        <p:txBody>
          <a:bodyPr>
            <a:noAutofit/>
          </a:bodyPr>
          <a:lstStyle/>
          <a:p>
            <a:pPr algn="ctr"/>
            <a:r>
              <a:rPr lang="en-US" sz="4400" dirty="0">
                <a:solidFill>
                  <a:srgbClr val="C00000"/>
                </a:solidFill>
              </a:rPr>
              <a:t>Thank you!!</a:t>
            </a:r>
            <a:br>
              <a:rPr lang="en-US" sz="4400" dirty="0"/>
            </a:br>
            <a:r>
              <a:rPr lang="en-US" sz="4400" dirty="0">
                <a:solidFill>
                  <a:srgbClr val="0070C0"/>
                </a:solidFill>
              </a:rPr>
              <a:t>Q&amp;As</a:t>
            </a:r>
          </a:p>
        </p:txBody>
      </p:sp>
    </p:spTree>
    <p:extLst>
      <p:ext uri="{BB962C8B-B14F-4D97-AF65-F5344CB8AC3E}">
        <p14:creationId xmlns:p14="http://schemas.microsoft.com/office/powerpoint/2010/main" val="37623597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5"/>
              </a:lnSpc>
            </a:pPr>
            <a:fld id="{81D60167-4931-47E6-BA6A-407CBD079E47}" type="slidenum">
              <a:rPr spc="-25" dirty="0"/>
              <a:t>63</a:t>
            </a:fld>
            <a:endParaRPr spc="-2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5"/>
              </a:lnSpc>
            </a:pPr>
            <a:r>
              <a:rPr dirty="0"/>
              <a:t>ACE</a:t>
            </a:r>
            <a:r>
              <a:rPr spc="-45" dirty="0"/>
              <a:t> </a:t>
            </a:r>
            <a:r>
              <a:rPr dirty="0"/>
              <a:t>Professionals</a:t>
            </a:r>
            <a:r>
              <a:rPr spc="-75" dirty="0"/>
              <a:t> </a:t>
            </a:r>
            <a:r>
              <a:rPr dirty="0"/>
              <a:t>Development</a:t>
            </a:r>
            <a:r>
              <a:rPr spc="-60" dirty="0"/>
              <a:t> </a:t>
            </a:r>
            <a:r>
              <a:rPr spc="-10" dirty="0"/>
              <a:t>Center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435353"/>
            <a:ext cx="7922260" cy="21672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6385" indent="-273685">
              <a:lnSpc>
                <a:spcPct val="100000"/>
              </a:lnSpc>
              <a:buClr>
                <a:srgbClr val="006FC0"/>
              </a:buClr>
              <a:buSzPct val="75000"/>
              <a:buFont typeface="Wingdings 3"/>
              <a:buChar char=""/>
              <a:tabLst>
                <a:tab pos="286385" algn="l"/>
              </a:tabLst>
            </a:pPr>
            <a:r>
              <a:rPr lang="en-US" sz="2000" spc="-10" dirty="0">
                <a:solidFill>
                  <a:schemeClr val="tx1"/>
                </a:solidFill>
                <a:uFill>
                  <a:solidFill>
                    <a:srgbClr val="E682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https://www.baeldung.com/learn-jpa-hibernate</a:t>
            </a:r>
          </a:p>
          <a:p>
            <a:pPr marL="286385" indent="-273685">
              <a:lnSpc>
                <a:spcPct val="100000"/>
              </a:lnSpc>
              <a:buClr>
                <a:srgbClr val="006FC0"/>
              </a:buClr>
              <a:buSzPct val="75000"/>
              <a:buFont typeface="Wingdings 3"/>
              <a:buChar char=""/>
              <a:tabLst>
                <a:tab pos="286385" algn="l"/>
              </a:tabLst>
            </a:pPr>
            <a:endParaRPr lang="en-US" sz="2000" spc="-10" dirty="0">
              <a:solidFill>
                <a:schemeClr val="tx1"/>
              </a:solidFill>
              <a:uFill>
                <a:solidFill>
                  <a:srgbClr val="E68200"/>
                </a:solidFill>
              </a:u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6385" indent="-273685">
              <a:lnSpc>
                <a:spcPct val="100000"/>
              </a:lnSpc>
              <a:buClr>
                <a:srgbClr val="006FC0"/>
              </a:buClr>
              <a:buSzPct val="75000"/>
              <a:buFont typeface="Wingdings 3"/>
              <a:buChar char=""/>
              <a:tabLst>
                <a:tab pos="286385" algn="l"/>
              </a:tabLst>
            </a:pPr>
            <a:r>
              <a:rPr lang="en-US" sz="2000" spc="-10" dirty="0">
                <a:solidFill>
                  <a:schemeClr val="tx1"/>
                </a:solidFill>
                <a:uFill>
                  <a:solidFill>
                    <a:srgbClr val="E682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https://www.javaguides.net/p/jpa-tutorial-java-persistence-api.html</a:t>
            </a:r>
          </a:p>
          <a:p>
            <a:pPr marL="286385" indent="-273685">
              <a:lnSpc>
                <a:spcPct val="100000"/>
              </a:lnSpc>
              <a:buClr>
                <a:srgbClr val="006FC0"/>
              </a:buClr>
              <a:buSzPct val="75000"/>
              <a:buFont typeface="Wingdings 3"/>
              <a:buChar char=""/>
              <a:tabLst>
                <a:tab pos="286385" algn="l"/>
              </a:tabLst>
            </a:pPr>
            <a:endParaRPr lang="en-US" sz="2000" spc="-10" dirty="0">
              <a:solidFill>
                <a:schemeClr val="tx1"/>
              </a:solidFill>
              <a:uFill>
                <a:solidFill>
                  <a:srgbClr val="E68200"/>
                </a:solidFill>
              </a:u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6385" indent="-273685">
              <a:lnSpc>
                <a:spcPct val="100000"/>
              </a:lnSpc>
              <a:buClr>
                <a:srgbClr val="006FC0"/>
              </a:buClr>
              <a:buSzPct val="75000"/>
              <a:buFont typeface="Wingdings 3"/>
              <a:buChar char=""/>
              <a:tabLst>
                <a:tab pos="286385" algn="l"/>
              </a:tabLst>
            </a:pPr>
            <a:r>
              <a:rPr lang="en-US" sz="2000" spc="-10" dirty="0">
                <a:solidFill>
                  <a:schemeClr val="tx1"/>
                </a:solidFill>
                <a:uFill>
                  <a:solidFill>
                    <a:srgbClr val="E682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https://www.mygreatlearning.com/jpa/tutorials/</a:t>
            </a:r>
          </a:p>
          <a:p>
            <a:pPr marL="286385" indent="-273685">
              <a:lnSpc>
                <a:spcPct val="100000"/>
              </a:lnSpc>
              <a:buClr>
                <a:srgbClr val="006FC0"/>
              </a:buClr>
              <a:buSzPct val="75000"/>
              <a:buFont typeface="Wingdings 3"/>
              <a:buChar char=""/>
              <a:tabLst>
                <a:tab pos="286385" algn="l"/>
              </a:tabLst>
            </a:pPr>
            <a:endParaRPr lang="en-US" sz="2000" spc="-10" dirty="0">
              <a:solidFill>
                <a:schemeClr val="tx1"/>
              </a:solidFill>
              <a:uFill>
                <a:solidFill>
                  <a:srgbClr val="E68200"/>
                </a:solidFill>
              </a:u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6385" indent="-273685">
              <a:lnSpc>
                <a:spcPct val="100000"/>
              </a:lnSpc>
              <a:buClr>
                <a:srgbClr val="006FC0"/>
              </a:buClr>
              <a:buSzPct val="75000"/>
              <a:buFont typeface="Wingdings 3"/>
              <a:buChar char=""/>
              <a:tabLst>
                <a:tab pos="286385" algn="l"/>
              </a:tabLst>
            </a:pPr>
            <a:r>
              <a:rPr lang="en-US" sz="2000" spc="-10" dirty="0">
                <a:solidFill>
                  <a:schemeClr val="tx1"/>
                </a:solidFill>
                <a:uFill>
                  <a:solidFill>
                    <a:srgbClr val="E682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https://medium.com/jpa-java-persistence-api-guide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Words>4773</Words>
  <Application>Microsoft Office PowerPoint</Application>
  <PresentationFormat>On-screen Show (4:3)</PresentationFormat>
  <Paragraphs>716</Paragraphs>
  <Slides>63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70" baseType="lpstr">
      <vt:lpstr>Arial</vt:lpstr>
      <vt:lpstr>Book Antiqua</vt:lpstr>
      <vt:lpstr>Calibri</vt:lpstr>
      <vt:lpstr>Noto Sans Symbols</vt:lpstr>
      <vt:lpstr>Times New Roman</vt:lpstr>
      <vt:lpstr>Wingdings 3</vt:lpstr>
      <vt:lpstr>Office Theme</vt:lpstr>
      <vt:lpstr>On Job Training Course</vt:lpstr>
      <vt:lpstr>Contents</vt:lpstr>
      <vt:lpstr>JPA - Type of Mapping</vt:lpstr>
      <vt:lpstr>One-To-One Mapping</vt:lpstr>
      <vt:lpstr>One-To-One Mapping</vt:lpstr>
      <vt:lpstr>One-To-One Mapping</vt:lpstr>
      <vt:lpstr>One-To-One Mapping</vt:lpstr>
      <vt:lpstr>One-To-One Mapping</vt:lpstr>
      <vt:lpstr>One-To-One Mapping</vt:lpstr>
      <vt:lpstr>One-To-Many Mapping</vt:lpstr>
      <vt:lpstr>One-To-Many Mapping</vt:lpstr>
      <vt:lpstr>One-To-Many Mapping</vt:lpstr>
      <vt:lpstr>One-To-Many Mapping</vt:lpstr>
      <vt:lpstr>One-To-Many Mapping</vt:lpstr>
      <vt:lpstr>Many-To-One Mapping</vt:lpstr>
      <vt:lpstr>Many-To-One Mapping</vt:lpstr>
      <vt:lpstr>Many-To-One Mapping</vt:lpstr>
      <vt:lpstr>Many-To-One Mapping</vt:lpstr>
      <vt:lpstr>Many-To-One Mapping</vt:lpstr>
      <vt:lpstr>Many-To-Many Mapping</vt:lpstr>
      <vt:lpstr>Many-To-Many Mapping</vt:lpstr>
      <vt:lpstr>Many-To-Many Mapping</vt:lpstr>
      <vt:lpstr>Many-To-Many Mapping</vt:lpstr>
      <vt:lpstr>Many-To-Many Mapping</vt:lpstr>
      <vt:lpstr>Many-To-Many Mapping</vt:lpstr>
      <vt:lpstr>JPA - Cascading</vt:lpstr>
      <vt:lpstr>JPA - Cascading</vt:lpstr>
      <vt:lpstr>JPA - JPQL</vt:lpstr>
      <vt:lpstr>JPQL Features</vt:lpstr>
      <vt:lpstr>Creating Queries in JPQL</vt:lpstr>
      <vt:lpstr>JPQL Basic Operations</vt:lpstr>
      <vt:lpstr>JPQL Basic Operations</vt:lpstr>
      <vt:lpstr>JPQL Static Query</vt:lpstr>
      <vt:lpstr>JPQL Bulk Data Operations</vt:lpstr>
      <vt:lpstr>JPQL Update</vt:lpstr>
      <vt:lpstr>JPQL Delete</vt:lpstr>
      <vt:lpstr>Sample Project with JPA</vt:lpstr>
      <vt:lpstr>Sample Project with JPA</vt:lpstr>
      <vt:lpstr>Sample Project with JPA</vt:lpstr>
      <vt:lpstr>Sample Project with JPA</vt:lpstr>
      <vt:lpstr>Sample Project with JPA</vt:lpstr>
      <vt:lpstr>Sample Project with JPA</vt:lpstr>
      <vt:lpstr>Sample Project with JPA</vt:lpstr>
      <vt:lpstr>Sample Project with JPA</vt:lpstr>
      <vt:lpstr>Sample Project with JPA</vt:lpstr>
      <vt:lpstr>Sample Project with JPA</vt:lpstr>
      <vt:lpstr>Sample Project with JPA</vt:lpstr>
      <vt:lpstr>Sample Project with JPA</vt:lpstr>
      <vt:lpstr>Sample Project with JPA</vt:lpstr>
      <vt:lpstr>Sample Project with JPA</vt:lpstr>
      <vt:lpstr>Sample Project with JPA</vt:lpstr>
      <vt:lpstr>Sample Project with JPA</vt:lpstr>
      <vt:lpstr>Sample Project with JPA</vt:lpstr>
      <vt:lpstr>Sample Project with JPA</vt:lpstr>
      <vt:lpstr>Sample Project with JPA</vt:lpstr>
      <vt:lpstr>Sample Project with JPA</vt:lpstr>
      <vt:lpstr>Sample Project with JPA</vt:lpstr>
      <vt:lpstr>Sample Project with JPA</vt:lpstr>
      <vt:lpstr>Sample Project with JPA</vt:lpstr>
      <vt:lpstr>Sample Project with JPA</vt:lpstr>
      <vt:lpstr>Sample Project with JPA</vt:lpstr>
      <vt:lpstr>Thank you!! Q&amp;As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Programming Fundamental Course</dc:title>
  <dc:creator>Zaw Win Htun</dc:creator>
  <cp:lastModifiedBy>ASUS</cp:lastModifiedBy>
  <cp:revision>3</cp:revision>
  <dcterms:created xsi:type="dcterms:W3CDTF">2025-08-21T10:25:07Z</dcterms:created>
  <dcterms:modified xsi:type="dcterms:W3CDTF">2025-08-25T03:06:43Z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2023-12-08T00:00:00Z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2025-08-21T00:00:00Z</vt:filetime>
  </property>
  <property fmtid="{D5CDD505-2E9C-101B-9397-08002B2CF9AE}" pid="5" name="Producer">
    <vt:lpwstr>3-Heights(TM) PDF Security Shell 4.8.25.2 (http://www.pdf-tools.com)</vt:lpwstr>
  </property>
</Properties>
</file>